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2000"/>
  <p:notesSz cx="6858000" cy="9144000"/>
  <p:embeddedFontLst>
    <p:embeddedFont>
      <p:font typeface="Anton"/>
      <p:regular r:id="rId34"/>
    </p:embeddedFont>
    <p:embeddedFont>
      <p:font typeface="Helvetica Neue"/>
      <p:regular r:id="rId35"/>
      <p:bold r:id="rId36"/>
      <p:italic r:id="rId37"/>
      <p:boldItalic r:id="rId38"/>
    </p:embeddedFont>
    <p:embeddedFont>
      <p:font typeface="DM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3" roundtripDataSignature="AMtx7mgzv1hdJUXCu/O4a0vOVUIFD8yy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41F696-C11A-4F96-BF36-2AA0473BBD53}">
  <a:tblStyle styleId="{5141F696-C11A-4F96-BF36-2AA0473BBD5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bold.fntdata"/><Relationship Id="rId20" Type="http://schemas.openxmlformats.org/officeDocument/2006/relationships/slide" Target="slides/slide15.xml"/><Relationship Id="rId42" Type="http://schemas.openxmlformats.org/officeDocument/2006/relationships/font" Target="fonts/DMSans-boldItalic.fntdata"/><Relationship Id="rId41" Type="http://schemas.openxmlformats.org/officeDocument/2006/relationships/font" Target="fonts/DMSans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HelveticaNeue-regular.fntdata"/><Relationship Id="rId12" Type="http://schemas.openxmlformats.org/officeDocument/2006/relationships/slide" Target="slides/slide7.xml"/><Relationship Id="rId34" Type="http://schemas.openxmlformats.org/officeDocument/2006/relationships/font" Target="fonts/Anton-regular.fntdata"/><Relationship Id="rId15" Type="http://schemas.openxmlformats.org/officeDocument/2006/relationships/slide" Target="slides/slide10.xml"/><Relationship Id="rId37" Type="http://schemas.openxmlformats.org/officeDocument/2006/relationships/font" Target="fonts/HelveticaNeue-italic.fntdata"/><Relationship Id="rId14" Type="http://schemas.openxmlformats.org/officeDocument/2006/relationships/slide" Target="slides/slide9.xml"/><Relationship Id="rId36" Type="http://schemas.openxmlformats.org/officeDocument/2006/relationships/font" Target="fonts/HelveticaNeue-bold.fntdata"/><Relationship Id="rId17" Type="http://schemas.openxmlformats.org/officeDocument/2006/relationships/slide" Target="slides/slide12.xml"/><Relationship Id="rId39" Type="http://schemas.openxmlformats.org/officeDocument/2006/relationships/font" Target="fonts/DMSans-regular.fntdata"/><Relationship Id="rId16" Type="http://schemas.openxmlformats.org/officeDocument/2006/relationships/slide" Target="slides/slide11.xml"/><Relationship Id="rId38" Type="http://schemas.openxmlformats.org/officeDocument/2006/relationships/font" Target="fonts/HelveticaNeue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+ Black">
  <p:cSld name="Logo + Black">
    <p:bg>
      <p:bgPr>
        <a:solidFill>
          <a:srgbClr val="1A1C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1700" y="292781"/>
            <a:ext cx="11588600" cy="6272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1366" y="2854782"/>
            <a:ext cx="4269268" cy="114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abeçalho da Seção">
  <p:cSld name="1_Cabeçalho da Seção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2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2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  <a:defRPr b="0" sz="36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22" name="Google Shape;2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2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b="1"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" name="Google Shape;27;p32"/>
          <p:cNvSpPr txBox="1"/>
          <p:nvPr/>
        </p:nvSpPr>
        <p:spPr>
          <a:xfrm>
            <a:off x="219075" y="6088030"/>
            <a:ext cx="3384737" cy="39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Fevereiro 2025 / versão 1</a:t>
            </a:r>
            <a:endParaRPr b="0" i="0" sz="2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ogo + Black">
  <p:cSld name="1_Logo + Black">
    <p:bg>
      <p:bgPr>
        <a:solidFill>
          <a:srgbClr val="1A1C1E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3"/>
          <p:cNvSpPr txBox="1"/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  <a:defRPr sz="48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" name="Google Shape;30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7839" y="364886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" name="Google Shape;33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9100" y="0"/>
            <a:ext cx="11353798" cy="16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4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4"/>
          <p:cNvSpPr txBox="1"/>
          <p:nvPr>
            <p:ph idx="1" type="body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8" name="Google Shape;38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7320" y="387750"/>
            <a:ext cx="121148" cy="98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1">
  <p:cSld name="03-B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">
  <p:cSld name="03-B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>
  <p:cSld name="Cabeçalho da Seção"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7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6" name="Google Shape;4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8" name="Google Shape;48;p37"/>
          <p:cNvSpPr txBox="1"/>
          <p:nvPr/>
        </p:nvSpPr>
        <p:spPr>
          <a:xfrm>
            <a:off x="838199" y="3357951"/>
            <a:ext cx="10699378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Todos direitos reservados. Reprodução ou divulgação total ou parcial deste documento é expressamente proibido sem o consentimento formal, por escrito, do Professor (autor).</a:t>
            </a:r>
            <a:endParaRPr b="1" i="0" sz="4800" u="none" cap="none" strike="noStrike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e Conteúdo">
  <p:cSld name="1_Título e Conteúdo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blanco">
  <p:cSld name="Fondo blanco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39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5218" y="6256367"/>
            <a:ext cx="1534333" cy="35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developer.mozilla.org/pt-BR/docs/Web/JavaScript/Reference/Globa_Objects/Array/sort" TargetMode="External"/><Relationship Id="rId4" Type="http://schemas.openxmlformats.org/officeDocument/2006/relationships/hyperlink" Target="https://www.youtube.com/watch?v=seo2Fmx9UMk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/>
              <a:t>Engenharia de Software</a:t>
            </a:r>
            <a:endParaRPr/>
          </a:p>
        </p:txBody>
      </p:sp>
      <p:sp>
        <p:nvSpPr>
          <p:cNvPr id="62" name="Google Shape;62;p2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</a:pPr>
            <a:r>
              <a:rPr lang="pt-BR"/>
              <a:t>Web Development with JS</a:t>
            </a:r>
            <a:endParaRPr/>
          </a:p>
        </p:txBody>
      </p:sp>
      <p:sp>
        <p:nvSpPr>
          <p:cNvPr id="63" name="Google Shape;63;p2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</a:pPr>
            <a:r>
              <a:rPr lang="pt-BR"/>
              <a:t>Prof. Lucas Sousa</a:t>
            </a:r>
            <a:endParaRPr/>
          </a:p>
        </p:txBody>
      </p:sp>
      <p:sp>
        <p:nvSpPr>
          <p:cNvPr id="64" name="Google Shape;64;p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title"/>
          </p:nvPr>
        </p:nvSpPr>
        <p:spPr>
          <a:xfrm>
            <a:off x="838200" y="1046480"/>
            <a:ext cx="10515600" cy="536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400"/>
              <a:buFont typeface="Arial"/>
              <a:buNone/>
            </a:pPr>
            <a:r>
              <a:rPr lang="pt-BR" sz="4400"/>
              <a:t>Funções de Ordem Superior</a:t>
            </a:r>
            <a:endParaRPr/>
          </a:p>
        </p:txBody>
      </p:sp>
      <p:sp>
        <p:nvSpPr>
          <p:cNvPr id="70" name="Google Shape;70;p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Funções de Ordem Superior</a:t>
            </a:r>
            <a:endParaRPr/>
          </a:p>
        </p:txBody>
      </p:sp>
      <p:sp>
        <p:nvSpPr>
          <p:cNvPr id="76" name="Google Shape;76;p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7" name="Google Shape;77;p4"/>
          <p:cNvSpPr txBox="1"/>
          <p:nvPr/>
        </p:nvSpPr>
        <p:spPr>
          <a:xfrm>
            <a:off x="839469" y="1573301"/>
            <a:ext cx="5767807" cy="38779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Funções de ordem superior (em inglês Higher order functions) são aquelas que retornam ou recebem uma função por parâmetro.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tipo de função nos permite abstrair não só valores, mas também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ações.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Nesta aula, nós iremos nos concentrar mais na segunda opção: receber uma função por parâmetro.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8661" y="1406744"/>
            <a:ext cx="4554528" cy="4044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Funções de Ordem Superior</a:t>
            </a:r>
            <a:endParaRPr/>
          </a:p>
        </p:txBody>
      </p:sp>
      <p:sp>
        <p:nvSpPr>
          <p:cNvPr id="84" name="Google Shape;84;p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839470" y="1683749"/>
            <a:ext cx="10514328" cy="4915851"/>
            <a:chOff x="889368" y="1335739"/>
            <a:chExt cx="7024083" cy="3284028"/>
          </a:xfrm>
        </p:grpSpPr>
        <p:grpSp>
          <p:nvGrpSpPr>
            <p:cNvPr id="86" name="Google Shape;86;p5"/>
            <p:cNvGrpSpPr/>
            <p:nvPr/>
          </p:nvGrpSpPr>
          <p:grpSpPr>
            <a:xfrm>
              <a:off x="3302850" y="1826750"/>
              <a:ext cx="2121900" cy="2256300"/>
              <a:chOff x="3511050" y="1443600"/>
              <a:chExt cx="2121900" cy="2256300"/>
            </a:xfrm>
          </p:grpSpPr>
          <p:sp>
            <p:nvSpPr>
              <p:cNvPr id="87" name="Google Shape;87;p5"/>
              <p:cNvSpPr/>
              <p:nvPr/>
            </p:nvSpPr>
            <p:spPr>
              <a:xfrm>
                <a:off x="3511050" y="1739100"/>
                <a:ext cx="2121900" cy="1665300"/>
              </a:xfrm>
              <a:prstGeom prst="roundRect">
                <a:avLst>
                  <a:gd fmla="val 16667" name="adj"/>
                </a:avLst>
              </a:prstGeom>
              <a:solidFill>
                <a:schemeClr val="dk1"/>
              </a:solidFill>
              <a:ln cap="flat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5"/>
              <p:cNvSpPr/>
              <p:nvPr/>
            </p:nvSpPr>
            <p:spPr>
              <a:xfrm>
                <a:off x="3726000" y="1443600"/>
                <a:ext cx="1692000" cy="2256300"/>
              </a:xfrm>
              <a:prstGeom prst="rect">
                <a:avLst/>
              </a:prstGeom>
              <a:solidFill>
                <a:schemeClr val="dk1"/>
              </a:solidFill>
              <a:ln cap="flat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9" name="Google Shape;89;p5"/>
            <p:cNvGrpSpPr/>
            <p:nvPr/>
          </p:nvGrpSpPr>
          <p:grpSpPr>
            <a:xfrm>
              <a:off x="889368" y="1335739"/>
              <a:ext cx="1627709" cy="1444483"/>
              <a:chOff x="3511050" y="1443600"/>
              <a:chExt cx="2121900" cy="2256300"/>
            </a:xfrm>
          </p:grpSpPr>
          <p:sp>
            <p:nvSpPr>
              <p:cNvPr id="90" name="Google Shape;90;p5"/>
              <p:cNvSpPr/>
              <p:nvPr/>
            </p:nvSpPr>
            <p:spPr>
              <a:xfrm>
                <a:off x="3511050" y="1739100"/>
                <a:ext cx="2121900" cy="1665300"/>
              </a:xfrm>
              <a:prstGeom prst="roundRect">
                <a:avLst>
                  <a:gd fmla="val 16667" name="adj"/>
                </a:avLst>
              </a:prstGeom>
              <a:solidFill>
                <a:schemeClr val="dk1"/>
              </a:solidFill>
              <a:ln cap="flat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3726000" y="1443600"/>
                <a:ext cx="1692000" cy="2256300"/>
              </a:xfrm>
              <a:prstGeom prst="rect">
                <a:avLst/>
              </a:prstGeom>
              <a:solidFill>
                <a:schemeClr val="dk1"/>
              </a:solidFill>
              <a:ln cap="flat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6285742" y="3010799"/>
              <a:ext cx="1627709" cy="1608968"/>
              <a:chOff x="3511050" y="1443600"/>
              <a:chExt cx="2121900" cy="2256300"/>
            </a:xfrm>
          </p:grpSpPr>
          <p:sp>
            <p:nvSpPr>
              <p:cNvPr id="93" name="Google Shape;93;p5"/>
              <p:cNvSpPr/>
              <p:nvPr/>
            </p:nvSpPr>
            <p:spPr>
              <a:xfrm>
                <a:off x="3511050" y="1739100"/>
                <a:ext cx="2121900" cy="1665300"/>
              </a:xfrm>
              <a:prstGeom prst="roundRect">
                <a:avLst>
                  <a:gd fmla="val 16667" name="adj"/>
                </a:avLst>
              </a:prstGeom>
              <a:solidFill>
                <a:schemeClr val="dk1"/>
              </a:solidFill>
              <a:ln cap="flat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5"/>
              <p:cNvSpPr/>
              <p:nvPr/>
            </p:nvSpPr>
            <p:spPr>
              <a:xfrm>
                <a:off x="3726000" y="1443600"/>
                <a:ext cx="1692000" cy="2256300"/>
              </a:xfrm>
              <a:prstGeom prst="rect">
                <a:avLst/>
              </a:prstGeom>
              <a:solidFill>
                <a:schemeClr val="dk1"/>
              </a:solidFill>
              <a:ln cap="flat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" name="Google Shape;95;p5"/>
            <p:cNvSpPr/>
            <p:nvPr/>
          </p:nvSpPr>
          <p:spPr>
            <a:xfrm>
              <a:off x="1074875" y="3251625"/>
              <a:ext cx="1256700" cy="1127100"/>
            </a:xfrm>
            <a:prstGeom prst="ellipse">
              <a:avLst/>
            </a:prstGeom>
            <a:solidFill>
              <a:schemeClr val="dk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" name="Google Shape;96;p5"/>
            <p:cNvCxnSpPr/>
            <p:nvPr/>
          </p:nvCxnSpPr>
          <p:spPr>
            <a:xfrm>
              <a:off x="2600964" y="2098281"/>
              <a:ext cx="618000" cy="3999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7" name="Google Shape;97;p5"/>
            <p:cNvSpPr txBox="1"/>
            <p:nvPr/>
          </p:nvSpPr>
          <p:spPr>
            <a:xfrm>
              <a:off x="3480900" y="2484950"/>
              <a:ext cx="17658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pt-BR" sz="1700" u="none" cap="none" strike="noStrike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FUNÇÃO DE</a:t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1" lang="pt-BR" sz="1700" u="none" cap="none" strike="noStrike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ORDEM SUPERIOR</a:t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8" name="Google Shape;98;p5"/>
            <p:cNvSpPr txBox="1"/>
            <p:nvPr/>
          </p:nvSpPr>
          <p:spPr>
            <a:xfrm>
              <a:off x="1109975" y="1762500"/>
              <a:ext cx="1186500" cy="5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pt-BR" sz="1600" u="none" cap="none" strike="noStrike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FUNÇÃO</a:t>
              </a:r>
              <a:endParaRPr b="1" i="0" sz="16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9" name="Google Shape;99;p5"/>
            <p:cNvSpPr txBox="1"/>
            <p:nvPr/>
          </p:nvSpPr>
          <p:spPr>
            <a:xfrm>
              <a:off x="6519875" y="3519663"/>
              <a:ext cx="1186500" cy="5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pt-BR" sz="1600" u="none" cap="none" strike="noStrike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FUNÇÃO</a:t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0" name="Google Shape;100;p5"/>
            <p:cNvSpPr txBox="1"/>
            <p:nvPr/>
          </p:nvSpPr>
          <p:spPr>
            <a:xfrm>
              <a:off x="1198519" y="3586968"/>
              <a:ext cx="1009200" cy="5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pt-BR" sz="1600" u="none" cap="none" strike="noStrike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INPUT</a:t>
              </a:r>
              <a:endParaRPr b="1" i="0" sz="16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101" name="Google Shape;101;p5"/>
            <p:cNvGrpSpPr/>
            <p:nvPr/>
          </p:nvGrpSpPr>
          <p:grpSpPr>
            <a:xfrm>
              <a:off x="6484775" y="1494461"/>
              <a:ext cx="1256700" cy="1127100"/>
              <a:chOff x="6336325" y="1359399"/>
              <a:chExt cx="1256700" cy="1127100"/>
            </a:xfrm>
          </p:grpSpPr>
          <p:sp>
            <p:nvSpPr>
              <p:cNvPr id="102" name="Google Shape;102;p5"/>
              <p:cNvSpPr/>
              <p:nvPr/>
            </p:nvSpPr>
            <p:spPr>
              <a:xfrm>
                <a:off x="6336325" y="1359399"/>
                <a:ext cx="1256700" cy="1127100"/>
              </a:xfrm>
              <a:prstGeom prst="ellipse">
                <a:avLst/>
              </a:prstGeom>
              <a:solidFill>
                <a:schemeClr val="dk1"/>
              </a:solidFill>
              <a:ln cap="flat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5"/>
              <p:cNvSpPr txBox="1"/>
              <p:nvPr/>
            </p:nvSpPr>
            <p:spPr>
              <a:xfrm>
                <a:off x="6436375" y="1694794"/>
                <a:ext cx="1056600" cy="5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1" i="0" lang="pt-BR" sz="1600" u="none" cap="none" strike="noStrike">
                    <a:solidFill>
                      <a:schemeClr val="lt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OUTPUT</a:t>
                </a:r>
                <a:endParaRPr b="1" i="0" sz="1600" u="none" cap="none" strike="noStrike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cxnSp>
          <p:nvCxnSpPr>
            <p:cNvPr id="104" name="Google Shape;104;p5"/>
            <p:cNvCxnSpPr/>
            <p:nvPr/>
          </p:nvCxnSpPr>
          <p:spPr>
            <a:xfrm flipH="1" rot="10800000">
              <a:off x="2481350" y="3519675"/>
              <a:ext cx="671700" cy="336600"/>
            </a:xfrm>
            <a:prstGeom prst="straightConnector1">
              <a:avLst/>
            </a:prstGeom>
            <a:noFill/>
            <a:ln cap="flat" cmpd="sng" w="38100">
              <a:solidFill>
                <a:srgbClr val="EAFF6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5" name="Google Shape;105;p5"/>
            <p:cNvCxnSpPr/>
            <p:nvPr/>
          </p:nvCxnSpPr>
          <p:spPr>
            <a:xfrm flipH="1" rot="10800000">
              <a:off x="5618900" y="2004975"/>
              <a:ext cx="671700" cy="336600"/>
            </a:xfrm>
            <a:prstGeom prst="straightConnector1">
              <a:avLst/>
            </a:prstGeom>
            <a:noFill/>
            <a:ln cap="flat" cmpd="sng" w="38100">
              <a:solidFill>
                <a:srgbClr val="EAFF6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6" name="Google Shape;106;p5"/>
            <p:cNvCxnSpPr/>
            <p:nvPr/>
          </p:nvCxnSpPr>
          <p:spPr>
            <a:xfrm>
              <a:off x="5546251" y="3488031"/>
              <a:ext cx="618000" cy="3999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7" name="Google Shape;107;p5"/>
            <p:cNvSpPr txBox="1"/>
            <p:nvPr/>
          </p:nvSpPr>
          <p:spPr>
            <a:xfrm>
              <a:off x="1422575" y="2860975"/>
              <a:ext cx="8193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E/OU</a:t>
              </a:r>
              <a:endParaRPr b="0" i="0" sz="14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8" name="Google Shape;108;p5"/>
            <p:cNvSpPr txBox="1"/>
            <p:nvPr/>
          </p:nvSpPr>
          <p:spPr>
            <a:xfrm>
              <a:off x="6871169" y="2646175"/>
              <a:ext cx="544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chemeClr val="lt1"/>
                  </a:solidFill>
                  <a:latin typeface="Anton"/>
                  <a:ea typeface="Anton"/>
                  <a:cs typeface="Anton"/>
                  <a:sym typeface="Anton"/>
                </a:rPr>
                <a:t>E/OU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Retornar Funções</a:t>
            </a:r>
            <a:endParaRPr/>
          </a:p>
        </p:txBody>
      </p:sp>
      <p:sp>
        <p:nvSpPr>
          <p:cNvPr id="114" name="Google Shape;114;p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5" name="Google Shape;115;p6"/>
          <p:cNvSpPr txBox="1"/>
          <p:nvPr/>
        </p:nvSpPr>
        <p:spPr>
          <a:xfrm>
            <a:off x="724447" y="1462488"/>
            <a:ext cx="5897580" cy="49243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primeiro caso, podemos ter uma função que retorna outra função, o que nos permitiria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funções com um esquema superior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Por exemplo a função ao lado.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Nesse caso, maiorQue(n) retorna uma função que compara um valor com n e retorna true ou false (porque é o resultado da comparação). 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maiorQueDez, acaba se atribuindo à função que retorna a chamada de maiorQue(10). Ao ser chamada com o valor de 10, a atribuição se resolve da seguinte forma: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let maiorQueDez = (m) =&gt; m &gt; 10</a:t>
            </a:r>
            <a:endParaRPr b="1" i="0" sz="22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6" name="Google Shape;116;p6"/>
          <p:cNvGraphicFramePr/>
          <p:nvPr/>
        </p:nvGraphicFramePr>
        <p:xfrm>
          <a:off x="6622027" y="184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{5141F696-C11A-4F96-BF36-2AA0473BBD53}</a:tableStyleId>
              </a:tblPr>
              <a:tblGrid>
                <a:gridCol w="5488850"/>
              </a:tblGrid>
              <a:tr h="159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maiorQue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maiorQueDez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maiorQue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let maiorQueDez = (m) =&gt; m &gt; 10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6272A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maiorQueDez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  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 true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maiorQueDez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  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 false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Retornar Funções</a:t>
            </a:r>
            <a:endParaRPr/>
          </a:p>
        </p:txBody>
      </p:sp>
      <p:sp>
        <p:nvSpPr>
          <p:cNvPr id="122" name="Google Shape;122;p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3" name="Google Shape;123;p7"/>
          <p:cNvSpPr txBox="1"/>
          <p:nvPr/>
        </p:nvSpPr>
        <p:spPr>
          <a:xfrm>
            <a:off x="622986" y="2055012"/>
            <a:ext cx="4198200" cy="20312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Neste exemplo, de acordo com o parâmetro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acaba se atribuindo um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de função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outro às variáveis declaradas.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4" name="Google Shape;124;p7"/>
          <p:cNvGraphicFramePr/>
          <p:nvPr/>
        </p:nvGraphicFramePr>
        <p:xfrm>
          <a:off x="5037670" y="1462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{5141F696-C11A-4F96-BF36-2AA0473BBD53}</a:tableStyleId>
              </a:tblPr>
              <a:tblGrid>
                <a:gridCol w="6100925"/>
              </a:tblGrid>
              <a:tr h="159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atribuirOperacao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somar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subtrair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atribuirOperacao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somar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subtracao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atribuirOperacao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subtrair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  </a:t>
                      </a: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 10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subtracao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  </a:t>
                      </a: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 2</a:t>
                      </a:r>
                      <a:endParaRPr sz="24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Retornar Funções por Parâmetro</a:t>
            </a:r>
            <a:endParaRPr/>
          </a:p>
        </p:txBody>
      </p:sp>
      <p:sp>
        <p:nvSpPr>
          <p:cNvPr id="130" name="Google Shape;130;p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1" name="Google Shape;131;p8"/>
          <p:cNvSpPr txBox="1"/>
          <p:nvPr/>
        </p:nvSpPr>
        <p:spPr>
          <a:xfrm>
            <a:off x="721482" y="1462488"/>
            <a:ext cx="6136518" cy="49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Significa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escrever funções que possam receber outras funções por parâmetro.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começar com um exemplo: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supor que queremos percorrer um array e fazer algo com cada um de seus elementos.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 função recebe um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primeiro parâmetro e uma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função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segundo, sendo encarregada de percorrer o array e, para cada elemento desse array, fazer uma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chamada à função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mencionada enviando esse elemento por parâmetro.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2" name="Google Shape;132;p8"/>
          <p:cNvGraphicFramePr/>
          <p:nvPr/>
        </p:nvGraphicFramePr>
        <p:xfrm>
          <a:off x="6858000" y="22457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{5141F696-C11A-4F96-BF36-2AA0473BBD53}</a:tableStyleId>
              </a:tblPr>
              <a:tblGrid>
                <a:gridCol w="5102950"/>
              </a:tblGrid>
              <a:tr h="159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porCadaUm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array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funcao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item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array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funcao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item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porCadaUm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Retornar Funções por Parâmetro</a:t>
            </a:r>
            <a:endParaRPr/>
          </a:p>
        </p:txBody>
      </p:sp>
      <p:sp>
        <p:nvSpPr>
          <p:cNvPr id="138" name="Google Shape;138;p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9" name="Google Shape;139;p9"/>
          <p:cNvSpPr txBox="1"/>
          <p:nvPr/>
        </p:nvSpPr>
        <p:spPr>
          <a:xfrm>
            <a:off x="839470" y="1529625"/>
            <a:ext cx="4198200" cy="42472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enviar console.log por parâmetro, se entende que essa função será executada com cada elemento do array.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Podemos enviar funções distintas em diversas chamadas e executar, nesse caso, diferentes ações sobre os elementos do array,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tudo com a mesma função.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0" name="Google Shape;140;p9"/>
          <p:cNvGraphicFramePr/>
          <p:nvPr/>
        </p:nvGraphicFramePr>
        <p:xfrm>
          <a:off x="5948516" y="1462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{5141F696-C11A-4F96-BF36-2AA0473BBD53}</a:tableStyleId>
              </a:tblPr>
              <a:tblGrid>
                <a:gridCol w="5256525"/>
              </a:tblGrid>
              <a:tr h="159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total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porCadaUm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array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funcao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item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array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funcao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item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acumular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total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50FA7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porCadaUm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acumular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(total)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10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Arrow Function (Função Seta)</a:t>
            </a:r>
            <a:endParaRPr/>
          </a:p>
        </p:txBody>
      </p:sp>
      <p:sp>
        <p:nvSpPr>
          <p:cNvPr id="146" name="Google Shape;146;p1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7" name="Google Shape;147;p10"/>
          <p:cNvSpPr txBox="1"/>
          <p:nvPr/>
        </p:nvSpPr>
        <p:spPr>
          <a:xfrm>
            <a:off x="722757" y="1958773"/>
            <a:ext cx="5088107" cy="24006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comum definir a função diretamente sobre o parâmetro como uma função anônima, aproveitando a sintaxe de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arrow function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(função seta). Isso permite definir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ações mais dinâmicas.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8" name="Google Shape;148;p10"/>
          <p:cNvGraphicFramePr/>
          <p:nvPr/>
        </p:nvGraphicFramePr>
        <p:xfrm>
          <a:off x="5810864" y="15652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{5141F696-C11A-4F96-BF36-2AA0473BBD53}</a:tableStyleId>
              </a:tblPr>
              <a:tblGrid>
                <a:gridCol w="5459350"/>
              </a:tblGrid>
              <a:tr h="159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quadrados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[]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porCadaUm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array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funcao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item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array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funcao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item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porCadaUm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quadrados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push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quadrados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[2, 4, 6, 8]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>
            <p:ph type="title"/>
          </p:nvPr>
        </p:nvSpPr>
        <p:spPr>
          <a:xfrm>
            <a:off x="838200" y="1046480"/>
            <a:ext cx="10515600" cy="536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400"/>
              <a:buFont typeface="Arial"/>
              <a:buNone/>
            </a:pPr>
            <a:r>
              <a:rPr lang="pt-BR" sz="4400"/>
              <a:t>Métodos de Busca e Transformação</a:t>
            </a:r>
            <a:endParaRPr/>
          </a:p>
        </p:txBody>
      </p:sp>
      <p:sp>
        <p:nvSpPr>
          <p:cNvPr id="154" name="Google Shape;154;p1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 txBox="1"/>
          <p:nvPr/>
        </p:nvSpPr>
        <p:spPr>
          <a:xfrm>
            <a:off x="944851" y="590425"/>
            <a:ext cx="10854800" cy="172338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333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Métodos de Busca e Transformação</a:t>
            </a:r>
            <a:endParaRPr b="1" i="0" sz="5333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5704587" y="2613939"/>
            <a:ext cx="782800" cy="782800"/>
          </a:xfrm>
          <a:prstGeom prst="ellipse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3"/>
          <p:cNvSpPr txBox="1"/>
          <p:nvPr/>
        </p:nvSpPr>
        <p:spPr>
          <a:xfrm>
            <a:off x="1320333" y="3688068"/>
            <a:ext cx="2613600" cy="57659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67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forEach()</a:t>
            </a:r>
            <a:endParaRPr b="1" i="0" sz="1867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2" name="Google Shape;162;p13"/>
          <p:cNvSpPr txBox="1"/>
          <p:nvPr/>
        </p:nvSpPr>
        <p:spPr>
          <a:xfrm>
            <a:off x="4795400" y="3688068"/>
            <a:ext cx="2613600" cy="57659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67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find()</a:t>
            </a:r>
            <a:endParaRPr b="1" i="0" sz="1867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9101035" y="2613972"/>
            <a:ext cx="782800" cy="782800"/>
          </a:xfrm>
          <a:prstGeom prst="ellipse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p13"/>
          <p:cNvCxnSpPr>
            <a:stCxn id="165" idx="6"/>
            <a:endCxn id="160" idx="2"/>
          </p:cNvCxnSpPr>
          <p:nvPr/>
        </p:nvCxnSpPr>
        <p:spPr>
          <a:xfrm>
            <a:off x="3090951" y="3005374"/>
            <a:ext cx="2613600" cy="0"/>
          </a:xfrm>
          <a:prstGeom prst="straightConnector1">
            <a:avLst/>
          </a:prstGeom>
          <a:noFill/>
          <a:ln cap="flat" cmpd="sng" w="9525">
            <a:solidFill>
              <a:srgbClr val="EAFF6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13"/>
          <p:cNvCxnSpPr>
            <a:stCxn id="160" idx="6"/>
            <a:endCxn id="163" idx="2"/>
          </p:cNvCxnSpPr>
          <p:nvPr/>
        </p:nvCxnSpPr>
        <p:spPr>
          <a:xfrm>
            <a:off x="6487387" y="3005339"/>
            <a:ext cx="2613600" cy="0"/>
          </a:xfrm>
          <a:prstGeom prst="straightConnector1">
            <a:avLst/>
          </a:prstGeom>
          <a:noFill/>
          <a:ln cap="flat" cmpd="sng" w="9525">
            <a:solidFill>
              <a:srgbClr val="EAFF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13"/>
          <p:cNvSpPr txBox="1"/>
          <p:nvPr/>
        </p:nvSpPr>
        <p:spPr>
          <a:xfrm>
            <a:off x="8191833" y="3688068"/>
            <a:ext cx="2613600" cy="57659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67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filter()</a:t>
            </a:r>
            <a:endParaRPr b="1" i="0" sz="1867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856533" y="4504200"/>
            <a:ext cx="3541200" cy="1838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Cada um desses métodos foi pensado para solucionar problemas recorrentes com os arrays.</a:t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13"/>
          <p:cNvSpPr txBox="1"/>
          <p:nvPr/>
        </p:nvSpPr>
        <p:spPr>
          <a:xfrm>
            <a:off x="5819851" y="2605134"/>
            <a:ext cx="552400" cy="800179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13"/>
          <p:cNvSpPr txBox="1"/>
          <p:nvPr/>
        </p:nvSpPr>
        <p:spPr>
          <a:xfrm>
            <a:off x="9216251" y="2605134"/>
            <a:ext cx="552400" cy="800179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71" name="Google Shape;171;p13"/>
          <p:cNvGrpSpPr/>
          <p:nvPr/>
        </p:nvGrpSpPr>
        <p:grpSpPr>
          <a:xfrm>
            <a:off x="2308151" y="2605135"/>
            <a:ext cx="782800" cy="800179"/>
            <a:chOff x="1731113" y="1953850"/>
            <a:chExt cx="587100" cy="600134"/>
          </a:xfrm>
        </p:grpSpPr>
        <p:sp>
          <p:nvSpPr>
            <p:cNvPr id="165" name="Google Shape;165;p13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3"/>
            <p:cNvSpPr txBox="1"/>
            <p:nvPr/>
          </p:nvSpPr>
          <p:spPr>
            <a:xfrm>
              <a:off x="1817525" y="1953850"/>
              <a:ext cx="414300" cy="6001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4000" u="none" cap="none" strike="noStrik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1</a:t>
              </a:r>
              <a:endParaRPr b="1" i="0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cxnSp>
        <p:nvCxnSpPr>
          <p:cNvPr id="173" name="Google Shape;173;p13"/>
          <p:cNvCxnSpPr/>
          <p:nvPr/>
        </p:nvCxnSpPr>
        <p:spPr>
          <a:xfrm flipH="1" rot="10800000">
            <a:off x="9723687" y="3002972"/>
            <a:ext cx="2481200" cy="2400"/>
          </a:xfrm>
          <a:prstGeom prst="straightConnector1">
            <a:avLst/>
          </a:prstGeom>
          <a:noFill/>
          <a:ln cap="flat" cmpd="sng" w="9525">
            <a:solidFill>
              <a:srgbClr val="EAFF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1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"/>
          <p:cNvSpPr txBox="1"/>
          <p:nvPr/>
        </p:nvSpPr>
        <p:spPr>
          <a:xfrm>
            <a:off x="856533" y="549154"/>
            <a:ext cx="10854800" cy="172338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333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Métodos de Busca e Transformação</a:t>
            </a:r>
            <a:endParaRPr b="1" i="0" sz="5333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5195369" y="2613939"/>
            <a:ext cx="782800" cy="782800"/>
          </a:xfrm>
          <a:prstGeom prst="ellipse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1320333" y="3688068"/>
            <a:ext cx="2613600" cy="57659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67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some()</a:t>
            </a:r>
            <a:endParaRPr b="1" i="0" sz="1867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2" name="Google Shape;182;p14"/>
          <p:cNvSpPr txBox="1"/>
          <p:nvPr/>
        </p:nvSpPr>
        <p:spPr>
          <a:xfrm>
            <a:off x="4286184" y="3688068"/>
            <a:ext cx="2613600" cy="57659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67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map()</a:t>
            </a:r>
            <a:endParaRPr b="1" i="0" sz="1867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7849001" y="2613972"/>
            <a:ext cx="782800" cy="782800"/>
          </a:xfrm>
          <a:prstGeom prst="ellipse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14"/>
          <p:cNvCxnSpPr>
            <a:stCxn id="185" idx="6"/>
            <a:endCxn id="180" idx="2"/>
          </p:cNvCxnSpPr>
          <p:nvPr/>
        </p:nvCxnSpPr>
        <p:spPr>
          <a:xfrm>
            <a:off x="3090951" y="3005374"/>
            <a:ext cx="2104500" cy="0"/>
          </a:xfrm>
          <a:prstGeom prst="straightConnector1">
            <a:avLst/>
          </a:prstGeom>
          <a:noFill/>
          <a:ln cap="flat" cmpd="sng" w="9525">
            <a:solidFill>
              <a:srgbClr val="EAFF6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14"/>
          <p:cNvCxnSpPr>
            <a:stCxn id="180" idx="6"/>
            <a:endCxn id="183" idx="2"/>
          </p:cNvCxnSpPr>
          <p:nvPr/>
        </p:nvCxnSpPr>
        <p:spPr>
          <a:xfrm>
            <a:off x="5978169" y="3005339"/>
            <a:ext cx="1870800" cy="0"/>
          </a:xfrm>
          <a:prstGeom prst="straightConnector1">
            <a:avLst/>
          </a:prstGeom>
          <a:noFill/>
          <a:ln cap="flat" cmpd="sng" w="9525">
            <a:solidFill>
              <a:srgbClr val="EAFF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14"/>
          <p:cNvSpPr txBox="1"/>
          <p:nvPr/>
        </p:nvSpPr>
        <p:spPr>
          <a:xfrm>
            <a:off x="6939800" y="3688068"/>
            <a:ext cx="2613600" cy="57659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67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reduce()</a:t>
            </a:r>
            <a:endParaRPr b="1" i="0" sz="1867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8" name="Google Shape;188;p14"/>
          <p:cNvSpPr txBox="1"/>
          <p:nvPr/>
        </p:nvSpPr>
        <p:spPr>
          <a:xfrm>
            <a:off x="856533" y="4504200"/>
            <a:ext cx="3541200" cy="1838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Cada um desses métodos foi pensado para solucionar problemas recorrentes com os arrays.</a:t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14"/>
          <p:cNvSpPr txBox="1"/>
          <p:nvPr/>
        </p:nvSpPr>
        <p:spPr>
          <a:xfrm>
            <a:off x="5310633" y="2605134"/>
            <a:ext cx="552400" cy="800179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14"/>
          <p:cNvSpPr txBox="1"/>
          <p:nvPr/>
        </p:nvSpPr>
        <p:spPr>
          <a:xfrm>
            <a:off x="7964217" y="2605134"/>
            <a:ext cx="552400" cy="800179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6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91" name="Google Shape;191;p14"/>
          <p:cNvGrpSpPr/>
          <p:nvPr/>
        </p:nvGrpSpPr>
        <p:grpSpPr>
          <a:xfrm>
            <a:off x="2308151" y="2605135"/>
            <a:ext cx="782800" cy="800179"/>
            <a:chOff x="1731113" y="1953850"/>
            <a:chExt cx="587100" cy="600134"/>
          </a:xfrm>
        </p:grpSpPr>
        <p:sp>
          <p:nvSpPr>
            <p:cNvPr id="185" name="Google Shape;185;p14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4"/>
            <p:cNvSpPr txBox="1"/>
            <p:nvPr/>
          </p:nvSpPr>
          <p:spPr>
            <a:xfrm>
              <a:off x="1817525" y="1953850"/>
              <a:ext cx="414300" cy="6001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4000" u="none" cap="none" strike="noStrik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4</a:t>
              </a:r>
              <a:endParaRPr b="1" i="0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cxnSp>
        <p:nvCxnSpPr>
          <p:cNvPr id="193" name="Google Shape;193;p14"/>
          <p:cNvCxnSpPr/>
          <p:nvPr/>
        </p:nvCxnSpPr>
        <p:spPr>
          <a:xfrm flipH="1" rot="10800000">
            <a:off x="-173047" y="3004172"/>
            <a:ext cx="2481200" cy="2400"/>
          </a:xfrm>
          <a:prstGeom prst="straightConnector1">
            <a:avLst/>
          </a:prstGeom>
          <a:noFill/>
          <a:ln cap="flat" cmpd="sng" w="9525">
            <a:solidFill>
              <a:srgbClr val="EAFF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14"/>
          <p:cNvSpPr/>
          <p:nvPr/>
        </p:nvSpPr>
        <p:spPr>
          <a:xfrm>
            <a:off x="10515035" y="2614005"/>
            <a:ext cx="782800" cy="782800"/>
          </a:xfrm>
          <a:prstGeom prst="ellipse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10630251" y="2605167"/>
            <a:ext cx="552400" cy="800179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7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96" name="Google Shape;196;p14"/>
          <p:cNvCxnSpPr>
            <a:stCxn id="190" idx="3"/>
            <a:endCxn id="195" idx="1"/>
          </p:cNvCxnSpPr>
          <p:nvPr/>
        </p:nvCxnSpPr>
        <p:spPr>
          <a:xfrm>
            <a:off x="8516617" y="3005224"/>
            <a:ext cx="2113500" cy="0"/>
          </a:xfrm>
          <a:prstGeom prst="straightConnector1">
            <a:avLst/>
          </a:prstGeom>
          <a:noFill/>
          <a:ln cap="flat" cmpd="sng" w="9525">
            <a:solidFill>
              <a:srgbClr val="EAFF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14"/>
          <p:cNvSpPr txBox="1"/>
          <p:nvPr/>
        </p:nvSpPr>
        <p:spPr>
          <a:xfrm>
            <a:off x="9599667" y="3688068"/>
            <a:ext cx="2613600" cy="57659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67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sort()</a:t>
            </a:r>
            <a:endParaRPr b="1" i="0" sz="1867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1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For Each</a:t>
            </a:r>
            <a:endParaRPr/>
          </a:p>
        </p:txBody>
      </p:sp>
      <p:sp>
        <p:nvSpPr>
          <p:cNvPr id="204" name="Google Shape;204;p1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5" name="Google Shape;205;p15"/>
          <p:cNvSpPr txBox="1"/>
          <p:nvPr/>
        </p:nvSpPr>
        <p:spPr>
          <a:xfrm>
            <a:off x="839470" y="1716395"/>
            <a:ext cx="5502336" cy="276995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método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forEach()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similar ao exemplo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porCadaUm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anterior.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 itera sobre o array de referência e executa a função que enviamos por parâmetro para cada elemento do array, a qual recebe o elemento do array que se está percorrendo: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6" name="Google Shape;206;p15"/>
          <p:cNvGraphicFramePr/>
          <p:nvPr/>
        </p:nvGraphicFramePr>
        <p:xfrm>
          <a:off x="6829730" y="22853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{5141F696-C11A-4F96-BF36-2AA0473BBD53}</a:tableStyleId>
              </a:tblPr>
              <a:tblGrid>
                <a:gridCol w="4943175"/>
              </a:tblGrid>
              <a:tr h="123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forEach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})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Find</a:t>
            </a:r>
            <a:endParaRPr/>
          </a:p>
        </p:txBody>
      </p:sp>
      <p:sp>
        <p:nvSpPr>
          <p:cNvPr id="212" name="Google Shape;212;p1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213" name="Google Shape;213;p16"/>
          <p:cNvGraphicFramePr/>
          <p:nvPr/>
        </p:nvGraphicFramePr>
        <p:xfrm>
          <a:off x="3790334" y="16925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{5141F696-C11A-4F96-BF36-2AA0473BBD53}</a:tableStyleId>
              </a:tblPr>
              <a:tblGrid>
                <a:gridCol w="8347575"/>
              </a:tblGrid>
              <a:tr h="123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cursos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Javascript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15000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ReactJS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22000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resultado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cursos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find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ReactJS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resultado2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cursos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find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Python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resultado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{nome: 'ReactJS', preco: 22000}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resultado2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undefined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sp>
        <p:nvSpPr>
          <p:cNvPr id="214" name="Google Shape;214;p16"/>
          <p:cNvSpPr txBox="1"/>
          <p:nvPr/>
        </p:nvSpPr>
        <p:spPr>
          <a:xfrm>
            <a:off x="678513" y="1462488"/>
            <a:ext cx="3038081" cy="38779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método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find()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recebe uma função de comparação por parâmetro. Captura o elemento que se está percorrendo e retorna true ou false conforme a comparação executada.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método retorna o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primeiro elemento do array que cumpra a condição: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2197553" y="5251603"/>
            <a:ext cx="9156245" cy="14157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que o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rgbClr val="008000"/>
                </a:highlight>
                <a:latin typeface="Arial"/>
                <a:ea typeface="Arial"/>
                <a:cs typeface="Arial"/>
                <a:sym typeface="Arial"/>
              </a:rPr>
              <a:t>find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retorna o primeiro elemento do array que cumpra a condição enviada, a partir daí, podemos armazená-lo em uma variável ou usá-lo de referência para outro processo.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não houver nenhuma correspondência no array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 método find retorna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undefined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Filter</a:t>
            </a:r>
            <a:endParaRPr/>
          </a:p>
        </p:txBody>
      </p:sp>
      <p:sp>
        <p:nvSpPr>
          <p:cNvPr id="221" name="Google Shape;221;p1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752254" y="1418244"/>
            <a:ext cx="2330158" cy="51090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método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filter()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recebe, da mesma forma que o find, uma função comparadora por parâmetro e retorna um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novo array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todos os elementos que cumpram essa condição.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caso de não haver correspondências, retornará um array vazio.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3" name="Google Shape;223;p17"/>
          <p:cNvGraphicFramePr/>
          <p:nvPr/>
        </p:nvGraphicFramePr>
        <p:xfrm>
          <a:off x="3401960" y="7154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{5141F696-C11A-4F96-BF36-2AA0473BBD53}</a:tableStyleId>
              </a:tblPr>
              <a:tblGrid>
                <a:gridCol w="8731050"/>
              </a:tblGrid>
              <a:tr h="123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cursos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JavaScript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15000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ReactJS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22000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AngularJS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22000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Dev Web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16000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resultado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cursos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filter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includes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resultado2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cursos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filter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.preco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14000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resultado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//[{nome: "ReactJS", preco: 22000},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//{nome: "AngularJS", preco: 22000}]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resultado2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[]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Some</a:t>
            </a:r>
            <a:endParaRPr/>
          </a:p>
        </p:txBody>
      </p:sp>
      <p:sp>
        <p:nvSpPr>
          <p:cNvPr id="229" name="Google Shape;229;p1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836930" y="1462488"/>
            <a:ext cx="3275330" cy="49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método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some()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funciona da mesma forma que o find(), recebendo uma função de busca, com a diferença que em vez de retornar o elemento encontrado, o método some retorna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true ou false conforme o resultado da iteração de busca.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1" name="Google Shape;231;p18"/>
          <p:cNvGraphicFramePr/>
          <p:nvPr/>
        </p:nvGraphicFramePr>
        <p:xfrm>
          <a:off x="4395019" y="12104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{5141F696-C11A-4F96-BF36-2AA0473BBD53}</a:tableStyleId>
              </a:tblPr>
              <a:tblGrid>
                <a:gridCol w="7595425"/>
              </a:tblGrid>
              <a:tr h="123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cursos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JavaScript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15000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ReactJS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22000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AngularJS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22000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Dev Web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16000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cursos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Dev Web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true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cursos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VueJS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false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9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Map</a:t>
            </a:r>
            <a:endParaRPr/>
          </a:p>
        </p:txBody>
      </p:sp>
      <p:sp>
        <p:nvSpPr>
          <p:cNvPr id="237" name="Google Shape;237;p1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649015" y="1589441"/>
            <a:ext cx="4483423" cy="38779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método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map()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um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novo array com todos os elementos do original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transformados de acordo com as operações da função enviada por parâmetro. Ele tem o mesmo tamanho, mas os elementos armazenados serão construídos pelo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 função: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9" name="Google Shape;239;p19"/>
          <p:cNvGraphicFramePr/>
          <p:nvPr/>
        </p:nvGraphicFramePr>
        <p:xfrm>
          <a:off x="5634881" y="15894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{5141F696-C11A-4F96-BF36-2AA0473BBD53}</a:tableStyleId>
              </a:tblPr>
              <a:tblGrid>
                <a:gridCol w="6267075"/>
              </a:tblGrid>
              <a:tr h="123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cursos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JavaScript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15000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ReactJS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22000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AngularJS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22000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Dev Web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16000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cursos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map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[ 'JavaScript', 'ReactJS', 'AngularJS', 'Dev Web' ]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Map</a:t>
            </a:r>
            <a:endParaRPr/>
          </a:p>
        </p:txBody>
      </p:sp>
      <p:sp>
        <p:nvSpPr>
          <p:cNvPr id="245" name="Google Shape;245;p2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691986" y="1462488"/>
            <a:ext cx="4198200" cy="49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exemplo anterior, a função retorna a propriedade nome de cada elemento, e é isso que é armazenado no novo array nomes. O map é muito utilizado para a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transformação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arrays.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quisermos aumentar o preço de todos os cursos nesse exemplo, podemos mapear e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retornar um recorte dos elementos com o preço modificado: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7" name="Google Shape;247;p20"/>
          <p:cNvGraphicFramePr/>
          <p:nvPr/>
        </p:nvGraphicFramePr>
        <p:xfrm>
          <a:off x="5444428" y="6605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{5141F696-C11A-4F96-BF36-2AA0473BBD53}</a:tableStyleId>
              </a:tblPr>
              <a:tblGrid>
                <a:gridCol w="5528375"/>
              </a:tblGrid>
              <a:tr h="123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cursos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nome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JavaScript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15000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nome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ReactJS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22000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nome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AngularJS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22000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nome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Dev Web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16000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b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atualizado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cursos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map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nome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.nome,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preco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.preco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1.25</a:t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})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b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atualizado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/* [</a:t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{ nome: 'JavaScript', preco: 18750 },</a:t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{ nome: 'ReactJS', preco: 27500 },</a:t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{ nome: 'AngularJS', preco: 27500 },</a:t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{ nome: 'Dev Web', preco: 20000 }</a:t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*/</a:t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Reduce</a:t>
            </a:r>
            <a:endParaRPr/>
          </a:p>
        </p:txBody>
      </p:sp>
      <p:sp>
        <p:nvSpPr>
          <p:cNvPr id="253" name="Google Shape;253;p2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839470" y="1677556"/>
            <a:ext cx="4757400" cy="49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método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 reduce()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nos permite obter um único valor após iterar sobre o array. Funciona como um método que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resume o array a um único valor de retorno. 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Exemplos de uso: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queremos acumular a soma de alguma propriedade dos elementos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quando queremos obter algum resultado geral sobre todo o array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6283519" y="1677556"/>
            <a:ext cx="4757400" cy="49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Diferentemente dos métodos anteriores, o método reduce recebe dois parâmetros: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primeiro é a função que ordena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que queremos resumir do array.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Recebe um parâmetro que funciona como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acumulador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o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array que iteramos.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segundo é o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valor inicial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acumulador.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2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Reduce</a:t>
            </a:r>
            <a:endParaRPr/>
          </a:p>
        </p:txBody>
      </p:sp>
      <p:sp>
        <p:nvSpPr>
          <p:cNvPr id="261" name="Google Shape;261;p2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836930" y="1462488"/>
            <a:ext cx="4626600" cy="313929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Nesse exemplo, no acumulador, somamos cada elemento do array, e, ao terminar a soma, a iteração nos retorna o resultado.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segundo parâmetro do reduce, que aqui é representado como 0, é o valor inicial do acumulador.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3" name="Google Shape;263;p22"/>
          <p:cNvGraphicFramePr/>
          <p:nvPr/>
        </p:nvGraphicFramePr>
        <p:xfrm>
          <a:off x="5943601" y="16360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{5141F696-C11A-4F96-BF36-2AA0473BBD53}</a:tableStyleId>
              </a:tblPr>
              <a:tblGrid>
                <a:gridCol w="6076325"/>
              </a:tblGrid>
              <a:tr h="123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total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reduce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acumulador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elemento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acumulador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elemento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total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21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sp>
        <p:nvSpPr>
          <p:cNvPr id="264" name="Google Shape;264;p22"/>
          <p:cNvSpPr txBox="1"/>
          <p:nvPr/>
        </p:nvSpPr>
        <p:spPr>
          <a:xfrm>
            <a:off x="836929" y="4776021"/>
            <a:ext cx="4626599" cy="16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isso, seria possível, por exemplo, somar o preço de todos os produtos escolhidos em uma simulação de compra: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5" name="Google Shape;265;p22"/>
          <p:cNvGraphicFramePr/>
          <p:nvPr/>
        </p:nvGraphicFramePr>
        <p:xfrm>
          <a:off x="5943601" y="35709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{5141F696-C11A-4F96-BF36-2AA0473BBD53}</a:tableStyleId>
              </a:tblPr>
              <a:tblGrid>
                <a:gridCol w="5825600"/>
              </a:tblGrid>
              <a:tr h="123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minhaCompra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Dev Web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20000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JavaScript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18750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ReactJS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27500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total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minhaCompra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reduce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.preco,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total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66250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Sort</a:t>
            </a:r>
            <a:endParaRPr/>
          </a:p>
        </p:txBody>
      </p:sp>
      <p:sp>
        <p:nvSpPr>
          <p:cNvPr id="271" name="Google Shape;271;p2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839470" y="1462488"/>
            <a:ext cx="10664272" cy="35086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método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sort()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nos permite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reordenar um array segundo algum critério que definirmos.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método recebe uma função de comparação por parâmetro que recebe dois elementos do array por vez. A função deve retornar um valor numérico (1, -1, 0), que indica qual elemento se posiciona antes ou depois.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⚠ CUIDADO ⚠</a:t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método é destrutivo, ou seja, modifica o array sobre o qual é chamado. 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Sort</a:t>
            </a:r>
            <a:endParaRPr/>
          </a:p>
        </p:txBody>
      </p:sp>
      <p:sp>
        <p:nvSpPr>
          <p:cNvPr id="278" name="Google Shape;278;p2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669826" y="1852412"/>
            <a:ext cx="4032450" cy="276995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ordenar números, basta subtrair um do outro, e a ordem indicará se será ordenado de forma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crescente (ascendente)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decrescente (descendente):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0" name="Google Shape;280;p24"/>
          <p:cNvGraphicFramePr/>
          <p:nvPr/>
        </p:nvGraphicFramePr>
        <p:xfrm>
          <a:off x="5047633" y="18524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{5141F696-C11A-4F96-BF36-2AA0473BBD53}</a:tableStyleId>
              </a:tblPr>
              <a:tblGrid>
                <a:gridCol w="6902250"/>
              </a:tblGrid>
              <a:tr h="123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crescente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(crescente)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[ 1, 5, 40, 200 ]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decrescente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(decrescente)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[ 200, 40, 5, 1 ]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"/>
          <p:cNvSpPr txBox="1"/>
          <p:nvPr>
            <p:ph type="title"/>
          </p:nvPr>
        </p:nvSpPr>
        <p:spPr>
          <a:xfrm>
            <a:off x="839470" y="4766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Sort</a:t>
            </a:r>
            <a:endParaRPr/>
          </a:p>
        </p:txBody>
      </p:sp>
      <p:sp>
        <p:nvSpPr>
          <p:cNvPr id="286" name="Google Shape;286;p2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839470" y="1739245"/>
            <a:ext cx="4256100" cy="276995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ordenar um array por string, devemos definir uma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função comparadora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 retorne um valor numérico de referência, conforme a ordem que quisermos, crescente ou decrescente: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8" name="Google Shape;288;p25"/>
          <p:cNvGraphicFramePr/>
          <p:nvPr/>
        </p:nvGraphicFramePr>
        <p:xfrm>
          <a:off x="5601928" y="9695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{5141F696-C11A-4F96-BF36-2AA0473BBD53}</a:tableStyleId>
              </a:tblPr>
              <a:tblGrid>
                <a:gridCol w="5621600"/>
              </a:tblGrid>
              <a:tr h="123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items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Pikachu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Charmander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37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Pidgey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45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Squirtle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items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.nome)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.nome)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a é igual a b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items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6"/>
          <p:cNvSpPr txBox="1"/>
          <p:nvPr/>
        </p:nvSpPr>
        <p:spPr>
          <a:xfrm>
            <a:off x="1926867" y="918434"/>
            <a:ext cx="9559200" cy="892576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667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Exemplo ao vivo</a:t>
            </a:r>
            <a:endParaRPr b="1" i="0" sz="4667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4" name="Google Shape;294;p26"/>
          <p:cNvSpPr txBox="1"/>
          <p:nvPr/>
        </p:nvSpPr>
        <p:spPr>
          <a:xfrm>
            <a:off x="631133" y="2168133"/>
            <a:ext cx="9559200" cy="332356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33" u="none" cap="none" strike="noStrik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333" u="none" cap="none" strike="noStrik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A seguir, veremos um exemplo aplicado em que se utilizam os métodos apresentados em uma solução mais próxima do cenário de uma loja virtual.</a:t>
            </a:r>
            <a:r>
              <a:rPr b="1" i="0" lang="pt-BR" sz="3333" u="none" cap="none" strike="noStrike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 i="0" sz="3333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333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95" name="Google Shape;295;p26"/>
          <p:cNvGrpSpPr/>
          <p:nvPr/>
        </p:nvGrpSpPr>
        <p:grpSpPr>
          <a:xfrm>
            <a:off x="631135" y="826031"/>
            <a:ext cx="985200" cy="985200"/>
            <a:chOff x="473351" y="619523"/>
            <a:chExt cx="738900" cy="738900"/>
          </a:xfrm>
        </p:grpSpPr>
        <p:sp>
          <p:nvSpPr>
            <p:cNvPr id="296" name="Google Shape;296;p26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7" name="Google Shape;297;p26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2" name="Google Shape;302;p27"/>
          <p:cNvGraphicFramePr/>
          <p:nvPr/>
        </p:nvGraphicFramePr>
        <p:xfrm>
          <a:off x="266739" y="1724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{5141F696-C11A-4F96-BF36-2AA0473BBD53}</a:tableStyleId>
              </a:tblPr>
              <a:tblGrid>
                <a:gridCol w="11658525"/>
              </a:tblGrid>
              <a:tr h="4802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endParaRPr sz="2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id</a:t>
                      </a: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nome</a:t>
                      </a: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2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Arroz</a:t>
                      </a:r>
                      <a:r>
                        <a:rPr b="0" lang="pt-BR" sz="22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125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id</a:t>
                      </a: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nome</a:t>
                      </a: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2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Macarrão</a:t>
                      </a:r>
                      <a:r>
                        <a:rPr b="0" lang="pt-BR" sz="22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70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id</a:t>
                      </a: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nome</a:t>
                      </a: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2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Pão</a:t>
                      </a:r>
                      <a:r>
                        <a:rPr b="0" lang="pt-BR" sz="22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id</a:t>
                      </a: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nome</a:t>
                      </a: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2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Pudim</a:t>
                      </a:r>
                      <a:r>
                        <a:rPr b="0" lang="pt-BR" sz="22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2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sz="2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b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busca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2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find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i="1" lang="pt-BR" sz="22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1" lang="pt-BR" sz="22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.id </a:t>
                      </a: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===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2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busca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b="0" lang="pt-BR" sz="22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//{id: 3, produto: "Pão", preco: 50}</a:t>
                      </a:r>
                      <a:endParaRPr b="0" sz="22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b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existe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2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some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i="1" lang="pt-BR" sz="22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1" lang="pt-BR" sz="22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 </a:t>
                      </a: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===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2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Farinha</a:t>
                      </a:r>
                      <a:r>
                        <a:rPr b="0" lang="pt-BR" sz="22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2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existe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b="0" lang="pt-BR" sz="22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false</a:t>
                      </a:r>
                      <a:endParaRPr b="0" sz="22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b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baratos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2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filter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i="1" lang="pt-BR" sz="22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1" lang="pt-BR" sz="22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.preco </a:t>
                      </a: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2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baratos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2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[{id: 2,produto:"Macarrão",preco:70},{id:3,produto:"Pão",preco: 50}]</a:t>
                      </a:r>
                      <a:endParaRPr b="0" sz="22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b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listaNomes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2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map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b="0" i="1" lang="pt-BR" sz="22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b="0" lang="pt-BR" sz="22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1" lang="pt-BR" sz="22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.nome);</a:t>
                      </a:r>
                      <a:endParaRPr sz="2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2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22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listaNomes</a:t>
                      </a:r>
                      <a:r>
                        <a:rPr b="0" lang="pt-BR" sz="22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 </a:t>
                      </a:r>
                      <a:r>
                        <a:rPr b="0" lang="pt-BR" sz="22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//["Arroz", "Macarrão", "Pão", "Pudim"]</a:t>
                      </a:r>
                      <a:endParaRPr b="0" sz="22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84675" marB="84675" marR="84675" marL="84675">
                    <a:lnL cap="flat" cmpd="sng" w="38100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8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Referências:</a:t>
            </a:r>
            <a:endParaRPr/>
          </a:p>
        </p:txBody>
      </p:sp>
      <p:sp>
        <p:nvSpPr>
          <p:cNvPr id="308" name="Google Shape;308;p28"/>
          <p:cNvSpPr txBox="1"/>
          <p:nvPr>
            <p:ph idx="1" type="body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432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50"/>
              <a:buFont typeface="DM Sans"/>
              <a:buChar char="✓"/>
            </a:pPr>
            <a:r>
              <a:rPr lang="pt-BR" sz="2800" u="sng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Método sort</a:t>
            </a:r>
            <a:r>
              <a:rPr lang="pt-BR" sz="2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| </a:t>
            </a:r>
            <a:r>
              <a:rPr b="1" lang="pt-BR" sz="2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Developer Mozilla</a:t>
            </a:r>
            <a:endParaRPr sz="2800" u="sng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50"/>
              <a:buFont typeface="DM Sans"/>
              <a:buChar char="✓"/>
            </a:pPr>
            <a:r>
              <a:rPr lang="pt-BR" sz="2800" u="sng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 que é Higher Order Function</a:t>
            </a:r>
            <a:endParaRPr/>
          </a:p>
        </p:txBody>
      </p:sp>
      <p:sp>
        <p:nvSpPr>
          <p:cNvPr id="309" name="Google Shape;309;p2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9"/>
          <p:cNvSpPr txBox="1"/>
          <p:nvPr>
            <p:ph type="title"/>
          </p:nvPr>
        </p:nvSpPr>
        <p:spPr>
          <a:xfrm>
            <a:off x="838199" y="2073528"/>
            <a:ext cx="11183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Copyright © 2025</a:t>
            </a:r>
            <a:br>
              <a:rPr lang="pt-BR">
                <a:latin typeface="Arial"/>
                <a:ea typeface="Arial"/>
                <a:cs typeface="Arial"/>
                <a:sym typeface="Arial"/>
              </a:rPr>
            </a:br>
            <a:r>
              <a:rPr lang="pt-BR"/>
              <a:t>Prof. Lucas Sousa</a:t>
            </a:r>
            <a:endParaRPr/>
          </a:p>
        </p:txBody>
      </p:sp>
      <p:sp>
        <p:nvSpPr>
          <p:cNvPr id="315" name="Google Shape;315;p29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2024-05-06T00:37:00Z</dcterms:created>
  <dc:creator>Allen Fernando Oberleitner Lima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B96E02AB6EE14174B6F4E9A4A472FBCF_12</vt:lpwstr>
  </property>
  <property fmtid="{D5CDD505-2E9C-101B-9397-08002B2CF9AE}" pid="3" name="KSOProductBuildVer">
    <vt:lpwstr>1046-12.2.0.16909</vt:lpwstr>
  </property>
</Properties>
</file>