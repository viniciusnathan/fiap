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Didact Gothic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HVt4BtEU+i39H6TA2ibnL0pl8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6B3F96-8E60-4C69-B4D8-6BAA0510D59E}">
  <a:tblStyle styleId="{326B3F96-8E60-4C69-B4D8-6BAA0510D5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DidactGothic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9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9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2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mozilla.org/pt-BR/docs/Web/API/Document_Object_Model" TargetMode="External"/><Relationship Id="rId4" Type="http://schemas.openxmlformats.org/officeDocument/2006/relationships/hyperlink" Target="https://developer.mozilla.org/pt-BR/docs/Web/API/Document_Object_Model/Introduction" TargetMode="External"/><Relationship Id="rId5" Type="http://schemas.openxmlformats.org/officeDocument/2006/relationships/hyperlink" Target="https://www.devmedia.com.br/trabalhando-com-dom-em-javascript/29039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Modelo de objetos de documento (DOM)</a:t>
            </a:r>
            <a:endParaRPr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Representação do Dom</a:t>
            </a:r>
            <a:endParaRPr/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793750" y="1483360"/>
            <a:ext cx="10927715" cy="49422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DOM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(Document Object Model)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interface que representa como os documentos HTML e XML são lidos pelo seu navegador. 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o navegador ler seu documento HTML, ele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objeto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faz uma representação estruturada do seu documento e define meios de como essa estrutura pode ser acessada.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Nós podemos acessar e manipular o DOM com JavaScript, é a forma mais fácil e usada.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cada página carregada no browser, existe um objeto Document.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interface Document serve como um ponto de entrada para o conteúdo da Página.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Representação do Dom</a:t>
            </a:r>
            <a:endParaRPr/>
          </a:p>
        </p:txBody>
      </p:sp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0" name="Google Shape;80;p5"/>
          <p:cNvGrpSpPr/>
          <p:nvPr/>
        </p:nvGrpSpPr>
        <p:grpSpPr>
          <a:xfrm>
            <a:off x="1343660" y="1340485"/>
            <a:ext cx="8626475" cy="5182870"/>
            <a:chOff x="2069625" y="1735550"/>
            <a:chExt cx="5041800" cy="2882400"/>
          </a:xfrm>
        </p:grpSpPr>
        <p:sp>
          <p:nvSpPr>
            <p:cNvPr id="81" name="Google Shape;81;p5"/>
            <p:cNvSpPr/>
            <p:nvPr/>
          </p:nvSpPr>
          <p:spPr>
            <a:xfrm>
              <a:off x="2069625" y="1735550"/>
              <a:ext cx="5041800" cy="288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EAFF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213643" y="1956974"/>
              <a:ext cx="810548" cy="27510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Document</a:t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3001000" y="2962313"/>
              <a:ext cx="753600" cy="275100"/>
            </a:xfrm>
            <a:prstGeom prst="rect">
              <a:avLst/>
            </a:prstGeom>
            <a:solidFill>
              <a:srgbClr val="EAFF6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</a:t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5578487" y="2962313"/>
              <a:ext cx="753600" cy="275100"/>
            </a:xfrm>
            <a:prstGeom prst="rect">
              <a:avLst/>
            </a:prstGeom>
            <a:solidFill>
              <a:srgbClr val="EAFF6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body</a:t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192125" y="3536438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2838025" y="3536438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483925" y="3536438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119650" y="3559100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88964" y="3563514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div</a:t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6129233" y="3559013"/>
              <a:ext cx="524400" cy="275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script</a:t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4560333" y="4100301"/>
              <a:ext cx="397200" cy="27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img</a:t>
              </a: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087408" y="4100301"/>
              <a:ext cx="397200" cy="27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h1</a:t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14483" y="4100301"/>
              <a:ext cx="397200" cy="27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6141558" y="4100301"/>
              <a:ext cx="397200" cy="27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div</a:t>
              </a:r>
              <a:endParaRPr/>
            </a:p>
          </p:txBody>
        </p:sp>
        <p:cxnSp>
          <p:nvCxnSpPr>
            <p:cNvPr id="95" name="Google Shape;95;p5"/>
            <p:cNvCxnSpPr>
              <a:stCxn id="82" idx="2"/>
              <a:endCxn id="83" idx="0"/>
            </p:cNvCxnSpPr>
            <p:nvPr/>
          </p:nvCxnSpPr>
          <p:spPr>
            <a:xfrm flipH="1">
              <a:off x="3377817" y="2232077"/>
              <a:ext cx="1241100" cy="73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5"/>
            <p:cNvCxnSpPr>
              <a:stCxn id="82" idx="2"/>
              <a:endCxn id="84" idx="0"/>
            </p:cNvCxnSpPr>
            <p:nvPr/>
          </p:nvCxnSpPr>
          <p:spPr>
            <a:xfrm>
              <a:off x="4618917" y="2232077"/>
              <a:ext cx="1336500" cy="73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5"/>
            <p:cNvCxnSpPr>
              <a:stCxn id="83" idx="2"/>
              <a:endCxn id="85" idx="0"/>
            </p:cNvCxnSpPr>
            <p:nvPr/>
          </p:nvCxnSpPr>
          <p:spPr>
            <a:xfrm flipH="1">
              <a:off x="2454400" y="3237413"/>
              <a:ext cx="923400" cy="29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5"/>
            <p:cNvCxnSpPr>
              <a:stCxn id="83" idx="2"/>
              <a:endCxn id="86" idx="0"/>
            </p:cNvCxnSpPr>
            <p:nvPr/>
          </p:nvCxnSpPr>
          <p:spPr>
            <a:xfrm flipH="1">
              <a:off x="3100300" y="3237413"/>
              <a:ext cx="277500" cy="29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5"/>
            <p:cNvCxnSpPr>
              <a:stCxn id="83" idx="2"/>
              <a:endCxn id="87" idx="0"/>
            </p:cNvCxnSpPr>
            <p:nvPr/>
          </p:nvCxnSpPr>
          <p:spPr>
            <a:xfrm>
              <a:off x="3377800" y="3237413"/>
              <a:ext cx="368400" cy="29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5"/>
            <p:cNvCxnSpPr>
              <a:stCxn id="83" idx="2"/>
              <a:endCxn id="88" idx="0"/>
            </p:cNvCxnSpPr>
            <p:nvPr/>
          </p:nvCxnSpPr>
          <p:spPr>
            <a:xfrm>
              <a:off x="3377800" y="3237413"/>
              <a:ext cx="1004100" cy="32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5"/>
            <p:cNvCxnSpPr>
              <a:stCxn id="84" idx="2"/>
              <a:endCxn id="89" idx="0"/>
            </p:cNvCxnSpPr>
            <p:nvPr/>
          </p:nvCxnSpPr>
          <p:spPr>
            <a:xfrm flipH="1">
              <a:off x="5551187" y="3237413"/>
              <a:ext cx="404100" cy="32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5"/>
            <p:cNvCxnSpPr>
              <a:stCxn id="84" idx="2"/>
              <a:endCxn id="90" idx="0"/>
            </p:cNvCxnSpPr>
            <p:nvPr/>
          </p:nvCxnSpPr>
          <p:spPr>
            <a:xfrm>
              <a:off x="5955287" y="3237413"/>
              <a:ext cx="436200" cy="32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5"/>
            <p:cNvCxnSpPr>
              <a:stCxn id="89" idx="2"/>
              <a:endCxn id="91" idx="0"/>
            </p:cNvCxnSpPr>
            <p:nvPr/>
          </p:nvCxnSpPr>
          <p:spPr>
            <a:xfrm flipH="1">
              <a:off x="4758864" y="3838614"/>
              <a:ext cx="792300" cy="26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5"/>
            <p:cNvCxnSpPr>
              <a:stCxn id="89" idx="2"/>
              <a:endCxn id="92" idx="0"/>
            </p:cNvCxnSpPr>
            <p:nvPr/>
          </p:nvCxnSpPr>
          <p:spPr>
            <a:xfrm flipH="1">
              <a:off x="5285964" y="3838614"/>
              <a:ext cx="265200" cy="26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5"/>
            <p:cNvCxnSpPr>
              <a:stCxn id="89" idx="2"/>
              <a:endCxn id="93" idx="0"/>
            </p:cNvCxnSpPr>
            <p:nvPr/>
          </p:nvCxnSpPr>
          <p:spPr>
            <a:xfrm>
              <a:off x="5551164" y="3838614"/>
              <a:ext cx="261900" cy="26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5"/>
            <p:cNvCxnSpPr>
              <a:stCxn id="89" idx="2"/>
              <a:endCxn id="94" idx="0"/>
            </p:cNvCxnSpPr>
            <p:nvPr/>
          </p:nvCxnSpPr>
          <p:spPr>
            <a:xfrm>
              <a:off x="5551164" y="3838614"/>
              <a:ext cx="789000" cy="26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Como funciona?</a:t>
            </a:r>
            <a:endParaRPr/>
          </a:p>
        </p:txBody>
      </p:sp>
      <p:sp>
        <p:nvSpPr>
          <p:cNvPr id="112" name="Google Shape;112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839470" y="1484630"/>
            <a:ext cx="9474200" cy="42627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estrutura de um documento HTML é composta por </a:t>
            </a:r>
            <a:r>
              <a:rPr b="1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No DOM cada tag HTML é um objeto, que podemos chamar de nó.</a:t>
            </a:r>
            <a:r>
              <a:rPr b="1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As tags aninhadas são chamadas “nós filhos” da tag “nó pai” que os contêm.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Acesso pelo objeto Document</a:t>
            </a:r>
            <a:endParaRPr/>
          </a:p>
        </p:txBody>
      </p:sp>
      <p:sp>
        <p:nvSpPr>
          <p:cNvPr id="119" name="Google Shape;119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767715" y="1772920"/>
            <a:ext cx="5414645" cy="345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acesso ao body usando a referência </a:t>
            </a:r>
            <a:r>
              <a:rPr b="1" i="0" lang="pt-BR" sz="28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document.body</a:t>
            </a: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 que o script seja incluído ao final de </a:t>
            </a: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HTML.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" name="Google Shape;121;p7"/>
          <p:cNvGraphicFramePr/>
          <p:nvPr/>
        </p:nvGraphicFramePr>
        <p:xfrm>
          <a:off x="6383655" y="177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113650"/>
              </a:tblGrid>
              <a:tr h="159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Didact Gothic"/>
                        <a:ea typeface="Didact Gothic"/>
                        <a:cs typeface="Didact Gothic"/>
                        <a:sym typeface="Didact Gothic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Google Shape;122;p7"/>
          <p:cNvGraphicFramePr/>
          <p:nvPr/>
        </p:nvGraphicFramePr>
        <p:xfrm>
          <a:off x="6383655" y="3573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514350"/>
              </a:tblGrid>
              <a:tr h="179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&gt;Prof. Lucas&lt;/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src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js/main.js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Acessar os nós</a:t>
            </a:r>
            <a:endParaRPr/>
          </a:p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803275" y="1548130"/>
            <a:ext cx="10894060" cy="5049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manipular o conteúdo da tela, utilizamos o que chamamos de </a:t>
            </a: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browser APIs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(Application Programming Interfaces), que é uma camada de abstração para interagirmos com o conteúdo presente.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interagir com as interfaces do browser para entender seu funcionamento. Vamos ver alguns exemplos na prática: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document.getElementById();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document.getElementsByClassName();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document.getElementsByTagName();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document.querySelector();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document.getElementById()</a:t>
            </a:r>
            <a:endParaRPr/>
          </a:p>
        </p:txBody>
      </p: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638810" y="2132965"/>
            <a:ext cx="4784725" cy="21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acessar um elemento da estrutura HTML utilizando seu atributo ID como identificação. </a:t>
            </a:r>
            <a:endParaRPr/>
          </a:p>
        </p:txBody>
      </p:sp>
      <p:graphicFrame>
        <p:nvGraphicFramePr>
          <p:cNvPr id="137" name="Google Shape;137;p9"/>
          <p:cNvGraphicFramePr/>
          <p:nvPr/>
        </p:nvGraphicFramePr>
        <p:xfrm>
          <a:off x="5600065" y="162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755000"/>
              </a:tblGrid>
              <a:tr h="141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paragrafo1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&gt;Olá, Mundo&lt;/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9"/>
          <p:cNvGraphicFramePr/>
          <p:nvPr/>
        </p:nvGraphicFramePr>
        <p:xfrm>
          <a:off x="5663565" y="328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626100"/>
              </a:tblGrid>
              <a:tr h="266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div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(div);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paragrafo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paragrafo1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(paragrafo);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document.getElementsByClassName()</a:t>
            </a:r>
            <a:endParaRPr/>
          </a:p>
        </p:txBody>
      </p:sp>
      <p:sp>
        <p:nvSpPr>
          <p:cNvPr id="144" name="Google Shape;144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" name="Google Shape;145;p10"/>
          <p:cNvSpPr txBox="1"/>
          <p:nvPr/>
        </p:nvSpPr>
        <p:spPr>
          <a:xfrm>
            <a:off x="833120" y="1844675"/>
            <a:ext cx="5224145" cy="4295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acessar um conjunto de elementos da estrutura HTML, utilizando seu atributo class como identificação.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Retornará um array de elementos com todas as correspondências.</a:t>
            </a:r>
            <a:endParaRPr/>
          </a:p>
        </p:txBody>
      </p:sp>
      <p:graphicFrame>
        <p:nvGraphicFramePr>
          <p:cNvPr id="146" name="Google Shape;146;p10"/>
          <p:cNvGraphicFramePr/>
          <p:nvPr/>
        </p:nvGraphicFramePr>
        <p:xfrm>
          <a:off x="6383655" y="18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4535800"/>
              </a:tblGrid>
              <a:tr h="171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&gt;AR&lt;/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&gt;CL&lt;/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&gt;UY&lt;/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" name="Google Shape;147;p10"/>
          <p:cNvGraphicFramePr/>
          <p:nvPr/>
        </p:nvGraphicFramePr>
        <p:xfrm>
          <a:off x="4920615" y="4147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6362700"/>
              </a:tblGrid>
              <a:tr h="192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paises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getElementsByClassName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(paises[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(paises[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(paises[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document.getElementsByTagName()</a:t>
            </a:r>
            <a:endParaRPr/>
          </a:p>
        </p:txBody>
      </p:sp>
      <p:sp>
        <p:nvSpPr>
          <p:cNvPr id="153" name="Google Shape;153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" name="Google Shape;154;p11"/>
          <p:cNvSpPr txBox="1"/>
          <p:nvPr/>
        </p:nvSpPr>
        <p:spPr>
          <a:xfrm>
            <a:off x="767715" y="1700530"/>
            <a:ext cx="4886960" cy="46367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acessar um conjunto de elementos da estrutura HTML, através do nome da sua tag como identificação. Essa opção é a menos específica de todas, já que é muito provável que os rótulos se repitam no código HTML.</a:t>
            </a:r>
            <a:endParaRPr/>
          </a:p>
        </p:txBody>
      </p:sp>
      <p:graphicFrame>
        <p:nvGraphicFramePr>
          <p:cNvPr id="155" name="Google Shape;155;p11"/>
          <p:cNvGraphicFramePr/>
          <p:nvPr/>
        </p:nvGraphicFramePr>
        <p:xfrm>
          <a:off x="6456045" y="1760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4789800"/>
              </a:tblGrid>
              <a:tr h="144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&gt;container 2&lt;/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&gt;container 3&lt;/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" name="Google Shape;156;p11"/>
          <p:cNvGraphicFramePr/>
          <p:nvPr/>
        </p:nvGraphicFramePr>
        <p:xfrm>
          <a:off x="600583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808975"/>
              </a:tblGrid>
              <a:tr h="195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containers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getElementsByTagName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(containers[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(containers[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(containers[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document.querySelector()</a:t>
            </a:r>
            <a:endParaRPr/>
          </a:p>
        </p:txBody>
      </p:sp>
      <p:sp>
        <p:nvSpPr>
          <p:cNvPr id="162" name="Google Shape;162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638255" y="1557020"/>
            <a:ext cx="3942000" cy="5004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selecionar o primeiro elemento que corresponda ao parâmetro de busca. Funciona com a mesma sintaxe que utilizamos nos seletores de CSS.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quisermos obter uma coleção de elementos, podemos utilizar o método querySelectorAll()</a:t>
            </a:r>
            <a:endParaRPr/>
          </a:p>
        </p:txBody>
      </p:sp>
      <p:graphicFrame>
        <p:nvGraphicFramePr>
          <p:cNvPr id="164" name="Google Shape;164;p12"/>
          <p:cNvGraphicFramePr/>
          <p:nvPr/>
        </p:nvGraphicFramePr>
        <p:xfrm>
          <a:off x="7823835" y="119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3971300"/>
              </a:tblGrid>
              <a:tr h="94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12"/>
          <p:cNvGraphicFramePr/>
          <p:nvPr/>
        </p:nvGraphicFramePr>
        <p:xfrm>
          <a:off x="4512945" y="2310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6906250"/>
              </a:tblGrid>
              <a:tr h="443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querySelector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//Por id com #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(container)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paragrafo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querySelector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.texto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Por classe com 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(paragrafo)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É possível selecionar a tag &lt;p&gt; seguindo a sintaxe de CSS: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paragrafo2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querySelector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#container 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(paragrafo)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document.querySelector()</a:t>
            </a:r>
            <a:endParaRPr/>
          </a:p>
        </p:txBody>
      </p:sp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479425" y="1557020"/>
            <a:ext cx="5759450" cy="45802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parte interessante do querySelector é que ele também se aplica às pseudo-classes de CSS, oferecendo um maior nível de precisão.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Suponha que temos alguns radio buttons e queremos selecionar apenas aquele que esteja selecionado, isso pode ser feito de forma muito fácil com o querySelector e a pseudoclasse :checked de CSS.</a:t>
            </a:r>
            <a:endParaRPr/>
          </a:p>
        </p:txBody>
      </p:sp>
      <p:graphicFrame>
        <p:nvGraphicFramePr>
          <p:cNvPr id="173" name="Google Shape;173;p13"/>
          <p:cNvGraphicFramePr/>
          <p:nvPr/>
        </p:nvGraphicFramePr>
        <p:xfrm>
          <a:off x="6310630" y="31413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786125"/>
              </a:tblGrid>
              <a:tr h="106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radioChecked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querySelector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.radio:checked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Modificar Nós</a:t>
            </a:r>
            <a:endParaRPr/>
          </a:p>
        </p:txBody>
      </p:sp>
      <p:sp>
        <p:nvSpPr>
          <p:cNvPr id="179" name="Google Shape;179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767715" y="1630045"/>
            <a:ext cx="450088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innerText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696040" y="2997200"/>
            <a:ext cx="4383600" cy="1878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 propriedade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innerText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um nó nos permite acessar e/ou modificar o conteúdo textual de algum elemento.</a:t>
            </a:r>
            <a:endParaRPr/>
          </a:p>
        </p:txBody>
      </p:sp>
      <p:graphicFrame>
        <p:nvGraphicFramePr>
          <p:cNvPr id="182" name="Google Shape;182;p14"/>
          <p:cNvGraphicFramePr/>
          <p:nvPr/>
        </p:nvGraphicFramePr>
        <p:xfrm>
          <a:off x="6312535" y="1626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4759950"/>
              </a:tblGrid>
              <a:tr h="73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titulo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&gt;Olá, Mundo!&lt;/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3" name="Google Shape;183;p14"/>
          <p:cNvGraphicFramePr/>
          <p:nvPr/>
        </p:nvGraphicFramePr>
        <p:xfrm>
          <a:off x="5592445" y="2562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605775"/>
              </a:tblGrid>
              <a:tr h="3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titulo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titulo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(titulo.innerText)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"Olá, Mundo!"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//Modificação do conteúdo do elemento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titulo.innerText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(titulo.innerText)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"Olá, Dev!"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Modificar Nós</a:t>
            </a:r>
            <a:endParaRPr/>
          </a:p>
        </p:txBody>
      </p:sp>
      <p:sp>
        <p:nvSpPr>
          <p:cNvPr id="189" name="Google Shape;189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767715" y="1630045"/>
            <a:ext cx="450088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innerHTML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695960" y="2350135"/>
            <a:ext cx="4740275" cy="41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innerHTML permite acessar ou definir o código HTML interno do elemento selecionado.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navegador irá interpretá-lo como código HTML e não como conteúdo de texto, permitindo criar uma nova estrutura de tags e conteúdos a partir de uma string.</a:t>
            </a:r>
            <a:endParaRPr/>
          </a:p>
        </p:txBody>
      </p:sp>
      <p:graphicFrame>
        <p:nvGraphicFramePr>
          <p:cNvPr id="192" name="Google Shape;192;p15"/>
          <p:cNvGraphicFramePr/>
          <p:nvPr/>
        </p:nvGraphicFramePr>
        <p:xfrm>
          <a:off x="6240145" y="1700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3884300"/>
              </a:tblGrid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" name="Google Shape;193;p15"/>
          <p:cNvGraphicFramePr/>
          <p:nvPr/>
        </p:nvGraphicFramePr>
        <p:xfrm>
          <a:off x="6096000" y="2853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947400"/>
              </a:tblGrid>
              <a:tr h="195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//Modificação do código HTML interno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&lt;h2&gt;Olá, Mundo!&lt;/h2&gt;&lt;p&gt;Lorem ipsum&lt;/p&gt;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Modificar Nós</a:t>
            </a:r>
            <a:endParaRPr/>
          </a:p>
        </p:txBody>
      </p:sp>
      <p:sp>
        <p:nvSpPr>
          <p:cNvPr id="199" name="Google Shape;199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767715" y="1630045"/>
            <a:ext cx="450088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Class Name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95960" y="2350135"/>
            <a:ext cx="4740275" cy="23037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Através da propriedade className de algum nó selecionado, podemos acessar seu atributo class e definir quais serão suas classes.</a:t>
            </a:r>
            <a:endParaRPr/>
          </a:p>
        </p:txBody>
      </p:sp>
      <p:graphicFrame>
        <p:nvGraphicFramePr>
          <p:cNvPr id="202" name="Google Shape;202;p16"/>
          <p:cNvGraphicFramePr/>
          <p:nvPr/>
        </p:nvGraphicFramePr>
        <p:xfrm>
          <a:off x="6240145" y="1700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3884300"/>
              </a:tblGrid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" name="Google Shape;203;p16"/>
          <p:cNvGraphicFramePr/>
          <p:nvPr/>
        </p:nvGraphicFramePr>
        <p:xfrm>
          <a:off x="6096000" y="2853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947400"/>
              </a:tblGrid>
              <a:tr h="195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//Modificação do código HTML interno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&lt;h2&gt;Olá, Mundo!&lt;/h2&gt;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//Modificação do atributo class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container.className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row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990402" y="693246"/>
            <a:ext cx="401518" cy="401518"/>
            <a:chOff x="974706" y="2467173"/>
            <a:chExt cx="738900" cy="738900"/>
          </a:xfrm>
        </p:grpSpPr>
        <p:sp>
          <p:nvSpPr>
            <p:cNvPr id="210" name="Google Shape;210;p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" name="Google Shape;211;p1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17"/>
          <p:cNvSpPr txBox="1"/>
          <p:nvPr/>
        </p:nvSpPr>
        <p:spPr>
          <a:xfrm>
            <a:off x="990400" y="1291935"/>
            <a:ext cx="4987200" cy="9290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1047115" y="2447925"/>
            <a:ext cx="8999220" cy="38817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lista não ordenada &lt;ul&gt; com pelo menos 5 produtos no seu HTML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Pegue todos os produtos da tela e coloque-os em um array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Exiba o array completo no console 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419225" y="678180"/>
            <a:ext cx="3281045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990402" y="693246"/>
            <a:ext cx="401518" cy="401518"/>
            <a:chOff x="974706" y="2467173"/>
            <a:chExt cx="738900" cy="738900"/>
          </a:xfrm>
        </p:grpSpPr>
        <p:sp>
          <p:nvSpPr>
            <p:cNvPr id="221" name="Google Shape;221;p1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2" name="Google Shape;222;p1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18"/>
          <p:cNvSpPr txBox="1"/>
          <p:nvPr/>
        </p:nvSpPr>
        <p:spPr>
          <a:xfrm>
            <a:off x="1419225" y="678180"/>
            <a:ext cx="3281045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/>
          </a:p>
        </p:txBody>
      </p:sp>
      <p:graphicFrame>
        <p:nvGraphicFramePr>
          <p:cNvPr id="224" name="Google Shape;224;p18"/>
          <p:cNvGraphicFramePr/>
          <p:nvPr/>
        </p:nvGraphicFramePr>
        <p:xfrm>
          <a:off x="1055370" y="3985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8874125"/>
              </a:tblGrid>
              <a:tr h="261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produtos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getElementsByClassName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produtos)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resultado.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.innerText)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18"/>
          <p:cNvGraphicFramePr/>
          <p:nvPr/>
        </p:nvGraphicFramePr>
        <p:xfrm>
          <a:off x="1063625" y="1340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377175"/>
              </a:tblGrid>
              <a:tr h="23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&gt;Mouse&lt;/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&gt;Teclado&lt;/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&gt;Monitor&lt;/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&gt;Fone&lt;/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&gt;Notebook&lt;/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8"/>
          <p:cNvSpPr txBox="1"/>
          <p:nvPr/>
        </p:nvSpPr>
        <p:spPr>
          <a:xfrm>
            <a:off x="5376545" y="692150"/>
            <a:ext cx="240474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Criação de elementos</a:t>
            </a:r>
            <a:endParaRPr/>
          </a:p>
        </p:txBody>
      </p:sp>
      <p:sp>
        <p:nvSpPr>
          <p:cNvPr id="232" name="Google Shape;232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839470" y="1412875"/>
            <a:ext cx="11075035" cy="18307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criar elementos utilizamos a função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document.createElement()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indicando o nome da tag HTML que representará o elemento.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seguida, é necessário acrescentar o nó criado como filho ao body ou a outro nó do documento atual usando o comando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append()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19"/>
          <p:cNvGraphicFramePr/>
          <p:nvPr/>
        </p:nvGraphicFramePr>
        <p:xfrm>
          <a:off x="2858770" y="3356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6477625"/>
              </a:tblGrid>
              <a:tr h="326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Criar nó do tipo Elemento, tag p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paragrafo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Inserir HTML interno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paragrafo.innerHTML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&lt;h2&gt;Hello World!&lt;/h2&gt;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Adicionar o nó paragrafo como filho de body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(paragrafo);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Eliminar elementos</a:t>
            </a:r>
            <a:endParaRPr/>
          </a:p>
        </p:txBody>
      </p:sp>
      <p:sp>
        <p:nvSpPr>
          <p:cNvPr id="240" name="Google Shape;240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39470" y="1412875"/>
            <a:ext cx="11075035" cy="18307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também eliminar os nós existentes e novos. O método remove() permite eliminar um nó selecionado do DOM.</a:t>
            </a:r>
            <a:endParaRPr/>
          </a:p>
        </p:txBody>
      </p:sp>
      <p:graphicFrame>
        <p:nvGraphicFramePr>
          <p:cNvPr id="242" name="Google Shape;242;p20"/>
          <p:cNvGraphicFramePr/>
          <p:nvPr/>
        </p:nvGraphicFramePr>
        <p:xfrm>
          <a:off x="1631315" y="2853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7877175"/>
              </a:tblGrid>
              <a:tr h="25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paragrafo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paragrafo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//Eliminando o próprio elemento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paragrafo.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paises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getElementsByClassName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//Eliminando o primeiro elemento da classe países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paises[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Obter dados de inputs</a:t>
            </a:r>
            <a:endParaRPr/>
          </a:p>
        </p:txBody>
      </p:sp>
      <p:sp>
        <p:nvSpPr>
          <p:cNvPr id="248" name="Google Shape;248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39470" y="1412875"/>
            <a:ext cx="1107503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utilizar o DOM para obter ou modificar dados de um formulário HTML pelo JS. É só acessar 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propriedade value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 cada input selecionado.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0" name="Google Shape;250;p21"/>
          <p:cNvGraphicFramePr/>
          <p:nvPr/>
        </p:nvGraphicFramePr>
        <p:xfrm>
          <a:off x="2927350" y="2853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5361950"/>
              </a:tblGrid>
              <a:tr h="8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idade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Google Shape;251;p21"/>
          <p:cNvGraphicFramePr/>
          <p:nvPr/>
        </p:nvGraphicFramePr>
        <p:xfrm>
          <a:off x="2063115" y="40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6906900"/>
              </a:tblGrid>
              <a:tr h="78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).value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idade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).value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Criando listas a partir de um Array</a:t>
            </a:r>
            <a:endParaRPr/>
          </a:p>
        </p:txBody>
      </p:sp>
      <p:sp>
        <p:nvSpPr>
          <p:cNvPr id="257" name="Google Shape;257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58" name="Google Shape;258;p22"/>
          <p:cNvGraphicFramePr/>
          <p:nvPr/>
        </p:nvGraphicFramePr>
        <p:xfrm>
          <a:off x="3575685" y="1668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3905875"/>
              </a:tblGrid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9" name="Google Shape;259;p22"/>
          <p:cNvGraphicFramePr/>
          <p:nvPr/>
        </p:nvGraphicFramePr>
        <p:xfrm>
          <a:off x="1271270" y="2420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9388475"/>
              </a:tblGrid>
              <a:tr h="418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//Obtemos o nó em que acrescentaremos os novos elementos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pai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//Array com a informação a ser acrescentada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pessoas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HOMER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BART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MAGGIE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//Iteramos o array com for...of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pessoas)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//Criamos um nó &lt;li&gt; e acrescentamos ao pai em cada ciclo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li.innerHTML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pai.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(li);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65" name="Google Shape;265;p23"/>
          <p:cNvGrpSpPr/>
          <p:nvPr/>
        </p:nvGrpSpPr>
        <p:grpSpPr>
          <a:xfrm>
            <a:off x="990402" y="693246"/>
            <a:ext cx="401518" cy="401518"/>
            <a:chOff x="974706" y="2467173"/>
            <a:chExt cx="738900" cy="738900"/>
          </a:xfrm>
        </p:grpSpPr>
        <p:sp>
          <p:nvSpPr>
            <p:cNvPr id="266" name="Google Shape;266;p2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" name="Google Shape;267;p2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23"/>
          <p:cNvSpPr txBox="1"/>
          <p:nvPr/>
        </p:nvSpPr>
        <p:spPr>
          <a:xfrm>
            <a:off x="990400" y="1291935"/>
            <a:ext cx="4987200" cy="9290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047115" y="2447925"/>
            <a:ext cx="8999220" cy="38817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 da tela a lista criada anteriormente, sem alterar o arquivo HTML diretamente, use o remove()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Ordene alfabeticamente os elementos que foram inseridos no array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Exiba os elementos em uma nova lista do tipo ordenada &lt;ol&gt;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419225" y="678180"/>
            <a:ext cx="3281045" cy="5505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Criando elementos a partir de Objetos</a:t>
            </a:r>
            <a:endParaRPr/>
          </a:p>
        </p:txBody>
      </p:sp>
      <p:sp>
        <p:nvSpPr>
          <p:cNvPr id="276" name="Google Shape;276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77" name="Google Shape;277;p24"/>
          <p:cNvGraphicFramePr/>
          <p:nvPr/>
        </p:nvGraphicFramePr>
        <p:xfrm>
          <a:off x="912495" y="15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{326B3F96-8E60-4C69-B4D8-6BAA0510D59E}</a:tableStyleId>
              </a:tblPr>
              <a:tblGrid>
                <a:gridCol w="9789800"/>
              </a:tblGrid>
              <a:tr h="472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Pudim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//Definimos o innerHTML do elemento com uma string de texto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container.innerHTML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&lt;h3&gt; ID: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&lt;/h3&gt;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 Produto: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&lt;b&gt; R$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&lt;/b&gt;&lt;br&gt;&lt;br&gt;"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(container);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</a:txBody>
                  <a:tcPr marT="63500" marB="63500" marR="63500" marL="63500">
                    <a:lnL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83" name="Google Shape;283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12775" y="1670050"/>
            <a:ext cx="9199245" cy="3181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Conhecendo o DOM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0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Introdução ao DOM</a:t>
            </a:r>
            <a:r>
              <a:rPr b="0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1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Trabalhando com DOM em JavaScript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DevMedia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90" name="Google Shape;290;p26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1046-12.2.0.17545</vt:lpwstr>
  </property>
</Properties>
</file>