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</p:sldIdLst>
  <p:sldSz cy="6858000" cx="12192000"/>
  <p:notesSz cx="6858000" cy="9144000"/>
  <p:embeddedFontLst>
    <p:embeddedFont>
      <p:font typeface="Helvetica Neue Light"/>
      <p:regular r:id="rId32"/>
      <p:bold r:id="rId33"/>
      <p:italic r:id="rId34"/>
      <p:boldItalic r:id="rId35"/>
    </p:embeddedFont>
    <p:embeddedFont>
      <p:font typeface="DM Sans"/>
      <p:regular r:id="rId36"/>
      <p:bold r:id="rId37"/>
      <p:italic r:id="rId38"/>
      <p:boldItalic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0" roundtripDataSignature="AMtx7mhrnEKepVeFijOirqJS+1kUhvtqC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DA36346-BB6F-413C-8B61-964B7A76B9B7}">
  <a:tblStyle styleId="{6DA36346-BB6F-413C-8B61-964B7A76B9B7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customschemas.google.com/relationships/presentationmetadata" Target="meta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HelveticaNeueLight-bold.fntdata"/><Relationship Id="rId10" Type="http://schemas.openxmlformats.org/officeDocument/2006/relationships/slide" Target="slides/slide5.xml"/><Relationship Id="rId32" Type="http://schemas.openxmlformats.org/officeDocument/2006/relationships/font" Target="fonts/HelveticaNeueLight-regular.fntdata"/><Relationship Id="rId13" Type="http://schemas.openxmlformats.org/officeDocument/2006/relationships/slide" Target="slides/slide8.xml"/><Relationship Id="rId35" Type="http://schemas.openxmlformats.org/officeDocument/2006/relationships/font" Target="fonts/HelveticaNeueLight-boldItalic.fntdata"/><Relationship Id="rId12" Type="http://schemas.openxmlformats.org/officeDocument/2006/relationships/slide" Target="slides/slide7.xml"/><Relationship Id="rId34" Type="http://schemas.openxmlformats.org/officeDocument/2006/relationships/font" Target="fonts/HelveticaNeueLight-italic.fntdata"/><Relationship Id="rId15" Type="http://schemas.openxmlformats.org/officeDocument/2006/relationships/slide" Target="slides/slide10.xml"/><Relationship Id="rId37" Type="http://schemas.openxmlformats.org/officeDocument/2006/relationships/font" Target="fonts/DMSans-bold.fntdata"/><Relationship Id="rId14" Type="http://schemas.openxmlformats.org/officeDocument/2006/relationships/slide" Target="slides/slide9.xml"/><Relationship Id="rId36" Type="http://schemas.openxmlformats.org/officeDocument/2006/relationships/font" Target="fonts/DMSans-regular.fntdata"/><Relationship Id="rId17" Type="http://schemas.openxmlformats.org/officeDocument/2006/relationships/slide" Target="slides/slide12.xml"/><Relationship Id="rId39" Type="http://schemas.openxmlformats.org/officeDocument/2006/relationships/font" Target="fonts/DMSans-boldItalic.fntdata"/><Relationship Id="rId16" Type="http://schemas.openxmlformats.org/officeDocument/2006/relationships/slide" Target="slides/slide11.xml"/><Relationship Id="rId38" Type="http://schemas.openxmlformats.org/officeDocument/2006/relationships/font" Target="fonts/DMSans-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7" name="Google Shape;5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2" name="Google Shape;6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0" name="Google Shape;7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6" name="Google Shape;7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3" name="Google Shape;83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1" name="Google Shape;91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9" name="Google Shape;99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8" name="Google Shape;118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6" name="Google Shape;126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4" name="Google Shape;144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1" name="Google Shape;151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“Ejemplo en vivo”</a:t>
            </a:r>
            <a:endParaRPr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El docente realizará una tarea compartiendo la pantalla en vivo. Se centrará en los pasos y los aspectos a tener en cuenta.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9" name="Google Shape;169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Usar para las subsiguientes slides de Actividades en clase.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8" name="Google Shape;188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6" name="Google Shape;196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" name="Google Shape;204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Usar para las subsiguientes slides de Actividades en clase.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5" name="Google Shape;215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3" name="Google Shape;223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1" name="Google Shape;231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“Ejemplo en vivo”</a:t>
            </a:r>
            <a:endParaRPr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El docente realizará una tarea compartiendo la pantalla en vivo. Se centrará en los pasos y los aspectos a tener en cuenta.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0" name="Google Shape;240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Usar para las subsiguientes slides de Actividades en clase.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1" name="Google Shape;251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9" name="Google Shape;25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6" name="Google Shape;26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3.png"/><Relationship Id="rId4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3.png"/><Relationship Id="rId4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ogo + Black">
  <p:cSld name="Logo + Black">
    <p:bg>
      <p:bgPr>
        <a:solidFill>
          <a:srgbClr val="1A1C1E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01700" y="292781"/>
            <a:ext cx="11588600" cy="62724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61366" y="2854782"/>
            <a:ext cx="4269268" cy="11484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abeçalho da Seção">
  <p:cSld name="1_Cabeçalho da Seção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1975643"/>
            <a:ext cx="12191999" cy="290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9"/>
          <p:cNvSpPr txBox="1"/>
          <p:nvPr>
            <p:ph type="title"/>
          </p:nvPr>
        </p:nvSpPr>
        <p:spPr>
          <a:xfrm>
            <a:off x="838200" y="2073528"/>
            <a:ext cx="10515600" cy="823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4000"/>
              <a:buFont typeface="Arial"/>
              <a:buNone/>
              <a:defRPr sz="4000">
                <a:solidFill>
                  <a:srgbClr val="D8D8D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9"/>
          <p:cNvSpPr txBox="1"/>
          <p:nvPr>
            <p:ph idx="1" type="body"/>
          </p:nvPr>
        </p:nvSpPr>
        <p:spPr>
          <a:xfrm>
            <a:off x="831850" y="2967290"/>
            <a:ext cx="10515600" cy="6421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3600"/>
              <a:buNone/>
              <a:defRPr b="0" sz="3600">
                <a:solidFill>
                  <a:srgbClr val="D8D8D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pic>
        <p:nvPicPr>
          <p:cNvPr id="22" name="Google Shape;2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0094" y="2039437"/>
            <a:ext cx="199158" cy="25929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193361" y="145018"/>
            <a:ext cx="1579539" cy="4248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2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53799" y="5485606"/>
            <a:ext cx="838201" cy="582612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9"/>
          <p:cNvSpPr txBox="1"/>
          <p:nvPr>
            <p:ph idx="2" type="body"/>
          </p:nvPr>
        </p:nvSpPr>
        <p:spPr>
          <a:xfrm>
            <a:off x="831850" y="3960557"/>
            <a:ext cx="10515600" cy="6421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2400"/>
              <a:buNone/>
              <a:defRPr b="1" sz="2400">
                <a:solidFill>
                  <a:srgbClr val="D8D8D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9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7" name="Google Shape;27;p9"/>
          <p:cNvSpPr txBox="1"/>
          <p:nvPr/>
        </p:nvSpPr>
        <p:spPr>
          <a:xfrm>
            <a:off x="219075" y="6088030"/>
            <a:ext cx="3384737" cy="3987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Fevereiro 2025 / versão 1</a:t>
            </a:r>
            <a:endParaRPr b="0" i="0" sz="20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Logo + Black">
  <p:cSld name="1_Logo + Black">
    <p:bg>
      <p:bgPr>
        <a:solidFill>
          <a:srgbClr val="1A1C1E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0"/>
          <p:cNvSpPr txBox="1"/>
          <p:nvPr>
            <p:ph type="title"/>
          </p:nvPr>
        </p:nvSpPr>
        <p:spPr>
          <a:xfrm>
            <a:off x="838198" y="3017044"/>
            <a:ext cx="10515600" cy="823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4800"/>
              <a:buFont typeface="Arial"/>
              <a:buNone/>
              <a:defRPr sz="4800">
                <a:solidFill>
                  <a:srgbClr val="D8D8D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0" name="Google Shape;30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353799" y="5485606"/>
            <a:ext cx="838201" cy="5826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Google Shape;3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97839" y="364886"/>
            <a:ext cx="1579539" cy="424896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10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33" name="Google Shape;33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19100" y="0"/>
            <a:ext cx="11353798" cy="1685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35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353799" y="5485606"/>
            <a:ext cx="838201" cy="582612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11"/>
          <p:cNvSpPr txBox="1"/>
          <p:nvPr>
            <p:ph type="title"/>
          </p:nvPr>
        </p:nvSpPr>
        <p:spPr>
          <a:xfrm>
            <a:off x="838200" y="3877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  <a:defRPr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1"/>
          <p:cNvSpPr txBox="1"/>
          <p:nvPr>
            <p:ph idx="1" type="body"/>
          </p:nvPr>
        </p:nvSpPr>
        <p:spPr>
          <a:xfrm>
            <a:off x="838200" y="1493521"/>
            <a:ext cx="10515600" cy="49767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2800"/>
              <a:buChar char="•"/>
              <a:defRPr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2400"/>
              <a:buChar char="•"/>
              <a:defRPr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2000"/>
              <a:buChar char="•"/>
              <a:defRPr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38" name="Google Shape;38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17320" y="387750"/>
            <a:ext cx="121148" cy="988023"/>
          </a:xfrm>
          <a:prstGeom prst="rect">
            <a:avLst/>
          </a:prstGeom>
          <a:noFill/>
          <a:ln>
            <a:noFill/>
          </a:ln>
        </p:spPr>
      </p:pic>
      <p:pic>
        <p:nvPicPr>
          <p:cNvPr id="39" name="Google Shape;39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93361" y="145018"/>
            <a:ext cx="1579539" cy="424896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11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3-B 1">
  <p:cSld name="03-B 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>
  <p:cSld name="Cabeçalho da Seção">
    <p:bg>
      <p:bgPr>
        <a:solidFill>
          <a:schemeClr val="lt1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Google Shape;43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1975643"/>
            <a:ext cx="12191999" cy="2906713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12"/>
          <p:cNvSpPr txBox="1"/>
          <p:nvPr>
            <p:ph type="title"/>
          </p:nvPr>
        </p:nvSpPr>
        <p:spPr>
          <a:xfrm>
            <a:off x="838199" y="2073528"/>
            <a:ext cx="11183471" cy="1234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4000"/>
              <a:buFont typeface="Arial"/>
              <a:buNone/>
              <a:defRPr sz="4000">
                <a:solidFill>
                  <a:srgbClr val="D8D8D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5" name="Google Shape;45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0094" y="2039437"/>
            <a:ext cx="199158" cy="2592933"/>
          </a:xfrm>
          <a:prstGeom prst="rect">
            <a:avLst/>
          </a:prstGeom>
          <a:noFill/>
          <a:ln>
            <a:noFill/>
          </a:ln>
        </p:spPr>
      </p:pic>
      <p:pic>
        <p:nvPicPr>
          <p:cNvPr id="46" name="Google Shape;46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193361" y="145018"/>
            <a:ext cx="1579539" cy="42489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47" name="Google Shape;47;p12"/>
          <p:cNvSpPr txBox="1"/>
          <p:nvPr/>
        </p:nvSpPr>
        <p:spPr>
          <a:xfrm>
            <a:off x="838199" y="3357951"/>
            <a:ext cx="10699378" cy="1234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2400"/>
              <a:buFont typeface="Arial"/>
              <a:buNone/>
            </a:pPr>
            <a:r>
              <a:rPr b="1" i="0" lang="pt-BR" sz="2400" u="none" cap="none" strike="noStrike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rPr>
              <a:t>Todos direitos reservados. Reprodução ou divulgação total ou parcial deste documento é expressamente proibido sem o consentimento formal, por escrito, do Professor (autor).</a:t>
            </a:r>
            <a:endParaRPr b="1" i="0" sz="4800" u="none" cap="none" strike="noStrike">
              <a:solidFill>
                <a:srgbClr val="D8D8D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ítulo e Conteúdo">
  <p:cSld name="1_Título e Conteúdo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ndo blanco">
  <p:cSld name="Fondo blanco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Google Shape;50;p35" title="logo coderhouse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415218" y="6256367"/>
            <a:ext cx="1534333" cy="3567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co 1" type="title">
  <p:cSld name="TITLE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6"/>
          <p:cNvSpPr txBox="1"/>
          <p:nvPr>
            <p:ph type="ctrTitle"/>
          </p:nvPr>
        </p:nvSpPr>
        <p:spPr>
          <a:xfrm>
            <a:off x="415611" y="992767"/>
            <a:ext cx="11360800" cy="2736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DM Sans"/>
              <a:buNone/>
              <a:defRPr b="1" sz="5333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/>
        </p:txBody>
      </p:sp>
      <p:sp>
        <p:nvSpPr>
          <p:cNvPr id="53" name="Google Shape;53;p36"/>
          <p:cNvSpPr txBox="1"/>
          <p:nvPr>
            <p:ph idx="1" type="subTitle"/>
          </p:nvPr>
        </p:nvSpPr>
        <p:spPr>
          <a:xfrm>
            <a:off x="415600" y="3778833"/>
            <a:ext cx="11360800" cy="105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Helvetica Neue Light"/>
              <a:buNone/>
              <a:defRPr sz="2667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/>
        </p:txBody>
      </p:sp>
      <p:pic>
        <p:nvPicPr>
          <p:cNvPr id="54" name="Google Shape;54;p36" title="logo CoderHouse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415218" y="6256367"/>
            <a:ext cx="1534333" cy="3567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0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Relationship Id="rId3" Type="http://schemas.openxmlformats.org/officeDocument/2006/relationships/hyperlink" Target="https://developer.mozilla.org/pt-BR/docs/Web/JavaScript/Guide/Working_with_Objects" TargetMode="External"/><Relationship Id="rId4" Type="http://schemas.openxmlformats.org/officeDocument/2006/relationships/hyperlink" Target="https://developer.mozilla.org/pt-BR/docs/Web/JavaScript/Reference/Classes" TargetMode="External"/><Relationship Id="rId5" Type="http://schemas.openxmlformats.org/officeDocument/2006/relationships/hyperlink" Target="https://www.w3schools.com/js/js_classes.asp" TargetMode="Externa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"/>
          <p:cNvSpPr txBox="1"/>
          <p:nvPr>
            <p:ph idx="4294967295" type="sldNum"/>
          </p:nvPr>
        </p:nvSpPr>
        <p:spPr>
          <a:xfrm>
            <a:off x="11353800" y="5594350"/>
            <a:ext cx="838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"/>
          <p:cNvSpPr txBox="1"/>
          <p:nvPr>
            <p:ph type="title"/>
          </p:nvPr>
        </p:nvSpPr>
        <p:spPr>
          <a:xfrm>
            <a:off x="838200" y="2073528"/>
            <a:ext cx="10515600" cy="823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4000"/>
              <a:buFont typeface="Arial"/>
              <a:buNone/>
            </a:pPr>
            <a:r>
              <a:rPr lang="pt-BR"/>
              <a:t>Engenharia de Software</a:t>
            </a:r>
            <a:endParaRPr/>
          </a:p>
        </p:txBody>
      </p:sp>
      <p:sp>
        <p:nvSpPr>
          <p:cNvPr id="65" name="Google Shape;65;p2"/>
          <p:cNvSpPr txBox="1"/>
          <p:nvPr>
            <p:ph idx="1" type="body"/>
          </p:nvPr>
        </p:nvSpPr>
        <p:spPr>
          <a:xfrm>
            <a:off x="831850" y="2967290"/>
            <a:ext cx="10515600" cy="6421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3600"/>
              <a:buNone/>
            </a:pPr>
            <a:r>
              <a:rPr lang="pt-BR"/>
              <a:t>Web Development with JS</a:t>
            </a:r>
            <a:endParaRPr/>
          </a:p>
        </p:txBody>
      </p:sp>
      <p:sp>
        <p:nvSpPr>
          <p:cNvPr id="66" name="Google Shape;66;p2"/>
          <p:cNvSpPr txBox="1"/>
          <p:nvPr>
            <p:ph idx="2" type="body"/>
          </p:nvPr>
        </p:nvSpPr>
        <p:spPr>
          <a:xfrm>
            <a:off x="831850" y="3960557"/>
            <a:ext cx="10515600" cy="6421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2400"/>
              <a:buNone/>
            </a:pPr>
            <a:r>
              <a:rPr lang="pt-BR"/>
              <a:t>Prof. Lucas Sousa</a:t>
            </a:r>
            <a:endParaRPr/>
          </a:p>
        </p:txBody>
      </p:sp>
      <p:sp>
        <p:nvSpPr>
          <p:cNvPr id="67" name="Google Shape;67;p2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"/>
          <p:cNvSpPr txBox="1"/>
          <p:nvPr>
            <p:ph type="title"/>
          </p:nvPr>
        </p:nvSpPr>
        <p:spPr>
          <a:xfrm>
            <a:off x="838200" y="1046480"/>
            <a:ext cx="10515600" cy="5362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4400"/>
              <a:buFont typeface="Arial"/>
              <a:buNone/>
            </a:pPr>
            <a:r>
              <a:rPr lang="pt-BR" sz="4400"/>
              <a:t>Objetos</a:t>
            </a:r>
            <a:endParaRPr sz="4400"/>
          </a:p>
        </p:txBody>
      </p:sp>
      <p:sp>
        <p:nvSpPr>
          <p:cNvPr id="73" name="Google Shape;73;p3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"/>
          <p:cNvSpPr txBox="1"/>
          <p:nvPr>
            <p:ph type="title"/>
          </p:nvPr>
        </p:nvSpPr>
        <p:spPr>
          <a:xfrm>
            <a:off x="838200" y="3877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Objetos</a:t>
            </a:r>
            <a:endParaRPr/>
          </a:p>
        </p:txBody>
      </p:sp>
      <p:sp>
        <p:nvSpPr>
          <p:cNvPr id="79" name="Google Shape;79;p4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80" name="Google Shape;80;p4"/>
          <p:cNvSpPr txBox="1"/>
          <p:nvPr/>
        </p:nvSpPr>
        <p:spPr>
          <a:xfrm>
            <a:off x="838198" y="1630765"/>
            <a:ext cx="10515600" cy="375239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Objetos em JavaScript, assim como em muitas outras linguagens de programação, podem ser comparados com objetos na vida real. 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Compare-o com uma xícara, por exemplo. Uma xícara é um objeto, com propriedades. Uma xícara tem uma cor, uma forma, peso, um material de composição, etc. 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 mesma forma, </a:t>
            </a:r>
            <a:r>
              <a:rPr b="0" i="0" lang="pt-BR" sz="2400" u="none" cap="none" strike="noStrike">
                <a:solidFill>
                  <a:srgbClr val="000000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objetos em JavaScript podem ter propriedades, que definem suas características.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4"/>
          <p:cNvSpPr txBox="1"/>
          <p:nvPr>
            <p:ph type="title"/>
          </p:nvPr>
        </p:nvSpPr>
        <p:spPr>
          <a:xfrm>
            <a:off x="838200" y="3877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Sintaxe de um Objeto</a:t>
            </a:r>
            <a:endParaRPr/>
          </a:p>
        </p:txBody>
      </p:sp>
      <p:sp>
        <p:nvSpPr>
          <p:cNvPr id="86" name="Google Shape;86;p14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87" name="Google Shape;87;p14"/>
          <p:cNvSpPr txBox="1"/>
          <p:nvPr/>
        </p:nvSpPr>
        <p:spPr>
          <a:xfrm>
            <a:off x="838200" y="1545022"/>
            <a:ext cx="10754032" cy="129263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Um objeto é definido diretamente entre chaves { }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Os valores que armazena são listados separados por vírgula, na forma propriedade: valor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88" name="Google Shape;88;p14"/>
          <p:cNvGraphicFramePr/>
          <p:nvPr/>
        </p:nvGraphicFramePr>
        <p:xfrm>
          <a:off x="1443228" y="318606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{6DA36346-BB6F-413C-8B61-964B7A76B9B7}</a:tableStyleId>
              </a:tblPr>
              <a:tblGrid>
                <a:gridCol w="5665500"/>
              </a:tblGrid>
              <a:tr h="1667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let</a:t>
                      </a:r>
                      <a:r>
                        <a:rPr b="0"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xicara </a:t>
                      </a:r>
                      <a:r>
                        <a:rPr b="0"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b="0"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</a:t>
                      </a:r>
                      <a:endParaRPr sz="2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cor</a:t>
                      </a:r>
                      <a:r>
                        <a:rPr b="0"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b="0"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b="0" lang="pt-BR" sz="24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b="0" lang="pt-BR" sz="24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branca</a:t>
                      </a:r>
                      <a:r>
                        <a:rPr b="0" lang="pt-BR" sz="24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b="0"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</a:t>
                      </a:r>
                      <a:endParaRPr sz="2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forma</a:t>
                      </a:r>
                      <a:r>
                        <a:rPr b="0"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b="0"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b="0" lang="pt-BR" sz="24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b="0" lang="pt-BR" sz="24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redonda</a:t>
                      </a:r>
                      <a:r>
                        <a:rPr b="0" lang="pt-BR" sz="24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b="0"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</a:t>
                      </a:r>
                      <a:endParaRPr sz="2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peso</a:t>
                      </a:r>
                      <a:r>
                        <a:rPr b="0"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b="0"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b="0" lang="pt-BR" sz="24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r>
                        <a:rPr b="0"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</a:t>
                      </a:r>
                      <a:endParaRPr sz="2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capacidade</a:t>
                      </a:r>
                      <a:r>
                        <a:rPr b="0"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b="0"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b="0" lang="pt-BR" sz="24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  <a:endParaRPr b="0" sz="24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endParaRPr sz="2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br>
                        <a:rPr b="0"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b="0" lang="pt-BR" sz="24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console</a:t>
                      </a:r>
                      <a:r>
                        <a:rPr b="0"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b="0" lang="pt-BR" sz="24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log</a:t>
                      </a:r>
                      <a:r>
                        <a:rPr b="0"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(xicara);</a:t>
                      </a:r>
                      <a:endParaRPr sz="2400" u="none" cap="none" strike="noStrike"/>
                    </a:p>
                  </a:txBody>
                  <a:tcPr marT="63500" marB="63500" marR="63500" marL="63500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343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5"/>
          <p:cNvSpPr txBox="1"/>
          <p:nvPr>
            <p:ph type="title"/>
          </p:nvPr>
        </p:nvSpPr>
        <p:spPr>
          <a:xfrm>
            <a:off x="838200" y="3877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Obtendo os valores do Objeto</a:t>
            </a:r>
            <a:endParaRPr/>
          </a:p>
        </p:txBody>
      </p:sp>
      <p:sp>
        <p:nvSpPr>
          <p:cNvPr id="94" name="Google Shape;94;p15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95" name="Google Shape;95;p15"/>
          <p:cNvSpPr txBox="1"/>
          <p:nvPr/>
        </p:nvSpPr>
        <p:spPr>
          <a:xfrm>
            <a:off x="708009" y="1577013"/>
            <a:ext cx="5387991" cy="350862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Para obter o valor de uma propriedade em um objeto: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Notação ponto (</a:t>
            </a:r>
            <a:r>
              <a:rPr b="0" i="0" lang="pt-BR" sz="2400" u="none" cap="none" strike="noStrike">
                <a:solidFill>
                  <a:srgbClr val="000000"/>
                </a:solidFill>
                <a:highlight>
                  <a:schemeClr val="accent6"/>
                </a:highlight>
                <a:latin typeface="Arial"/>
                <a:ea typeface="Arial"/>
                <a:cs typeface="Arial"/>
                <a:sym typeface="Arial"/>
              </a:rPr>
              <a:t>.</a:t>
            </a:r>
            <a:r>
              <a:rPr b="0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): o nome da variável do objeto, seguido de ponto e o nome da propriedade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Notação colchetes (</a:t>
            </a:r>
            <a:r>
              <a:rPr b="0" i="0" lang="pt-BR" sz="2400" u="none" cap="none" strike="noStrike">
                <a:solidFill>
                  <a:srgbClr val="000000"/>
                </a:solidFill>
                <a:highlight>
                  <a:schemeClr val="accent6"/>
                </a:highlight>
                <a:latin typeface="Arial"/>
                <a:ea typeface="Arial"/>
                <a:cs typeface="Arial"/>
                <a:sym typeface="Arial"/>
              </a:rPr>
              <a:t>[ ]</a:t>
            </a:r>
            <a:r>
              <a:rPr b="0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): o nome da variável do objeto, seguido de colchetes e uma string do nome da propriedade dentro deles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96" name="Google Shape;96;p15"/>
          <p:cNvGraphicFramePr/>
          <p:nvPr/>
        </p:nvGraphicFramePr>
        <p:xfrm>
          <a:off x="6384907" y="12856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{6DA36346-BB6F-413C-8B61-964B7A76B9B7}</a:tableStyleId>
              </a:tblPr>
              <a:tblGrid>
                <a:gridCol w="5388000"/>
              </a:tblGrid>
              <a:tr h="1667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let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xicara 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</a:t>
                      </a:r>
                      <a:endParaRPr sz="2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cor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4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4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branca</a:t>
                      </a:r>
                      <a:r>
                        <a:rPr lang="pt-BR" sz="24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</a:t>
                      </a:r>
                      <a:endParaRPr sz="2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forma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4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4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redonda</a:t>
                      </a:r>
                      <a:r>
                        <a:rPr lang="pt-BR" sz="24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</a:t>
                      </a:r>
                      <a:endParaRPr sz="2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peso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4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</a:t>
                      </a:r>
                      <a:endParaRPr sz="2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capacidade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4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  <a:endParaRPr sz="24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endParaRPr sz="2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console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4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log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(xicara.cor);</a:t>
                      </a:r>
                      <a:endParaRPr sz="2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console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4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log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(xicara.peso);</a:t>
                      </a:r>
                      <a:endParaRPr sz="2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console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4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log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(xicara[</a:t>
                      </a:r>
                      <a:r>
                        <a:rPr lang="pt-BR" sz="24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4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forma</a:t>
                      </a:r>
                      <a:r>
                        <a:rPr lang="pt-BR" sz="24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]);</a:t>
                      </a:r>
                      <a:endParaRPr sz="2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console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4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log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(xicara[</a:t>
                      </a:r>
                      <a:r>
                        <a:rPr lang="pt-BR" sz="24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4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capacidade</a:t>
                      </a:r>
                      <a:r>
                        <a:rPr lang="pt-BR" sz="24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]);</a:t>
                      </a:r>
                      <a:endParaRPr sz="2000" u="none" cap="none" strike="noStrike">
                        <a:solidFill>
                          <a:srgbClr val="FF79C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63500" marB="63500" marR="63500" marL="63500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343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6"/>
          <p:cNvSpPr txBox="1"/>
          <p:nvPr>
            <p:ph type="title"/>
          </p:nvPr>
        </p:nvSpPr>
        <p:spPr>
          <a:xfrm>
            <a:off x="838200" y="3877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Atribuir valores às propriedades</a:t>
            </a:r>
            <a:endParaRPr/>
          </a:p>
        </p:txBody>
      </p:sp>
      <p:sp>
        <p:nvSpPr>
          <p:cNvPr id="102" name="Google Shape;102;p16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03" name="Google Shape;103;p16"/>
          <p:cNvSpPr txBox="1"/>
          <p:nvPr/>
        </p:nvSpPr>
        <p:spPr>
          <a:xfrm>
            <a:off x="838200" y="1648907"/>
            <a:ext cx="5459361" cy="16619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4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É possível usar as formas de acessar as propriedades para atribuir novos valores aos dados armazenados nas propriedades do objeto.</a:t>
            </a:r>
            <a:endParaRPr b="0" i="0" sz="24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aphicFrame>
        <p:nvGraphicFramePr>
          <p:cNvPr id="104" name="Google Shape;104;p16"/>
          <p:cNvGraphicFramePr/>
          <p:nvPr/>
        </p:nvGraphicFramePr>
        <p:xfrm>
          <a:off x="7047271" y="123569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{6DA36346-BB6F-413C-8B61-964B7A76B9B7}</a:tableStyleId>
              </a:tblPr>
              <a:tblGrid>
                <a:gridCol w="4574450"/>
              </a:tblGrid>
              <a:tr h="1667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let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xicara 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</a:t>
                      </a:r>
                      <a:endParaRPr sz="2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cor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4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4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branca</a:t>
                      </a:r>
                      <a:r>
                        <a:rPr lang="pt-BR" sz="24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</a:t>
                      </a:r>
                      <a:endParaRPr sz="2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forma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4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4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redonda</a:t>
                      </a:r>
                      <a:r>
                        <a:rPr lang="pt-BR" sz="24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</a:t>
                      </a:r>
                      <a:endParaRPr sz="2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peso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4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</a:t>
                      </a:r>
                      <a:endParaRPr sz="2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capacidade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4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  <a:endParaRPr sz="24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endParaRPr sz="2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24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xicara.peso 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4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</a:t>
                      </a:r>
                      <a:endParaRPr sz="2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xicara[</a:t>
                      </a:r>
                      <a:r>
                        <a:rPr lang="pt-BR" sz="24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4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cor</a:t>
                      </a:r>
                      <a:r>
                        <a:rPr lang="pt-BR" sz="24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 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4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4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rosa</a:t>
                      </a:r>
                      <a:r>
                        <a:rPr lang="pt-BR" sz="24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</a:t>
                      </a:r>
                      <a:endParaRPr sz="2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b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pt-BR" sz="24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console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4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log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(xicara);</a:t>
                      </a:r>
                      <a:endParaRPr sz="2400" u="none" cap="none" strike="noStrike">
                        <a:solidFill>
                          <a:srgbClr val="FF79C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63500" marB="63500" marR="63500" marL="63500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343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" name="Google Shape;109;p17"/>
          <p:cNvGrpSpPr/>
          <p:nvPr/>
        </p:nvGrpSpPr>
        <p:grpSpPr>
          <a:xfrm>
            <a:off x="1007815" y="644082"/>
            <a:ext cx="535357" cy="535357"/>
            <a:chOff x="974706" y="2467173"/>
            <a:chExt cx="738900" cy="738900"/>
          </a:xfrm>
        </p:grpSpPr>
        <p:sp>
          <p:nvSpPr>
            <p:cNvPr id="110" name="Google Shape;110;p17"/>
            <p:cNvSpPr/>
            <p:nvPr/>
          </p:nvSpPr>
          <p:spPr>
            <a:xfrm>
              <a:off x="974706" y="2467173"/>
              <a:ext cx="738900" cy="738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11" name="Google Shape;111;p17" title="ícono de actividad en clase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09750" y="2610275"/>
              <a:ext cx="452650" cy="452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2" name="Google Shape;112;p17"/>
          <p:cNvSpPr txBox="1"/>
          <p:nvPr/>
        </p:nvSpPr>
        <p:spPr>
          <a:xfrm>
            <a:off x="668600" y="1442334"/>
            <a:ext cx="6649600" cy="984781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5333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Para praticar</a:t>
            </a:r>
            <a:endParaRPr b="1" i="0" sz="5333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13" name="Google Shape;113;p17"/>
          <p:cNvSpPr txBox="1"/>
          <p:nvPr/>
        </p:nvSpPr>
        <p:spPr>
          <a:xfrm>
            <a:off x="668600" y="2690010"/>
            <a:ext cx="10318948" cy="2831504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4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Descrição da atividade. </a:t>
            </a:r>
            <a:endParaRPr b="1" i="0" sz="24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25959" lvl="0" marL="38099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DM Sans"/>
              <a:buChar char="✓"/>
            </a:pPr>
            <a:r>
              <a:rPr b="0" i="0" lang="pt-BR" sz="2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DM Sans"/>
                <a:ea typeface="DM Sans"/>
                <a:cs typeface="DM Sans"/>
                <a:sym typeface="DM Sans"/>
              </a:rPr>
              <a:t>Utilizando o objeto fruta criado anteriormente, altere duas propriedades do seu objeto, usando as duas maneiras diferentes que vimos.</a:t>
            </a:r>
            <a:endParaRPr b="0" i="0" sz="2400" u="none" cap="none" strike="noStrike">
              <a:solidFill>
                <a:schemeClr val="dk1"/>
              </a:solidFill>
              <a:highlight>
                <a:schemeClr val="lt1"/>
              </a:highlight>
              <a:latin typeface="DM Sans"/>
              <a:ea typeface="DM Sans"/>
              <a:cs typeface="DM Sans"/>
              <a:sym typeface="DM Sans"/>
            </a:endParaRPr>
          </a:p>
          <a:p>
            <a:pPr indent="0" lvl="0" marL="6095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highlight>
                <a:schemeClr val="lt1"/>
              </a:highlight>
              <a:latin typeface="DM Sans"/>
              <a:ea typeface="DM Sans"/>
              <a:cs typeface="DM Sans"/>
              <a:sym typeface="DM Sans"/>
            </a:endParaRPr>
          </a:p>
          <a:p>
            <a:pPr indent="-325959" lvl="0" marL="38099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DM Sans"/>
              <a:buChar char="✓"/>
            </a:pPr>
            <a:r>
              <a:rPr b="0" i="0" lang="pt-BR" sz="2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DM Sans"/>
                <a:ea typeface="DM Sans"/>
                <a:cs typeface="DM Sans"/>
                <a:sym typeface="DM Sans"/>
              </a:rPr>
              <a:t>Exiba cada propriedade isolada do seu objeto com o console.log.</a:t>
            </a:r>
            <a:endParaRPr b="0" i="0" sz="2400" u="none" cap="none" strike="noStrike">
              <a:solidFill>
                <a:schemeClr val="dk1"/>
              </a:solidFill>
              <a:highlight>
                <a:schemeClr val="lt1"/>
              </a:highlight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14" name="Google Shape;114;p17"/>
          <p:cNvSpPr txBox="1"/>
          <p:nvPr/>
        </p:nvSpPr>
        <p:spPr>
          <a:xfrm>
            <a:off x="1579945" y="624367"/>
            <a:ext cx="3281600" cy="574412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133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ATIVIDADE EM SALA</a:t>
            </a:r>
            <a:endParaRPr b="0" i="0" sz="1867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15" name="Google Shape;115;p17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8"/>
          <p:cNvSpPr txBox="1"/>
          <p:nvPr>
            <p:ph type="title"/>
          </p:nvPr>
        </p:nvSpPr>
        <p:spPr>
          <a:xfrm>
            <a:off x="838200" y="3877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Construtor e New</a:t>
            </a:r>
            <a:endParaRPr/>
          </a:p>
        </p:txBody>
      </p:sp>
      <p:sp>
        <p:nvSpPr>
          <p:cNvPr id="121" name="Google Shape;121;p18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22" name="Google Shape;122;p18"/>
          <p:cNvSpPr txBox="1"/>
          <p:nvPr/>
        </p:nvSpPr>
        <p:spPr>
          <a:xfrm>
            <a:off x="838200" y="1789800"/>
            <a:ext cx="4198200" cy="424728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Em JS,</a:t>
            </a:r>
            <a:r>
              <a:rPr b="1" i="0" lang="pt-BR" sz="2400" u="none" cap="none" strike="noStrike">
                <a:solidFill>
                  <a:srgbClr val="000000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 o construtor de um objeto é uma função que usamos para criar um novo objeto cada vez que seja necessário.</a:t>
            </a:r>
            <a:endParaRPr b="1" i="0" sz="2400" u="none" cap="none" strike="noStrike">
              <a:solidFill>
                <a:srgbClr val="000000"/>
              </a:solidFill>
              <a:highlight>
                <a:srgbClr val="EAFF6A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 essa “função construtora”, podemos iniciar as propriedades do objeto no momento em que for instanciado com new.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23" name="Google Shape;123;p18"/>
          <p:cNvGraphicFramePr/>
          <p:nvPr/>
        </p:nvGraphicFramePr>
        <p:xfrm>
          <a:off x="5882148" y="130509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{6DA36346-BB6F-413C-8B61-964B7A76B9B7}</a:tableStyleId>
              </a:tblPr>
              <a:tblGrid>
                <a:gridCol w="5857575"/>
              </a:tblGrid>
              <a:tr h="1667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function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8BE9F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xicara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i="1" lang="pt-BR" sz="20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cor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i="1" lang="pt-BR" sz="20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forma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i="1" lang="pt-BR" sz="20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peso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i="1" lang="pt-BR" sz="20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capacidade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{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i="1"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this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.cor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i="1" lang="pt-BR" sz="20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cor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i="1"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this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.forma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i="1" lang="pt-BR" sz="20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forma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i="1"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this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.peso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i="1" lang="pt-BR" sz="20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peso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i="1"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this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.capacidade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i="1" lang="pt-BR" sz="20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capacidade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b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const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xicara1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b="1"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new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8BE9F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xicara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branca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redonda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);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const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xicara2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b="1"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new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8BE9F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xicara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rosa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quadrada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8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15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);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b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console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log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xicara1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console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log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xicara2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endParaRPr sz="2000" u="none" cap="none" strike="noStrike">
                        <a:solidFill>
                          <a:srgbClr val="FF79C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63500" marB="63500" marR="63500" marL="63500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343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9"/>
          <p:cNvSpPr txBox="1"/>
          <p:nvPr>
            <p:ph type="title"/>
          </p:nvPr>
        </p:nvSpPr>
        <p:spPr>
          <a:xfrm>
            <a:off x="838200" y="3877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Uso do This</a:t>
            </a:r>
            <a:endParaRPr/>
          </a:p>
        </p:txBody>
      </p:sp>
      <p:sp>
        <p:nvSpPr>
          <p:cNvPr id="129" name="Google Shape;129;p19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30" name="Google Shape;130;p19"/>
          <p:cNvSpPr txBox="1"/>
          <p:nvPr/>
        </p:nvSpPr>
        <p:spPr>
          <a:xfrm>
            <a:off x="695418" y="1736550"/>
            <a:ext cx="9053265" cy="424728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palavra-chave </a:t>
            </a:r>
            <a:r>
              <a:rPr b="1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this</a:t>
            </a:r>
            <a:r>
              <a:rPr b="0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(“este”) se refere ao elemento atual em que se está escrevendo o código. 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400" u="none" cap="none" strike="noStrike">
                <a:solidFill>
                  <a:srgbClr val="000000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Quando se utiliza uma função construtora para criar um objeto (com a palavra-chave new), </a:t>
            </a:r>
            <a:r>
              <a:rPr b="1" i="0" lang="pt-BR" sz="2400" u="none" cap="none" strike="noStrike">
                <a:solidFill>
                  <a:srgbClr val="000000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this</a:t>
            </a:r>
            <a:r>
              <a:rPr b="0" i="0" lang="pt-BR" sz="2400" u="none" cap="none" strike="noStrike">
                <a:solidFill>
                  <a:srgbClr val="000000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 está vinculado ao novo objeto instanciado.</a:t>
            </a:r>
            <a:endParaRPr b="0" i="0" sz="2400" u="none" cap="none" strike="noStrike">
              <a:solidFill>
                <a:srgbClr val="000000"/>
              </a:solidFill>
              <a:highlight>
                <a:srgbClr val="EAFF6A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 </a:t>
            </a:r>
            <a:r>
              <a:rPr b="1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this </a:t>
            </a:r>
            <a:r>
              <a:rPr b="0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é muito útil para garantir que as propriedades do objeto atual sejam utilizadas.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5" name="Google Shape;135;p20"/>
          <p:cNvGrpSpPr/>
          <p:nvPr/>
        </p:nvGrpSpPr>
        <p:grpSpPr>
          <a:xfrm>
            <a:off x="934071" y="644082"/>
            <a:ext cx="535357" cy="535357"/>
            <a:chOff x="974706" y="2467173"/>
            <a:chExt cx="738900" cy="738900"/>
          </a:xfrm>
        </p:grpSpPr>
        <p:sp>
          <p:nvSpPr>
            <p:cNvPr id="136" name="Google Shape;136;p20"/>
            <p:cNvSpPr/>
            <p:nvPr/>
          </p:nvSpPr>
          <p:spPr>
            <a:xfrm>
              <a:off x="974706" y="2467173"/>
              <a:ext cx="738900" cy="738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37" name="Google Shape;137;p20" title="ícono de actividad en clase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09750" y="2610275"/>
              <a:ext cx="452650" cy="452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8" name="Google Shape;138;p20"/>
          <p:cNvSpPr txBox="1"/>
          <p:nvPr/>
        </p:nvSpPr>
        <p:spPr>
          <a:xfrm>
            <a:off x="668600" y="1442334"/>
            <a:ext cx="6649600" cy="984781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5333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Para praticar</a:t>
            </a:r>
            <a:endParaRPr b="1" i="0" sz="5333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39" name="Google Shape;139;p20"/>
          <p:cNvSpPr txBox="1"/>
          <p:nvPr/>
        </p:nvSpPr>
        <p:spPr>
          <a:xfrm>
            <a:off x="668599" y="2670670"/>
            <a:ext cx="8372161" cy="3570168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4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Descrição da atividade. </a:t>
            </a:r>
            <a:endParaRPr b="1" i="0" sz="24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419089" lvl="0" marL="6095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DM Sans"/>
              <a:buChar char="✓"/>
            </a:pPr>
            <a:r>
              <a:rPr b="0" i="0" lang="pt-BR" sz="2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DM Sans"/>
                <a:ea typeface="DM Sans"/>
                <a:cs typeface="DM Sans"/>
                <a:sym typeface="DM Sans"/>
              </a:rPr>
              <a:t>Utilizando o objeto fruta criado anteriormente, refatore esse objeto para que ele seja construído usando </a:t>
            </a:r>
            <a:r>
              <a:rPr b="1" i="0" lang="pt-BR" sz="2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DM Sans"/>
                <a:ea typeface="DM Sans"/>
                <a:cs typeface="DM Sans"/>
                <a:sym typeface="DM Sans"/>
              </a:rPr>
              <a:t>o constructor, o new e o this</a:t>
            </a:r>
            <a:r>
              <a:rPr b="0" i="0" lang="pt-BR" sz="2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DM Sans"/>
                <a:ea typeface="DM Sans"/>
                <a:cs typeface="DM Sans"/>
                <a:sym typeface="DM Sans"/>
              </a:rPr>
              <a:t> que vimos agora. </a:t>
            </a:r>
            <a:endParaRPr b="0" i="0" sz="24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11660" lvl="0" marL="38099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highlight>
                <a:schemeClr val="lt1"/>
              </a:highlight>
              <a:latin typeface="DM Sans"/>
              <a:ea typeface="DM Sans"/>
              <a:cs typeface="DM Sans"/>
              <a:sym typeface="DM Sans"/>
            </a:endParaRPr>
          </a:p>
          <a:p>
            <a:pPr indent="-419089" lvl="0" marL="6095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DM Sans"/>
              <a:buChar char="✓"/>
            </a:pPr>
            <a:r>
              <a:rPr b="0" i="0" lang="pt-BR" sz="2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DM Sans"/>
                <a:ea typeface="DM Sans"/>
                <a:cs typeface="DM Sans"/>
                <a:sym typeface="DM Sans"/>
              </a:rPr>
              <a:t>Usando o console.log exiba no terminal o objeto que foi criado.</a:t>
            </a:r>
            <a:endParaRPr b="0" i="0" sz="2400" u="none" cap="none" strike="noStrike">
              <a:solidFill>
                <a:schemeClr val="dk1"/>
              </a:solidFill>
              <a:highlight>
                <a:schemeClr val="lt1"/>
              </a:highlight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40" name="Google Shape;140;p20"/>
          <p:cNvSpPr txBox="1"/>
          <p:nvPr/>
        </p:nvSpPr>
        <p:spPr>
          <a:xfrm>
            <a:off x="1506201" y="624367"/>
            <a:ext cx="3281600" cy="574412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133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ATIVIDADE EM SALA</a:t>
            </a:r>
            <a:endParaRPr b="0" i="0" sz="1867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41" name="Google Shape;141;p20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1"/>
          <p:cNvSpPr txBox="1"/>
          <p:nvPr>
            <p:ph type="title"/>
          </p:nvPr>
        </p:nvSpPr>
        <p:spPr>
          <a:xfrm>
            <a:off x="838200" y="3877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Método &lt;&gt; Função</a:t>
            </a:r>
            <a:endParaRPr/>
          </a:p>
        </p:txBody>
      </p:sp>
      <p:sp>
        <p:nvSpPr>
          <p:cNvPr id="147" name="Google Shape;147;p21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48" name="Google Shape;148;p21"/>
          <p:cNvSpPr txBox="1"/>
          <p:nvPr/>
        </p:nvSpPr>
        <p:spPr>
          <a:xfrm>
            <a:off x="838200" y="1485265"/>
            <a:ext cx="10695039" cy="240062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Como vimos anteriormente, as funções em JS podem ser definidas em qualquer parte do código, e podem ser chamadas a partir de qualquer outra parte posterior do código.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Tecnicamente, os métodos dos objetos também são funções, só que se limitam a ser executados unicamente a partir do mesmo objeto.</a:t>
            </a:r>
            <a:endParaRPr b="1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2"/>
          <p:cNvSpPr txBox="1"/>
          <p:nvPr>
            <p:ph type="title"/>
          </p:nvPr>
        </p:nvSpPr>
        <p:spPr>
          <a:xfrm>
            <a:off x="838200" y="3877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Método personalizados</a:t>
            </a:r>
            <a:endParaRPr/>
          </a:p>
        </p:txBody>
      </p:sp>
      <p:sp>
        <p:nvSpPr>
          <p:cNvPr id="154" name="Google Shape;154;p22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55" name="Google Shape;155;p22"/>
          <p:cNvSpPr txBox="1"/>
          <p:nvPr/>
        </p:nvSpPr>
        <p:spPr>
          <a:xfrm>
            <a:off x="838200" y="1589067"/>
            <a:ext cx="4913672" cy="49859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Podemos criar nossos próprios </a:t>
            </a:r>
            <a:r>
              <a:rPr b="1" i="0" lang="pt-BR" sz="2400" u="none" cap="none" strike="noStrike">
                <a:solidFill>
                  <a:srgbClr val="000000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métodos para objetos personalizados</a:t>
            </a:r>
            <a:r>
              <a:rPr b="0" i="0" lang="pt-BR" sz="2400" u="none" cap="none" strike="noStrike">
                <a:solidFill>
                  <a:srgbClr val="000000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referenciando funções por seu nome ou definindo funções anônimas associadas a uma propriedade da função construtora.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Chamar um método é similar a acessar uma propriedade, mas se acrescenta</a:t>
            </a:r>
            <a:r>
              <a:rPr b="0" i="0" lang="pt-BR" sz="2400" u="none" cap="none" strike="noStrike">
                <a:solidFill>
                  <a:srgbClr val="000000"/>
                </a:solidFill>
                <a:highlight>
                  <a:schemeClr val="accent6"/>
                </a:highlight>
                <a:latin typeface="Arial"/>
                <a:ea typeface="Arial"/>
                <a:cs typeface="Arial"/>
                <a:sym typeface="Arial"/>
              </a:rPr>
              <a:t> () </a:t>
            </a:r>
            <a:r>
              <a:rPr b="0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ao final do nome do método, possivelmente com argumentos.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56" name="Google Shape;156;p22"/>
          <p:cNvGraphicFramePr/>
          <p:nvPr/>
        </p:nvGraphicFramePr>
        <p:xfrm>
          <a:off x="5751872" y="144335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{6DA36346-BB6F-413C-8B61-964B7A76B9B7}</a:tableStyleId>
              </a:tblPr>
              <a:tblGrid>
                <a:gridCol w="5673225"/>
              </a:tblGrid>
              <a:tr h="1456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pt-BR" sz="18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function</a:t>
                      </a:r>
                      <a:r>
                        <a:rPr b="0"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b="0" lang="pt-BR" sz="1800" u="none" cap="none" strike="noStrike">
                          <a:solidFill>
                            <a:srgbClr val="8BE9F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pessoa</a:t>
                      </a:r>
                      <a:r>
                        <a:rPr b="0"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b="0" i="1" lang="pt-BR" sz="18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nome</a:t>
                      </a:r>
                      <a:r>
                        <a:rPr b="0"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b="0" i="1" lang="pt-BR" sz="18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idade</a:t>
                      </a:r>
                      <a:r>
                        <a:rPr b="0"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b="0" i="1" lang="pt-BR" sz="18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rua</a:t>
                      </a:r>
                      <a:r>
                        <a:rPr b="0"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{</a:t>
                      </a:r>
                      <a:endParaRPr sz="18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b="0" i="1" lang="pt-BR" sz="18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this</a:t>
                      </a:r>
                      <a:r>
                        <a:rPr b="0"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.nome </a:t>
                      </a:r>
                      <a:r>
                        <a:rPr b="0" lang="pt-BR" sz="18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b="0"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b="0" i="1" lang="pt-BR" sz="18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nome</a:t>
                      </a:r>
                      <a:r>
                        <a:rPr b="0"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</a:t>
                      </a:r>
                      <a:endParaRPr sz="18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b="0" i="1" lang="pt-BR" sz="18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this</a:t>
                      </a:r>
                      <a:r>
                        <a:rPr b="0"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.idade </a:t>
                      </a:r>
                      <a:r>
                        <a:rPr b="0" lang="pt-BR" sz="18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b="0"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b="0" i="1" lang="pt-BR" sz="18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idade</a:t>
                      </a:r>
                      <a:r>
                        <a:rPr b="0"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</a:t>
                      </a:r>
                      <a:endParaRPr sz="18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b="0" i="1" lang="pt-BR" sz="18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this</a:t>
                      </a:r>
                      <a:r>
                        <a:rPr b="0"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.rua </a:t>
                      </a:r>
                      <a:r>
                        <a:rPr b="0" lang="pt-BR" sz="18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b="0"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b="0" i="1" lang="pt-BR" sz="18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rua</a:t>
                      </a:r>
                      <a:r>
                        <a:rPr b="0"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</a:t>
                      </a:r>
                      <a:endParaRPr sz="18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b="0" i="1" lang="pt-BR" sz="18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this</a:t>
                      </a:r>
                      <a:r>
                        <a:rPr b="0"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b="0" lang="pt-BR" sz="18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falar</a:t>
                      </a:r>
                      <a:r>
                        <a:rPr b="0"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b="0" lang="pt-BR" sz="18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b="0"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b="0" lang="pt-BR" sz="18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function</a:t>
                      </a:r>
                      <a:r>
                        <a:rPr b="0"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() { </a:t>
                      </a:r>
                      <a:endParaRPr sz="18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    </a:t>
                      </a:r>
                      <a:r>
                        <a:rPr b="0" lang="pt-BR" sz="18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console</a:t>
                      </a:r>
                      <a:r>
                        <a:rPr b="0"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b="0" lang="pt-BR" sz="18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log</a:t>
                      </a:r>
                      <a:r>
                        <a:rPr b="0"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b="0" lang="pt-BR" sz="18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b="0" lang="pt-BR" sz="18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OLÁ, SOU </a:t>
                      </a:r>
                      <a:r>
                        <a:rPr b="0" lang="pt-BR" sz="18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b="0"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b="0" lang="pt-BR" sz="18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+</a:t>
                      </a:r>
                      <a:r>
                        <a:rPr b="0"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b="0" i="1" lang="pt-BR" sz="18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this</a:t>
                      </a:r>
                      <a:r>
                        <a:rPr b="0"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.nome) </a:t>
                      </a:r>
                      <a:endParaRPr sz="18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}</a:t>
                      </a:r>
                      <a:endParaRPr sz="18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endParaRPr sz="18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br>
                        <a:rPr b="0"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b="0" lang="pt-BR" sz="18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const</a:t>
                      </a:r>
                      <a:r>
                        <a:rPr b="0"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b="0" lang="pt-BR" sz="18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pessoa1</a:t>
                      </a:r>
                      <a:r>
                        <a:rPr b="0"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b="0" lang="pt-BR" sz="18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b="0"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b="1" lang="pt-BR" sz="18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new</a:t>
                      </a:r>
                      <a:r>
                        <a:rPr b="0"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b="0" lang="pt-BR" sz="1800" u="none" cap="none" strike="noStrike">
                          <a:solidFill>
                            <a:srgbClr val="8BE9F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pessoa</a:t>
                      </a:r>
                      <a:r>
                        <a:rPr b="0"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b="0" lang="pt-BR" sz="18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b="0" lang="pt-BR" sz="18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Homer</a:t>
                      </a:r>
                      <a:r>
                        <a:rPr b="0" lang="pt-BR" sz="18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b="0"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b="0" lang="pt-BR" sz="18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39</a:t>
                      </a:r>
                      <a:r>
                        <a:rPr b="0"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b="0" lang="pt-BR" sz="18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b="0" lang="pt-BR" sz="18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Av. Sempre-verde 742</a:t>
                      </a:r>
                      <a:r>
                        <a:rPr b="0" lang="pt-BR" sz="18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b="0"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);</a:t>
                      </a:r>
                      <a:endParaRPr sz="18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pt-BR" sz="18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const</a:t>
                      </a:r>
                      <a:r>
                        <a:rPr b="0"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b="0" lang="pt-BR" sz="18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pessoa2</a:t>
                      </a:r>
                      <a:r>
                        <a:rPr b="0"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b="0" lang="pt-BR" sz="18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b="0"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b="1" lang="pt-BR" sz="18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new</a:t>
                      </a:r>
                      <a:r>
                        <a:rPr b="0"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b="0" lang="pt-BR" sz="1800" u="none" cap="none" strike="noStrike">
                          <a:solidFill>
                            <a:srgbClr val="8BE9F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pessoa</a:t>
                      </a:r>
                      <a:r>
                        <a:rPr b="0"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b="0" lang="pt-BR" sz="18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b="0" lang="pt-BR" sz="18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Marge</a:t>
                      </a:r>
                      <a:r>
                        <a:rPr b="0" lang="pt-BR" sz="18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b="0"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b="0" lang="pt-BR" sz="18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36</a:t>
                      </a:r>
                      <a:r>
                        <a:rPr b="0"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b="0" lang="pt-BR" sz="18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b="0" lang="pt-BR" sz="18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Av. Sempre-verde 742</a:t>
                      </a:r>
                      <a:r>
                        <a:rPr b="0" lang="pt-BR" sz="18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b="0"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);</a:t>
                      </a:r>
                      <a:endParaRPr sz="18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br>
                        <a:rPr b="0"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b="0" lang="pt-BR" sz="18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pessoa1</a:t>
                      </a:r>
                      <a:r>
                        <a:rPr b="0"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b="0" lang="pt-BR" sz="18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falar</a:t>
                      </a:r>
                      <a:r>
                        <a:rPr b="0"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();</a:t>
                      </a:r>
                      <a:endParaRPr sz="18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pt-BR" sz="18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pessoa2</a:t>
                      </a:r>
                      <a:r>
                        <a:rPr b="0"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b="0" lang="pt-BR" sz="18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falar</a:t>
                      </a:r>
                      <a:r>
                        <a:rPr b="0"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();</a:t>
                      </a:r>
                      <a:endParaRPr sz="1800" u="none" cap="none" strike="noStrike"/>
                    </a:p>
                  </a:txBody>
                  <a:tcPr marT="63500" marB="63500" marR="63500" marL="63500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343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3"/>
          <p:cNvSpPr txBox="1"/>
          <p:nvPr/>
        </p:nvSpPr>
        <p:spPr>
          <a:xfrm>
            <a:off x="1926867" y="918434"/>
            <a:ext cx="9559200" cy="892576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4667" u="none" cap="none" strike="noStrike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Função x Método</a:t>
            </a:r>
            <a:endParaRPr b="1" i="0" sz="4667" u="none" cap="none" strike="noStrike">
              <a:solidFill>
                <a:srgbClr val="EAFF6A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162" name="Google Shape;162;p23"/>
          <p:cNvGrpSpPr/>
          <p:nvPr/>
        </p:nvGrpSpPr>
        <p:grpSpPr>
          <a:xfrm>
            <a:off x="631135" y="826031"/>
            <a:ext cx="985200" cy="985200"/>
            <a:chOff x="473351" y="619523"/>
            <a:chExt cx="738900" cy="738900"/>
          </a:xfrm>
        </p:grpSpPr>
        <p:sp>
          <p:nvSpPr>
            <p:cNvPr id="163" name="Google Shape;163;p23"/>
            <p:cNvSpPr/>
            <p:nvPr/>
          </p:nvSpPr>
          <p:spPr>
            <a:xfrm>
              <a:off x="473351" y="619523"/>
              <a:ext cx="738900" cy="73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64" name="Google Shape;164;p23" title="ícono de ejemplo en vivo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16475" y="762650"/>
              <a:ext cx="452650" cy="452650"/>
            </a:xfrm>
            <a:prstGeom prst="rect">
              <a:avLst/>
            </a:prstGeom>
            <a:noFill/>
            <a:ln>
              <a:noFill/>
            </a:ln>
          </p:spPr>
        </p:pic>
      </p:grpSp>
      <p:graphicFrame>
        <p:nvGraphicFramePr>
          <p:cNvPr id="165" name="Google Shape;165;p23"/>
          <p:cNvGraphicFramePr/>
          <p:nvPr/>
        </p:nvGraphicFramePr>
        <p:xfrm>
          <a:off x="2711651" y="181122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{6DA36346-BB6F-413C-8B61-964B7A76B9B7}</a:tableStyleId>
              </a:tblPr>
              <a:tblGrid>
                <a:gridCol w="6768700"/>
              </a:tblGrid>
              <a:tr h="1942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600" u="none" cap="none" strike="noStrik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//uma função é um bloco de código escrito para </a:t>
                      </a:r>
                      <a:endParaRPr sz="16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600" u="none" cap="none" strike="noStrik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//realizar algum conjunto específico de tarefas</a:t>
                      </a:r>
                      <a:endParaRPr sz="16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6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function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16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somar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i="1" lang="pt-BR" sz="16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i="1" lang="pt-BR" sz="16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{</a:t>
                      </a:r>
                      <a:endParaRPr sz="16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pt-BR" sz="16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var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soma </a:t>
                      </a:r>
                      <a:r>
                        <a:rPr lang="pt-BR" sz="16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i="1" lang="pt-BR" sz="16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16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+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i="1" lang="pt-BR" sz="16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</a:t>
                      </a:r>
                      <a:endParaRPr sz="16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pt-BR" sz="16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return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soma;</a:t>
                      </a:r>
                      <a:endParaRPr sz="16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endParaRPr sz="16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6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console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16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log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16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somar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16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pt-BR" sz="16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))</a:t>
                      </a:r>
                      <a:endParaRPr sz="16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84675" marB="84675" marR="84675" marL="84675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343D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6" name="Google Shape;166;p23"/>
          <p:cNvGraphicFramePr/>
          <p:nvPr/>
        </p:nvGraphicFramePr>
        <p:xfrm>
          <a:off x="2711659" y="392543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{6DA36346-BB6F-413C-8B61-964B7A76B9B7}</a:tableStyleId>
              </a:tblPr>
              <a:tblGrid>
                <a:gridCol w="6768700"/>
              </a:tblGrid>
              <a:tr h="2607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//um método é uma propriedade de um objeto </a:t>
                      </a:r>
                      <a:endParaRPr b="0" sz="16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//que contém uma definição de função</a:t>
                      </a:r>
                      <a:endParaRPr b="0" sz="16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let</a:t>
                      </a:r>
                      <a:r>
                        <a:rPr b="0"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pessoa </a:t>
                      </a:r>
                      <a:r>
                        <a:rPr b="0" lang="pt-BR" sz="16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b="0"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</a:t>
                      </a:r>
                      <a:endParaRPr sz="16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nome</a:t>
                      </a:r>
                      <a:r>
                        <a:rPr b="0" lang="pt-BR" sz="16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b="0"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b="0" lang="pt-BR" sz="16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b="0" lang="pt-BR" sz="16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Mariana</a:t>
                      </a:r>
                      <a:r>
                        <a:rPr b="0" lang="pt-BR" sz="16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b="0"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</a:t>
                      </a:r>
                      <a:endParaRPr sz="16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idade</a:t>
                      </a:r>
                      <a:r>
                        <a:rPr b="0" lang="pt-BR" sz="16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b="0"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b="0" lang="pt-BR" sz="16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25</a:t>
                      </a:r>
                      <a:r>
                        <a:rPr b="0"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</a:t>
                      </a:r>
                      <a:endParaRPr sz="16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b="0" lang="pt-BR" sz="16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informacoes</a:t>
                      </a:r>
                      <a:r>
                        <a:rPr b="0" lang="pt-BR" sz="16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b="0"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b="0" lang="pt-BR" sz="16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function</a:t>
                      </a:r>
                      <a:r>
                        <a:rPr b="0"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() {</a:t>
                      </a:r>
                      <a:endParaRPr sz="16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    </a:t>
                      </a:r>
                      <a:r>
                        <a:rPr b="0" lang="pt-BR" sz="16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return</a:t>
                      </a:r>
                      <a:r>
                        <a:rPr b="0"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b="0" i="1" lang="pt-BR" sz="16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this</a:t>
                      </a:r>
                      <a:r>
                        <a:rPr b="0"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.nome </a:t>
                      </a:r>
                      <a:r>
                        <a:rPr b="0" lang="pt-BR" sz="16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+</a:t>
                      </a:r>
                      <a:r>
                        <a:rPr b="0"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b="0" lang="pt-BR" sz="16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b="0" lang="pt-BR" sz="16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tem </a:t>
                      </a:r>
                      <a:r>
                        <a:rPr b="0" lang="pt-BR" sz="16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b="0"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b="0" lang="pt-BR" sz="16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+</a:t>
                      </a:r>
                      <a:r>
                        <a:rPr b="0"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b="0" i="1" lang="pt-BR" sz="16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this</a:t>
                      </a:r>
                      <a:r>
                        <a:rPr b="0"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.idade </a:t>
                      </a:r>
                      <a:r>
                        <a:rPr b="0" lang="pt-BR" sz="16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+</a:t>
                      </a:r>
                      <a:r>
                        <a:rPr b="0"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b="0" lang="pt-BR" sz="16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b="0" lang="pt-BR" sz="16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anos</a:t>
                      </a:r>
                      <a:r>
                        <a:rPr b="0" lang="pt-BR" sz="16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endParaRPr b="0" sz="16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}</a:t>
                      </a:r>
                      <a:endParaRPr sz="16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endParaRPr sz="16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console</a:t>
                      </a:r>
                      <a:r>
                        <a:rPr b="0"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b="0" lang="pt-BR" sz="16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log</a:t>
                      </a:r>
                      <a:r>
                        <a:rPr b="0"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(pessoa.</a:t>
                      </a:r>
                      <a:r>
                        <a:rPr b="0" lang="pt-BR" sz="16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informacoes</a:t>
                      </a:r>
                      <a:r>
                        <a:rPr b="0"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())</a:t>
                      </a:r>
                      <a:endParaRPr b="0" sz="16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84675" marB="84675" marR="84675" marL="84675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343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4"/>
          <p:cNvSpPr txBox="1"/>
          <p:nvPr>
            <p:ph type="title"/>
          </p:nvPr>
        </p:nvSpPr>
        <p:spPr>
          <a:xfrm>
            <a:off x="838200" y="3877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Propriedades e métodos em objetos js</a:t>
            </a:r>
            <a:endParaRPr/>
          </a:p>
        </p:txBody>
      </p:sp>
      <p:sp>
        <p:nvSpPr>
          <p:cNvPr id="172" name="Google Shape;172;p24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73" name="Google Shape;173;p24"/>
          <p:cNvSpPr txBox="1"/>
          <p:nvPr/>
        </p:nvSpPr>
        <p:spPr>
          <a:xfrm>
            <a:off x="661219" y="1674688"/>
            <a:ext cx="6005052" cy="350862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 JavaScript conta com seus próprios objetos, incluindo alguns que já usamos sem identificar que são objetos.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Por exemplo: Toda vez que criamos uma palavra, ela é criada automaticamente como uma instância do objeto String e, portanto, tem vários métodos/propriedades comuns disponíveis.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74" name="Google Shape;174;p24"/>
          <p:cNvGraphicFramePr/>
          <p:nvPr/>
        </p:nvGraphicFramePr>
        <p:xfrm>
          <a:off x="6826044" y="1841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{6DA36346-BB6F-413C-8B61-964B7A76B9B7}</a:tableStyleId>
              </a:tblPr>
              <a:tblGrid>
                <a:gridCol w="5257800"/>
              </a:tblGrid>
              <a:tr h="1456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let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texto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Olá, Dev!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20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//Propriedade: Comprimento da texto.</a:t>
                      </a:r>
                      <a:endParaRPr sz="20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console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log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(texto.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length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);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b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pt-BR" sz="2000" u="none" cap="none" strike="noStrik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//Método: Converter para minúscula.</a:t>
                      </a:r>
                      <a:endParaRPr sz="20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console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log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(texto.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toLowerCase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());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b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pt-BR" sz="2000" u="none" cap="none" strike="noStrik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//Método: Converter para maiúscula.</a:t>
                      </a:r>
                      <a:endParaRPr sz="20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console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log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(texto.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toUpperCase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());</a:t>
                      </a:r>
                      <a:endParaRPr sz="2000" u="none" cap="none" strike="noStrike">
                        <a:solidFill>
                          <a:srgbClr val="FF79C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63500" marB="63500" marR="63500" marL="63500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343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9" name="Google Shape;179;p25"/>
          <p:cNvGrpSpPr/>
          <p:nvPr/>
        </p:nvGrpSpPr>
        <p:grpSpPr>
          <a:xfrm>
            <a:off x="934071" y="644082"/>
            <a:ext cx="535357" cy="535357"/>
            <a:chOff x="974706" y="2467173"/>
            <a:chExt cx="738900" cy="738900"/>
          </a:xfrm>
        </p:grpSpPr>
        <p:sp>
          <p:nvSpPr>
            <p:cNvPr id="180" name="Google Shape;180;p25"/>
            <p:cNvSpPr/>
            <p:nvPr/>
          </p:nvSpPr>
          <p:spPr>
            <a:xfrm>
              <a:off x="974706" y="2467173"/>
              <a:ext cx="738900" cy="738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81" name="Google Shape;181;p25" title="ícono de actividad en clase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09750" y="2610275"/>
              <a:ext cx="452650" cy="452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2" name="Google Shape;182;p25"/>
          <p:cNvSpPr txBox="1"/>
          <p:nvPr/>
        </p:nvSpPr>
        <p:spPr>
          <a:xfrm>
            <a:off x="668600" y="1442334"/>
            <a:ext cx="6649600" cy="984781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5333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Para praticar</a:t>
            </a:r>
            <a:endParaRPr b="1" i="0" sz="5333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83" name="Google Shape;183;p25"/>
          <p:cNvSpPr txBox="1"/>
          <p:nvPr/>
        </p:nvSpPr>
        <p:spPr>
          <a:xfrm>
            <a:off x="668600" y="2427115"/>
            <a:ext cx="8327916" cy="3200836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DM Sans"/>
                <a:ea typeface="DM Sans"/>
                <a:cs typeface="DM Sans"/>
                <a:sym typeface="DM Sans"/>
              </a:rPr>
              <a:t>Utilizando o objeto fruta criado anteriormente:</a:t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1660" lvl="0" marL="38099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highlight>
                <a:schemeClr val="lt1"/>
              </a:highlight>
              <a:latin typeface="DM Sans"/>
              <a:ea typeface="DM Sans"/>
              <a:cs typeface="DM Sans"/>
              <a:sym typeface="DM Sans"/>
            </a:endParaRPr>
          </a:p>
          <a:p>
            <a:pPr indent="-419089" lvl="0" marL="6095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DM Sans"/>
              <a:buChar char="✓"/>
            </a:pPr>
            <a:r>
              <a:rPr b="0" i="0" lang="pt-BR" sz="2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DM Sans"/>
                <a:ea typeface="DM Sans"/>
                <a:cs typeface="DM Sans"/>
                <a:sym typeface="DM Sans"/>
              </a:rPr>
              <a:t>Exiba a quantidade de caracteres que tem a propriedade “nome” do seu objeto.</a:t>
            </a:r>
            <a:endParaRPr b="0" i="0" sz="24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11660" lvl="0" marL="38099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highlight>
                <a:schemeClr val="lt1"/>
              </a:highlight>
              <a:latin typeface="DM Sans"/>
              <a:ea typeface="DM Sans"/>
              <a:cs typeface="DM Sans"/>
              <a:sym typeface="DM Sans"/>
            </a:endParaRPr>
          </a:p>
          <a:p>
            <a:pPr indent="-419089" lvl="0" marL="6095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DM Sans"/>
              <a:buChar char="✓"/>
            </a:pPr>
            <a:r>
              <a:rPr b="0" i="0" lang="pt-BR" sz="2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DM Sans"/>
                <a:ea typeface="DM Sans"/>
                <a:cs typeface="DM Sans"/>
                <a:sym typeface="DM Sans"/>
              </a:rPr>
              <a:t>Exiba a “cor” do seu objeto em letras maiúsculas.</a:t>
            </a:r>
            <a:endParaRPr b="0" i="0" sz="2400" u="none" cap="none" strike="noStrike">
              <a:solidFill>
                <a:schemeClr val="dk1"/>
              </a:solidFill>
              <a:highlight>
                <a:schemeClr val="lt1"/>
              </a:highlight>
              <a:latin typeface="DM Sans"/>
              <a:ea typeface="DM Sans"/>
              <a:cs typeface="DM Sans"/>
              <a:sym typeface="DM Sans"/>
            </a:endParaRPr>
          </a:p>
          <a:p>
            <a:pPr indent="-211660" lvl="0" marL="38099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highlight>
                <a:schemeClr val="lt1"/>
              </a:highlight>
              <a:latin typeface="DM Sans"/>
              <a:ea typeface="DM Sans"/>
              <a:cs typeface="DM Sans"/>
              <a:sym typeface="DM Sans"/>
            </a:endParaRPr>
          </a:p>
          <a:p>
            <a:pPr indent="-419089" lvl="0" marL="6095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DM Sans"/>
              <a:buChar char="✓"/>
            </a:pPr>
            <a:r>
              <a:rPr b="0" i="0" lang="pt-BR" sz="2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DM Sans"/>
                <a:ea typeface="DM Sans"/>
                <a:cs typeface="DM Sans"/>
                <a:sym typeface="DM Sans"/>
              </a:rPr>
              <a:t>Exiba o “tipo” do seu objeto em letras minúsculas.</a:t>
            </a:r>
            <a:endParaRPr b="0" i="0" sz="2400" u="none" cap="none" strike="noStrike">
              <a:solidFill>
                <a:schemeClr val="dk1"/>
              </a:solidFill>
              <a:highlight>
                <a:schemeClr val="lt1"/>
              </a:highlight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84" name="Google Shape;184;p25"/>
          <p:cNvSpPr txBox="1"/>
          <p:nvPr/>
        </p:nvSpPr>
        <p:spPr>
          <a:xfrm>
            <a:off x="1506201" y="624367"/>
            <a:ext cx="3281600" cy="574412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133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ATIVIDADE EM SALA</a:t>
            </a:r>
            <a:endParaRPr b="0" i="0" sz="1867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85" name="Google Shape;185;p25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6"/>
          <p:cNvSpPr txBox="1"/>
          <p:nvPr>
            <p:ph type="title"/>
          </p:nvPr>
        </p:nvSpPr>
        <p:spPr>
          <a:xfrm>
            <a:off x="838200" y="3877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Operador In</a:t>
            </a:r>
            <a:endParaRPr/>
          </a:p>
        </p:txBody>
      </p:sp>
      <p:sp>
        <p:nvSpPr>
          <p:cNvPr id="191" name="Google Shape;191;p26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92" name="Google Shape;192;p26"/>
          <p:cNvSpPr txBox="1"/>
          <p:nvPr/>
        </p:nvSpPr>
        <p:spPr>
          <a:xfrm>
            <a:off x="972488" y="1373588"/>
            <a:ext cx="10381310" cy="55396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 operador </a:t>
            </a:r>
            <a:r>
              <a:rPr b="1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 </a:t>
            </a:r>
            <a:r>
              <a:rPr b="0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retorna true se a propriedade especificada existir no objeto. 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93" name="Google Shape;193;p26"/>
          <p:cNvGraphicFramePr/>
          <p:nvPr/>
        </p:nvGraphicFramePr>
        <p:xfrm>
          <a:off x="690712" y="192755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{6DA36346-BB6F-413C-8B61-964B7A76B9B7}</a:tableStyleId>
              </a:tblPr>
              <a:tblGrid>
                <a:gridCol w="10646775"/>
              </a:tblGrid>
              <a:tr h="2321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const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4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pessoa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 </a:t>
                      </a:r>
                      <a:endParaRPr sz="2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nome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4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4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Homer</a:t>
                      </a:r>
                      <a:r>
                        <a:rPr lang="pt-BR" sz="24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endParaRPr sz="2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idade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4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39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endParaRPr sz="2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rua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4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4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Av. Sempre-verde 742</a:t>
                      </a:r>
                      <a:r>
                        <a:rPr lang="pt-BR" sz="24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 sz="2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};</a:t>
                      </a:r>
                      <a:endParaRPr sz="2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b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pt-BR" sz="2400" u="none" cap="none" strike="noStrik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//Retorna true, porque a chave "nome" existe no objeto pessoa1</a:t>
                      </a:r>
                      <a:endParaRPr sz="24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console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4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log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4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4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nome</a:t>
                      </a:r>
                      <a:r>
                        <a:rPr lang="pt-BR" sz="24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4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pessoa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);</a:t>
                      </a:r>
                      <a:endParaRPr sz="2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b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pt-BR" sz="2400" u="none" cap="none" strike="noStrik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//Retorna false, porque a chave "origem" não existe no objeto pessoa1</a:t>
                      </a:r>
                      <a:endParaRPr sz="24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console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4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log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4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4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origem</a:t>
                      </a:r>
                      <a:r>
                        <a:rPr lang="pt-BR" sz="24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4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pessoa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);</a:t>
                      </a:r>
                      <a:endParaRPr sz="2400" u="none" cap="none" strike="noStrike">
                        <a:solidFill>
                          <a:srgbClr val="FF79C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63500" marB="63500" marR="63500" marL="63500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343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7"/>
          <p:cNvSpPr txBox="1"/>
          <p:nvPr>
            <p:ph type="title"/>
          </p:nvPr>
        </p:nvSpPr>
        <p:spPr>
          <a:xfrm>
            <a:off x="838200" y="3877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Operador For… In</a:t>
            </a:r>
            <a:endParaRPr/>
          </a:p>
        </p:txBody>
      </p:sp>
      <p:sp>
        <p:nvSpPr>
          <p:cNvPr id="199" name="Google Shape;199;p27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00" name="Google Shape;200;p27"/>
          <p:cNvSpPr txBox="1"/>
          <p:nvPr/>
        </p:nvSpPr>
        <p:spPr>
          <a:xfrm>
            <a:off x="748480" y="1608493"/>
            <a:ext cx="10695039" cy="9232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 loop </a:t>
            </a:r>
            <a:r>
              <a:rPr b="1" i="0" lang="pt-BR" sz="2400" u="none" cap="none" strike="noStrike">
                <a:solidFill>
                  <a:srgbClr val="000000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for...in permite acessar todas as propriedades do objeto</a:t>
            </a:r>
            <a:r>
              <a:rPr b="0" i="0" lang="pt-BR" sz="2400" u="none" cap="none" strike="noStrike">
                <a:solidFill>
                  <a:srgbClr val="000000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,</a:t>
            </a:r>
            <a:r>
              <a:rPr b="0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obtendo uma propriedade para cada iteração.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01" name="Google Shape;201;p27"/>
          <p:cNvGraphicFramePr/>
          <p:nvPr/>
        </p:nvGraphicFramePr>
        <p:xfrm>
          <a:off x="838199" y="253179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{6DA36346-BB6F-413C-8B61-964B7A76B9B7}</a:tableStyleId>
              </a:tblPr>
              <a:tblGrid>
                <a:gridCol w="10515600"/>
              </a:tblGrid>
              <a:tr h="2172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const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4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pessoa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 </a:t>
                      </a:r>
                      <a:endParaRPr sz="2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nome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4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4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Homer</a:t>
                      </a:r>
                      <a:r>
                        <a:rPr lang="pt-BR" sz="24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endParaRPr sz="2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idade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4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39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endParaRPr sz="2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rua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4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4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Av. Sempre-verde 742</a:t>
                      </a:r>
                      <a:r>
                        <a:rPr lang="pt-BR" sz="24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 sz="2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};</a:t>
                      </a:r>
                      <a:endParaRPr sz="2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b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pt-BR" sz="2400" u="none" cap="none" strike="noStrik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//Percorremos todas as propriedades do objeto com o ciclo for...In</a:t>
                      </a:r>
                      <a:endParaRPr sz="24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for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(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const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4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propriedade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4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pessoa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{</a:t>
                      </a:r>
                      <a:endParaRPr sz="2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pt-BR" sz="24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console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4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log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4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pessoa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[</a:t>
                      </a:r>
                      <a:r>
                        <a:rPr lang="pt-BR" sz="24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propriedade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]);</a:t>
                      </a:r>
                      <a:endParaRPr sz="2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endParaRPr sz="2400" u="none" cap="none" strike="noStrike">
                        <a:solidFill>
                          <a:srgbClr val="FF79C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63500" marB="63500" marR="63500" marL="63500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343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6" name="Google Shape;206;p28"/>
          <p:cNvGrpSpPr/>
          <p:nvPr/>
        </p:nvGrpSpPr>
        <p:grpSpPr>
          <a:xfrm>
            <a:off x="1111053" y="644082"/>
            <a:ext cx="535357" cy="535357"/>
            <a:chOff x="974706" y="2467173"/>
            <a:chExt cx="738900" cy="738900"/>
          </a:xfrm>
        </p:grpSpPr>
        <p:sp>
          <p:nvSpPr>
            <p:cNvPr id="207" name="Google Shape;207;p28"/>
            <p:cNvSpPr/>
            <p:nvPr/>
          </p:nvSpPr>
          <p:spPr>
            <a:xfrm>
              <a:off x="974706" y="2467173"/>
              <a:ext cx="738900" cy="738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08" name="Google Shape;208;p28" title="ícono de actividad en clase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09750" y="2610275"/>
              <a:ext cx="452650" cy="452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9" name="Google Shape;209;p28"/>
          <p:cNvSpPr txBox="1"/>
          <p:nvPr/>
        </p:nvSpPr>
        <p:spPr>
          <a:xfrm>
            <a:off x="668600" y="1442334"/>
            <a:ext cx="6649600" cy="984781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5333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Para praticar</a:t>
            </a:r>
            <a:endParaRPr b="1" i="0" sz="5333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10" name="Google Shape;210;p28"/>
          <p:cNvSpPr txBox="1"/>
          <p:nvPr/>
        </p:nvSpPr>
        <p:spPr>
          <a:xfrm>
            <a:off x="835938" y="2427115"/>
            <a:ext cx="9579280" cy="4308831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DM Sans"/>
                <a:ea typeface="DM Sans"/>
                <a:cs typeface="DM Sans"/>
                <a:sym typeface="DM Sans"/>
              </a:rPr>
              <a:t>Utilizando o objeto fruta criado anteriormente:</a:t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1660" lvl="0" marL="38099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highlight>
                <a:schemeClr val="lt1"/>
              </a:highlight>
              <a:latin typeface="DM Sans"/>
              <a:ea typeface="DM Sans"/>
              <a:cs typeface="DM Sans"/>
              <a:sym typeface="DM Sans"/>
            </a:endParaRPr>
          </a:p>
          <a:p>
            <a:pPr indent="-419089" lvl="0" marL="6095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DM Sans"/>
              <a:buChar char="✓"/>
            </a:pPr>
            <a:r>
              <a:rPr b="0" i="0" lang="pt-BR" sz="2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DM Sans"/>
                <a:ea typeface="DM Sans"/>
                <a:cs typeface="DM Sans"/>
                <a:sym typeface="DM Sans"/>
              </a:rPr>
              <a:t>Percorra todas as suas propriedades utilizando o for...in.</a:t>
            </a:r>
            <a:endParaRPr b="0" i="0" sz="2400" u="none" cap="none" strike="noStrike">
              <a:solidFill>
                <a:schemeClr val="dk1"/>
              </a:solidFill>
              <a:highlight>
                <a:schemeClr val="lt1"/>
              </a:highlight>
              <a:latin typeface="DM Sans"/>
              <a:ea typeface="DM Sans"/>
              <a:cs typeface="DM Sans"/>
              <a:sym typeface="DM Sans"/>
            </a:endParaRPr>
          </a:p>
          <a:p>
            <a:pPr indent="0" lvl="0" marL="6095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highlight>
                <a:schemeClr val="lt1"/>
              </a:highlight>
              <a:latin typeface="DM Sans"/>
              <a:ea typeface="DM Sans"/>
              <a:cs typeface="DM Sans"/>
              <a:sym typeface="DM Sans"/>
            </a:endParaRPr>
          </a:p>
          <a:p>
            <a:pPr indent="-419089" lvl="0" marL="6095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DM Sans"/>
              <a:buChar char="✓"/>
            </a:pPr>
            <a:r>
              <a:rPr b="0" i="0" lang="pt-BR" sz="2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DM Sans"/>
                <a:ea typeface="DM Sans"/>
                <a:cs typeface="DM Sans"/>
                <a:sym typeface="DM Sans"/>
              </a:rPr>
              <a:t>Exiba o nome da propriedade e seu valor.</a:t>
            </a:r>
            <a:endParaRPr b="0" i="0" sz="2400" u="none" cap="none" strike="noStrike">
              <a:solidFill>
                <a:schemeClr val="dk1"/>
              </a:solidFill>
              <a:highlight>
                <a:schemeClr val="lt1"/>
              </a:highlight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highlight>
                <a:schemeClr val="lt1"/>
              </a:highlight>
              <a:latin typeface="DM Sans"/>
              <a:ea typeface="DM Sans"/>
              <a:cs typeface="DM Sans"/>
              <a:sym typeface="DM Sans"/>
            </a:endParaRPr>
          </a:p>
          <a:p>
            <a:pPr indent="-419089" lvl="0" marL="6095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DM Sans"/>
              <a:buChar char="✓"/>
            </a:pPr>
            <a:r>
              <a:rPr b="0" i="0" lang="pt-BR" sz="2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DM Sans"/>
                <a:ea typeface="DM Sans"/>
                <a:cs typeface="DM Sans"/>
                <a:sym typeface="DM Sans"/>
              </a:rPr>
              <a:t>Exemplo: </a:t>
            </a:r>
            <a:endParaRPr b="0" i="0" sz="2400" u="none" cap="none" strike="noStrike">
              <a:solidFill>
                <a:schemeClr val="dk1"/>
              </a:solidFill>
              <a:highlight>
                <a:schemeClr val="lt1"/>
              </a:highlight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DM Sans"/>
                <a:ea typeface="DM Sans"/>
                <a:cs typeface="DM Sans"/>
                <a:sym typeface="DM Sans"/>
              </a:rPr>
              <a:t>	nome = Maçã</a:t>
            </a:r>
            <a:endParaRPr b="0" i="0" sz="2400" u="none" cap="none" strike="noStrike">
              <a:solidFill>
                <a:schemeClr val="dk1"/>
              </a:solidFill>
              <a:highlight>
                <a:schemeClr val="lt1"/>
              </a:highlight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DM Sans"/>
                <a:ea typeface="DM Sans"/>
                <a:cs typeface="DM Sans"/>
                <a:sym typeface="DM Sans"/>
              </a:rPr>
              <a:t>	cor = vermelha</a:t>
            </a:r>
            <a:endParaRPr b="0" i="0" sz="2400" u="none" cap="none" strike="noStrike">
              <a:solidFill>
                <a:schemeClr val="dk1"/>
              </a:solidFill>
              <a:highlight>
                <a:schemeClr val="lt1"/>
              </a:highlight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DM Sans"/>
                <a:ea typeface="DM Sans"/>
                <a:cs typeface="DM Sans"/>
                <a:sym typeface="DM Sans"/>
              </a:rPr>
              <a:t>	peso = 5</a:t>
            </a:r>
            <a:endParaRPr b="0" i="0" sz="2400" u="none" cap="none" strike="noStrike">
              <a:solidFill>
                <a:schemeClr val="dk1"/>
              </a:solidFill>
              <a:highlight>
                <a:schemeClr val="lt1"/>
              </a:highlight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DM Sans"/>
                <a:ea typeface="DM Sans"/>
                <a:cs typeface="DM Sans"/>
                <a:sym typeface="DM Sans"/>
              </a:rPr>
              <a:t>	tipo = fruta</a:t>
            </a:r>
            <a:endParaRPr b="0" i="0" sz="2400" u="none" cap="none" strike="noStrike">
              <a:solidFill>
                <a:schemeClr val="dk1"/>
              </a:solidFill>
              <a:highlight>
                <a:schemeClr val="lt1"/>
              </a:highlight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11" name="Google Shape;211;p28"/>
          <p:cNvSpPr txBox="1"/>
          <p:nvPr/>
        </p:nvSpPr>
        <p:spPr>
          <a:xfrm>
            <a:off x="1683183" y="624367"/>
            <a:ext cx="3281600" cy="574412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133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ATIVIDADE EM SALA</a:t>
            </a:r>
            <a:endParaRPr b="0" i="0" sz="1867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12" name="Google Shape;212;p28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9"/>
          <p:cNvSpPr txBox="1"/>
          <p:nvPr>
            <p:ph type="title"/>
          </p:nvPr>
        </p:nvSpPr>
        <p:spPr>
          <a:xfrm>
            <a:off x="838200" y="3877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Classes</a:t>
            </a:r>
            <a:endParaRPr/>
          </a:p>
        </p:txBody>
      </p:sp>
      <p:sp>
        <p:nvSpPr>
          <p:cNvPr id="218" name="Google Shape;218;p29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19" name="Google Shape;219;p29"/>
          <p:cNvSpPr txBox="1"/>
          <p:nvPr/>
        </p:nvSpPr>
        <p:spPr>
          <a:xfrm>
            <a:off x="838199" y="1577574"/>
            <a:ext cx="4987413" cy="203129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</a:t>
            </a:r>
            <a:r>
              <a:rPr b="1" i="0" lang="pt-BR" sz="2400" u="none" cap="none" strike="noStrike">
                <a:solidFill>
                  <a:srgbClr val="000000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classes </a:t>
            </a:r>
            <a:r>
              <a:rPr b="0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 JavaScript, introduzidas na versão ES6, são basicamente modelos para objetos com uma sintaxe muito mais clara e simples.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Object oriented programming (OOP) in Python – Data stories" id="220" name="Google Shape;220;p29"/>
          <p:cNvPicPr preferRelativeResize="0"/>
          <p:nvPr/>
        </p:nvPicPr>
        <p:blipFill rotWithShape="1">
          <a:blip r:embed="rId3">
            <a:alphaModFix/>
          </a:blip>
          <a:srcRect b="0" l="0" r="10120" t="0"/>
          <a:stretch/>
        </p:blipFill>
        <p:spPr>
          <a:xfrm>
            <a:off x="5825612" y="974165"/>
            <a:ext cx="5436801" cy="5269408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0"/>
          <p:cNvSpPr txBox="1"/>
          <p:nvPr>
            <p:ph type="title"/>
          </p:nvPr>
        </p:nvSpPr>
        <p:spPr>
          <a:xfrm>
            <a:off x="838200" y="3877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Classes e Métodos</a:t>
            </a:r>
            <a:endParaRPr/>
          </a:p>
        </p:txBody>
      </p:sp>
      <p:sp>
        <p:nvSpPr>
          <p:cNvPr id="226" name="Google Shape;226;p30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27" name="Google Shape;227;p30"/>
          <p:cNvSpPr txBox="1"/>
          <p:nvPr/>
        </p:nvSpPr>
        <p:spPr>
          <a:xfrm>
            <a:off x="661219" y="1373588"/>
            <a:ext cx="5434781" cy="49859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Na declaração da classe, a </a:t>
            </a:r>
            <a:r>
              <a:rPr b="1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função construtora é substituída pelo método constructor</a:t>
            </a:r>
            <a:r>
              <a:rPr b="0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Os métodos nas classes não referenciam propriedades, são declarados dentro do bloco sem a palavra </a:t>
            </a:r>
            <a:r>
              <a:rPr b="1" i="0" lang="pt-BR" sz="2400" u="none" cap="none" strike="noStrike">
                <a:solidFill>
                  <a:srgbClr val="000000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function.</a:t>
            </a:r>
            <a:endParaRPr b="1" i="0" sz="2400" u="none" cap="none" strike="noStrike">
              <a:solidFill>
                <a:srgbClr val="000000"/>
              </a:solidFill>
              <a:highlight>
                <a:srgbClr val="EAFF6A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OBS: Seguindo as boas práticas, sempre utilize PascalCase para definir Classes e seu nome deve ser um substantivo </a:t>
            </a:r>
            <a:endParaRPr b="0" i="0" sz="2400" u="none" cap="none" strike="noStrike">
              <a:solidFill>
                <a:schemeClr val="dk1"/>
              </a:solidFill>
              <a:highlight>
                <a:srgbClr val="EAFF6A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28" name="Google Shape;228;p30"/>
          <p:cNvGraphicFramePr/>
          <p:nvPr/>
        </p:nvGraphicFramePr>
        <p:xfrm>
          <a:off x="6238568" y="66447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{6DA36346-BB6F-413C-8B61-964B7A76B9B7}</a:tableStyleId>
              </a:tblPr>
              <a:tblGrid>
                <a:gridCol w="5923925"/>
              </a:tblGrid>
              <a:tr h="3053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pt-BR" sz="18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class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1800" u="none" cap="none" strike="noStrike">
                          <a:solidFill>
                            <a:srgbClr val="8BE9F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Carro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pt-BR" sz="18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constructor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i="1" lang="pt-BR" sz="18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marca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i="1" lang="pt-BR" sz="18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ano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i="1" lang="pt-BR" sz="18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cor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{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    </a:t>
                      </a:r>
                      <a:r>
                        <a:rPr i="1" lang="pt-BR" sz="18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this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.marca </a:t>
                      </a:r>
                      <a:r>
                        <a:rPr lang="pt-BR" sz="18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i="1" lang="pt-BR" sz="18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marca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    </a:t>
                      </a:r>
                      <a:r>
                        <a:rPr i="1" lang="pt-BR" sz="18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this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.ano </a:t>
                      </a:r>
                      <a:r>
                        <a:rPr lang="pt-BR" sz="18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i="1" lang="pt-BR" sz="18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ano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    </a:t>
                      </a:r>
                      <a:r>
                        <a:rPr i="1" lang="pt-BR" sz="18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this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.cor </a:t>
                      </a:r>
                      <a:r>
                        <a:rPr lang="pt-BR" sz="18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i="1" lang="pt-BR" sz="18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cor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}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pt-BR" sz="18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apresentar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() {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    </a:t>
                      </a:r>
                      <a:r>
                        <a:rPr lang="pt-BR" sz="18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var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idade </a:t>
                      </a:r>
                      <a:r>
                        <a:rPr lang="pt-BR" sz="18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18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2025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18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i="1" lang="pt-BR" sz="18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this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.ano;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    </a:t>
                      </a:r>
                      <a:r>
                        <a:rPr lang="pt-BR" sz="18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console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18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log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18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18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 </a:t>
                      </a:r>
                      <a:r>
                        <a:rPr lang="pt-BR" sz="18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18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+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i="1" lang="pt-BR" sz="18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this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.marca </a:t>
                      </a:r>
                      <a:r>
                        <a:rPr lang="pt-BR" sz="18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+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18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18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é </a:t>
                      </a:r>
                      <a:r>
                        <a:rPr lang="pt-BR" sz="18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18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+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i="1" lang="pt-BR" sz="18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this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.cor </a:t>
                      </a:r>
                      <a:r>
                        <a:rPr lang="pt-BR" sz="18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+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18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18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e tem </a:t>
                      </a:r>
                      <a:r>
                        <a:rPr lang="pt-BR" sz="18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18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+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idade </a:t>
                      </a:r>
                      <a:r>
                        <a:rPr lang="pt-BR" sz="18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+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18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18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anos</a:t>
                      </a:r>
                      <a:r>
                        <a:rPr lang="pt-BR" sz="18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}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b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pt-BR" sz="18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const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18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meuCarro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18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b="1" lang="pt-BR" sz="18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new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1800" u="none" cap="none" strike="noStrike">
                          <a:solidFill>
                            <a:srgbClr val="8BE9F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Carro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18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18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Ford</a:t>
                      </a:r>
                      <a:r>
                        <a:rPr lang="pt-BR" sz="18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pt-BR" sz="18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2014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pt-BR" sz="18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18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vermelho</a:t>
                      </a:r>
                      <a:r>
                        <a:rPr lang="pt-BR" sz="18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);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pt-BR" sz="18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meuCarro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18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apresentar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()</a:t>
                      </a:r>
                      <a:endParaRPr sz="18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rgbClr val="FF79C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63500" marB="63500" marR="63500" marL="63500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343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1"/>
          <p:cNvSpPr txBox="1"/>
          <p:nvPr/>
        </p:nvSpPr>
        <p:spPr>
          <a:xfrm>
            <a:off x="1926867" y="918434"/>
            <a:ext cx="9559200" cy="892576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4667" u="none" cap="none" strike="noStrike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Exemplo: Classe produto</a:t>
            </a:r>
            <a:endParaRPr b="1" i="0" sz="4667" u="none" cap="none" strike="noStrike">
              <a:solidFill>
                <a:srgbClr val="EAFF6A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234" name="Google Shape;234;p31"/>
          <p:cNvGrpSpPr/>
          <p:nvPr/>
        </p:nvGrpSpPr>
        <p:grpSpPr>
          <a:xfrm>
            <a:off x="631135" y="826031"/>
            <a:ext cx="985200" cy="985200"/>
            <a:chOff x="473351" y="619523"/>
            <a:chExt cx="738900" cy="738900"/>
          </a:xfrm>
        </p:grpSpPr>
        <p:sp>
          <p:nvSpPr>
            <p:cNvPr id="235" name="Google Shape;235;p31"/>
            <p:cNvSpPr/>
            <p:nvPr/>
          </p:nvSpPr>
          <p:spPr>
            <a:xfrm>
              <a:off x="473351" y="619523"/>
              <a:ext cx="738900" cy="73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36" name="Google Shape;236;p31" title="ícono de ejemplo en vivo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16475" y="762650"/>
              <a:ext cx="452650" cy="452650"/>
            </a:xfrm>
            <a:prstGeom prst="rect">
              <a:avLst/>
            </a:prstGeom>
            <a:noFill/>
            <a:ln>
              <a:noFill/>
            </a:ln>
          </p:spPr>
        </p:pic>
      </p:grpSp>
      <p:graphicFrame>
        <p:nvGraphicFramePr>
          <p:cNvPr id="237" name="Google Shape;237;p31"/>
          <p:cNvGraphicFramePr/>
          <p:nvPr/>
        </p:nvGraphicFramePr>
        <p:xfrm>
          <a:off x="2466888" y="186690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{6DA36346-BB6F-413C-8B61-964B7A76B9B7}</a:tableStyleId>
              </a:tblPr>
              <a:tblGrid>
                <a:gridCol w="7258225"/>
              </a:tblGrid>
              <a:tr h="4621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6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class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1600" u="none" cap="none" strike="noStrike">
                          <a:solidFill>
                            <a:srgbClr val="8BE9F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Produto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pt-BR" sz="16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construtor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i="1" lang="pt-BR" sz="16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nome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i="1" lang="pt-BR" sz="16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preco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{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    </a:t>
                      </a:r>
                      <a:r>
                        <a:rPr i="1" lang="pt-BR" sz="16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this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.nome </a:t>
                      </a:r>
                      <a:r>
                        <a:rPr lang="pt-BR" sz="16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i="1" lang="pt-BR" sz="16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nome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16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toUpperCase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();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    </a:t>
                      </a:r>
                      <a:r>
                        <a:rPr i="1" lang="pt-BR" sz="16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this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.preco </a:t>
                      </a:r>
                      <a:r>
                        <a:rPr lang="pt-BR" sz="16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1600" u="none" cap="none" strike="noStrike">
                          <a:solidFill>
                            <a:srgbClr val="8BE9F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parseFloat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i="1" lang="pt-BR" sz="16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preco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);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    </a:t>
                      </a:r>
                      <a:r>
                        <a:rPr i="1" lang="pt-BR" sz="16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this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.vendido </a:t>
                      </a:r>
                      <a:r>
                        <a:rPr lang="pt-BR" sz="16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16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false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}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pt-BR" sz="16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somaICMS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() {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    </a:t>
                      </a:r>
                      <a:r>
                        <a:rPr i="1" lang="pt-BR" sz="16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this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.preco </a:t>
                      </a:r>
                      <a:r>
                        <a:rPr lang="pt-BR" sz="16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i="1" lang="pt-BR" sz="16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this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.preco </a:t>
                      </a:r>
                      <a:r>
                        <a:rPr lang="pt-BR" sz="16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*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16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1.21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}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pt-BR" sz="16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vender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() {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    </a:t>
                      </a:r>
                      <a:r>
                        <a:rPr i="1" lang="pt-BR" sz="16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this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.vendido </a:t>
                      </a:r>
                      <a:r>
                        <a:rPr lang="pt-BR" sz="16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16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true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}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6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const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16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produto1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16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b="1" lang="pt-BR" sz="16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new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1600" u="none" cap="none" strike="noStrike">
                          <a:solidFill>
                            <a:srgbClr val="8BE9F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Produto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16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16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arroz</a:t>
                      </a:r>
                      <a:r>
                        <a:rPr lang="pt-BR" sz="16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pt-BR" sz="16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16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125</a:t>
                      </a:r>
                      <a:r>
                        <a:rPr lang="pt-BR" sz="16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);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6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const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16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produto2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16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b="1" lang="pt-BR" sz="16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new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1600" u="none" cap="none" strike="noStrike">
                          <a:solidFill>
                            <a:srgbClr val="8BE9F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Produto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16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16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macarrão</a:t>
                      </a:r>
                      <a:r>
                        <a:rPr lang="pt-BR" sz="16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pt-BR" sz="16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16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50</a:t>
                      </a:r>
                      <a:r>
                        <a:rPr lang="pt-BR" sz="16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);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6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produto1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16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somaICMS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();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6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produto2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16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somaICMS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();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6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produto1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16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vender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();</a:t>
                      </a:r>
                      <a:endParaRPr sz="1600" u="none" cap="none" strike="noStrike">
                        <a:solidFill>
                          <a:srgbClr val="FF79C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71125" marB="71125" marR="71125" marL="71125">
                    <a:lnL cap="flat" cmpd="sng" w="304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04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04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04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343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2" name="Google Shape;242;p32"/>
          <p:cNvGrpSpPr/>
          <p:nvPr/>
        </p:nvGrpSpPr>
        <p:grpSpPr>
          <a:xfrm>
            <a:off x="963568" y="644082"/>
            <a:ext cx="535357" cy="535357"/>
            <a:chOff x="974706" y="2467173"/>
            <a:chExt cx="738900" cy="738900"/>
          </a:xfrm>
        </p:grpSpPr>
        <p:sp>
          <p:nvSpPr>
            <p:cNvPr id="243" name="Google Shape;243;p32"/>
            <p:cNvSpPr/>
            <p:nvPr/>
          </p:nvSpPr>
          <p:spPr>
            <a:xfrm>
              <a:off x="974706" y="2467173"/>
              <a:ext cx="738900" cy="738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44" name="Google Shape;244;p32" title="ícono de actividad en clase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09750" y="2610275"/>
              <a:ext cx="452650" cy="452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45" name="Google Shape;245;p32"/>
          <p:cNvSpPr txBox="1"/>
          <p:nvPr/>
        </p:nvSpPr>
        <p:spPr>
          <a:xfrm>
            <a:off x="668600" y="1442334"/>
            <a:ext cx="6649600" cy="984781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5333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Para praticar</a:t>
            </a:r>
            <a:endParaRPr b="1" i="0" sz="5333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46" name="Google Shape;246;p32"/>
          <p:cNvSpPr txBox="1"/>
          <p:nvPr/>
        </p:nvSpPr>
        <p:spPr>
          <a:xfrm>
            <a:off x="786587" y="2263069"/>
            <a:ext cx="10230458" cy="4308831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DM Sans"/>
                <a:ea typeface="DM Sans"/>
                <a:cs typeface="DM Sans"/>
                <a:sym typeface="DM Sans"/>
              </a:rPr>
              <a:t>Descrição da atividade</a:t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1660" lvl="0" marL="38099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highlight>
                <a:schemeClr val="lt1"/>
              </a:highlight>
              <a:latin typeface="DM Sans"/>
              <a:ea typeface="DM Sans"/>
              <a:cs typeface="DM Sans"/>
              <a:sym typeface="DM Sans"/>
            </a:endParaRPr>
          </a:p>
          <a:p>
            <a:pPr indent="-419089" lvl="0" marL="6095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DM Sans"/>
              <a:buChar char="✓"/>
            </a:pPr>
            <a:r>
              <a:rPr b="0" i="0" lang="pt-BR" sz="2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DM Sans"/>
                <a:ea typeface="DM Sans"/>
                <a:cs typeface="DM Sans"/>
                <a:sym typeface="DM Sans"/>
              </a:rPr>
              <a:t>Crie uma classe alimento que terá as mesmas propriedades do nosso objeto inicial (nome, cor, peso e o tipo).</a:t>
            </a:r>
            <a:endParaRPr b="0" i="0" sz="2400" u="none" cap="none" strike="noStrike">
              <a:solidFill>
                <a:schemeClr val="dk1"/>
              </a:solidFill>
              <a:highlight>
                <a:schemeClr val="lt1"/>
              </a:highlight>
              <a:latin typeface="DM Sans"/>
              <a:ea typeface="DM Sans"/>
              <a:cs typeface="DM Sans"/>
              <a:sym typeface="DM Sans"/>
            </a:endParaRPr>
          </a:p>
          <a:p>
            <a:pPr indent="0" lvl="0" marL="6095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highlight>
                <a:schemeClr val="lt1"/>
              </a:highlight>
              <a:latin typeface="DM Sans"/>
              <a:ea typeface="DM Sans"/>
              <a:cs typeface="DM Sans"/>
              <a:sym typeface="DM Sans"/>
            </a:endParaRPr>
          </a:p>
          <a:p>
            <a:pPr indent="-419089" lvl="0" marL="6095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DM Sans"/>
              <a:buChar char="✓"/>
            </a:pPr>
            <a:r>
              <a:rPr b="0" i="0" lang="pt-BR" sz="2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DM Sans"/>
                <a:ea typeface="DM Sans"/>
                <a:cs typeface="DM Sans"/>
                <a:sym typeface="DM Sans"/>
              </a:rPr>
              <a:t>Insira um método que faça a descrição desses alimentos.</a:t>
            </a:r>
            <a:endParaRPr b="0" i="0" sz="2400" u="none" cap="none" strike="noStrike">
              <a:solidFill>
                <a:schemeClr val="dk1"/>
              </a:solidFill>
              <a:highlight>
                <a:schemeClr val="lt1"/>
              </a:highlight>
              <a:latin typeface="DM Sans"/>
              <a:ea typeface="DM Sans"/>
              <a:cs typeface="DM Sans"/>
              <a:sym typeface="DM Sans"/>
            </a:endParaRPr>
          </a:p>
          <a:p>
            <a:pPr indent="0" lvl="0" marL="6095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highlight>
                <a:schemeClr val="lt1"/>
              </a:highlight>
              <a:latin typeface="DM Sans"/>
              <a:ea typeface="DM Sans"/>
              <a:cs typeface="DM Sans"/>
              <a:sym typeface="DM Sans"/>
            </a:endParaRPr>
          </a:p>
          <a:p>
            <a:pPr indent="-419089" lvl="0" marL="6095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DM Sans"/>
              <a:buChar char="✓"/>
            </a:pPr>
            <a:r>
              <a:rPr b="0" i="0" lang="pt-BR" sz="2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DM Sans"/>
                <a:ea typeface="DM Sans"/>
                <a:cs typeface="DM Sans"/>
                <a:sym typeface="DM Sans"/>
              </a:rPr>
              <a:t>Crie pelo menos 2 alimentos a partir dessa classe, uma fruta e uma verdura.</a:t>
            </a:r>
            <a:endParaRPr b="0" i="0" sz="2400" u="none" cap="none" strike="noStrike">
              <a:solidFill>
                <a:schemeClr val="dk1"/>
              </a:solidFill>
              <a:highlight>
                <a:schemeClr val="lt1"/>
              </a:highlight>
              <a:latin typeface="DM Sans"/>
              <a:ea typeface="DM Sans"/>
              <a:cs typeface="DM Sans"/>
              <a:sym typeface="DM Sans"/>
            </a:endParaRPr>
          </a:p>
          <a:p>
            <a:pPr indent="0" lvl="0" marL="6095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highlight>
                <a:schemeClr val="lt1"/>
              </a:highlight>
              <a:latin typeface="DM Sans"/>
              <a:ea typeface="DM Sans"/>
              <a:cs typeface="DM Sans"/>
              <a:sym typeface="DM Sans"/>
            </a:endParaRPr>
          </a:p>
          <a:p>
            <a:pPr indent="-419089" lvl="0" marL="6095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DM Sans"/>
              <a:buChar char="✓"/>
            </a:pPr>
            <a:r>
              <a:rPr b="0" i="0" lang="pt-BR" sz="2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DM Sans"/>
                <a:ea typeface="DM Sans"/>
                <a:cs typeface="DM Sans"/>
                <a:sym typeface="DM Sans"/>
              </a:rPr>
              <a:t>Exiba as descrições dos alimentos criados.</a:t>
            </a:r>
            <a:endParaRPr b="0" i="0" sz="2400" u="none" cap="none" strike="noStrike">
              <a:solidFill>
                <a:schemeClr val="dk1"/>
              </a:solidFill>
              <a:highlight>
                <a:schemeClr val="lt1"/>
              </a:highlight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47" name="Google Shape;247;p32"/>
          <p:cNvSpPr txBox="1"/>
          <p:nvPr/>
        </p:nvSpPr>
        <p:spPr>
          <a:xfrm>
            <a:off x="1535698" y="624367"/>
            <a:ext cx="3281600" cy="574412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133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ATIVIDADE EM SALA</a:t>
            </a:r>
            <a:endParaRPr b="0" i="0" sz="1867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48" name="Google Shape;248;p32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3"/>
          <p:cNvSpPr txBox="1"/>
          <p:nvPr>
            <p:ph type="title"/>
          </p:nvPr>
        </p:nvSpPr>
        <p:spPr>
          <a:xfrm>
            <a:off x="838200" y="3877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Objetos resumo</a:t>
            </a:r>
            <a:endParaRPr/>
          </a:p>
        </p:txBody>
      </p:sp>
      <p:sp>
        <p:nvSpPr>
          <p:cNvPr id="254" name="Google Shape;254;p33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255" name="Google Shape;25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86600" y="0"/>
            <a:ext cx="55054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33"/>
          <p:cNvSpPr txBox="1"/>
          <p:nvPr/>
        </p:nvSpPr>
        <p:spPr>
          <a:xfrm>
            <a:off x="707922" y="1613566"/>
            <a:ext cx="5766619" cy="485668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432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DM Sans"/>
              <a:buChar char="✓"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Os objetos têm propriedades e métodos.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432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DM Sans"/>
              <a:buChar char="✓"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método construtor de um objeto serve para criar um ou vários objeto e lhe atribuir suas propriedades. 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432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DM Sans"/>
              <a:buChar char="✓"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 funções de JS são geralmente de acesso global, e os métodos são capazes de serem invocados unicamente por seus objetos.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432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DM Sans"/>
              <a:buChar char="✓"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 classes são uma forma de criar objetos personalizados em JS.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5"/>
          <p:cNvSpPr txBox="1"/>
          <p:nvPr>
            <p:ph type="title"/>
          </p:nvPr>
        </p:nvSpPr>
        <p:spPr>
          <a:xfrm>
            <a:off x="838200" y="3877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Referências:</a:t>
            </a:r>
            <a:endParaRPr/>
          </a:p>
        </p:txBody>
      </p:sp>
      <p:sp>
        <p:nvSpPr>
          <p:cNvPr id="262" name="Google Shape;262;p5"/>
          <p:cNvSpPr txBox="1"/>
          <p:nvPr>
            <p:ph idx="1" type="body"/>
          </p:nvPr>
        </p:nvSpPr>
        <p:spPr>
          <a:xfrm>
            <a:off x="838200" y="1493521"/>
            <a:ext cx="10515600" cy="49767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DM Sans"/>
              <a:buChar char="✓"/>
            </a:pPr>
            <a:r>
              <a:rPr lang="pt-BR" sz="2800" u="sng">
                <a:solidFill>
                  <a:srgbClr val="888888"/>
                </a:solidFill>
                <a:latin typeface="DM Sans"/>
                <a:ea typeface="DM Sans"/>
                <a:cs typeface="DM Sans"/>
                <a:sym typeface="DM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Trabalhando com objetos</a:t>
            </a:r>
            <a:r>
              <a:rPr lang="pt-BR" sz="2800">
                <a:solidFill>
                  <a:srgbClr val="88888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1" lang="pt-BR" sz="28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| Developer Mozilla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DM Sans"/>
              <a:buChar char="✓"/>
            </a:pPr>
            <a:r>
              <a:rPr lang="pt-BR" sz="2800" u="sng">
                <a:solidFill>
                  <a:srgbClr val="888888"/>
                </a:solidFill>
                <a:latin typeface="DM Sans"/>
                <a:ea typeface="DM Sans"/>
                <a:cs typeface="DM Sans"/>
                <a:sym typeface="DM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Classes</a:t>
            </a:r>
            <a:r>
              <a:rPr lang="pt-BR" sz="2800">
                <a:solidFill>
                  <a:srgbClr val="88888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1" lang="pt-BR" sz="28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| Developer Mozilla</a:t>
            </a:r>
            <a:endParaRPr sz="2800">
              <a:solidFill>
                <a:srgbClr val="88888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DM Sans"/>
              <a:buChar char="✓"/>
            </a:pPr>
            <a:r>
              <a:rPr lang="pt-BR" sz="2800" u="sng">
                <a:solidFill>
                  <a:srgbClr val="888888"/>
                </a:solidFill>
                <a:latin typeface="DM Sans"/>
                <a:ea typeface="DM Sans"/>
                <a:cs typeface="DM Sans"/>
                <a:sym typeface="DM Sans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Classes JavaScript</a:t>
            </a:r>
            <a:r>
              <a:rPr b="1" lang="pt-BR" sz="2800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1" lang="pt-BR" sz="28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| W3Schools</a:t>
            </a:r>
            <a:endParaRPr/>
          </a:p>
        </p:txBody>
      </p:sp>
      <p:sp>
        <p:nvSpPr>
          <p:cNvPr id="263" name="Google Shape;263;p5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6"/>
          <p:cNvSpPr txBox="1"/>
          <p:nvPr>
            <p:ph type="title"/>
          </p:nvPr>
        </p:nvSpPr>
        <p:spPr>
          <a:xfrm>
            <a:off x="838199" y="2073528"/>
            <a:ext cx="11183471" cy="1234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4000"/>
              <a:buFont typeface="Arial"/>
              <a:buNone/>
            </a:pPr>
            <a:r>
              <a:rPr lang="pt-BR">
                <a:latin typeface="Arial"/>
                <a:ea typeface="Arial"/>
                <a:cs typeface="Arial"/>
                <a:sym typeface="Arial"/>
              </a:rPr>
              <a:t>Copyright © 2025</a:t>
            </a:r>
            <a:br>
              <a:rPr lang="pt-BR">
                <a:latin typeface="Arial"/>
                <a:ea typeface="Arial"/>
                <a:cs typeface="Arial"/>
                <a:sym typeface="Arial"/>
              </a:rPr>
            </a:br>
            <a:r>
              <a:rPr lang="pt-BR"/>
              <a:t>Prof. Lucas Sousa</a:t>
            </a:r>
            <a:endParaRPr/>
          </a:p>
        </p:txBody>
      </p:sp>
      <p:sp>
        <p:nvSpPr>
          <p:cNvPr id="269" name="Google Shape;269;p6"/>
          <p:cNvSpPr txBox="1"/>
          <p:nvPr>
            <p:ph idx="4294967295" type="sldNum"/>
          </p:nvPr>
        </p:nvSpPr>
        <p:spPr>
          <a:xfrm>
            <a:off x="11353800" y="5594350"/>
            <a:ext cx="838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ersonalizar design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2022-12-26T16:03:00Z</dcterms:created>
  <dc:creator>Allen Fernando Oberleitner Lima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B96E02AB6EE14174B6F4E9A4A472FBCF_12</vt:lpwstr>
  </property>
  <property fmtid="{D5CDD505-2E9C-101B-9397-08002B2CF9AE}" pid="3" name="KSOProductBuildVer">
    <vt:lpwstr>1046-12.2.0.16731</vt:lpwstr>
  </property>
</Properties>
</file>