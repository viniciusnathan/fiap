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9144000"/>
  <p:embeddedFontLst>
    <p:embeddedFont>
      <p:font typeface="Helvetica Neue"/>
      <p:regular r:id="rId27"/>
      <p:bold r:id="rId28"/>
      <p:italic r:id="rId29"/>
      <p:boldItalic r:id="rId30"/>
    </p:embeddedFont>
    <p:embeddedFont>
      <p:font typeface="Helvetica Neue Light"/>
      <p:regular r:id="rId31"/>
      <p:bold r:id="rId32"/>
      <p:italic r:id="rId33"/>
      <p:boldItalic r:id="rId34"/>
    </p:embeddedFont>
    <p:embeddedFont>
      <p:font typeface="DM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hUuD9MTb0+DlGOWUHQj3t9J/vK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B47428A-4845-41FA-BD52-609E609A0E03}">
  <a:tblStyle styleId="{AB47428A-4845-41FA-BD52-609E609A0E0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HelveticaNeue-bold.fntdata"/><Relationship Id="rId27" Type="http://schemas.openxmlformats.org/officeDocument/2006/relationships/font" Target="fonts/HelveticaNeu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HelveticaNeueLight-regular.fntdata"/><Relationship Id="rId30" Type="http://schemas.openxmlformats.org/officeDocument/2006/relationships/font" Target="fonts/HelveticaNeue-boldItalic.fntdata"/><Relationship Id="rId11" Type="http://schemas.openxmlformats.org/officeDocument/2006/relationships/slide" Target="slides/slide6.xml"/><Relationship Id="rId33" Type="http://schemas.openxmlformats.org/officeDocument/2006/relationships/font" Target="fonts/HelveticaNeueLight-italic.fntdata"/><Relationship Id="rId10" Type="http://schemas.openxmlformats.org/officeDocument/2006/relationships/slide" Target="slides/slide5.xml"/><Relationship Id="rId32" Type="http://schemas.openxmlformats.org/officeDocument/2006/relationships/font" Target="fonts/HelveticaNeueLight-bold.fntdata"/><Relationship Id="rId13" Type="http://schemas.openxmlformats.org/officeDocument/2006/relationships/slide" Target="slides/slide8.xml"/><Relationship Id="rId35" Type="http://schemas.openxmlformats.org/officeDocument/2006/relationships/font" Target="fonts/DMSans-regular.fntdata"/><Relationship Id="rId12" Type="http://schemas.openxmlformats.org/officeDocument/2006/relationships/slide" Target="slides/slide7.xml"/><Relationship Id="rId34" Type="http://schemas.openxmlformats.org/officeDocument/2006/relationships/font" Target="fonts/HelveticaNeueLight-boldItalic.fntdata"/><Relationship Id="rId15" Type="http://schemas.openxmlformats.org/officeDocument/2006/relationships/slide" Target="slides/slide10.xml"/><Relationship Id="rId37" Type="http://schemas.openxmlformats.org/officeDocument/2006/relationships/font" Target="fonts/DMSans-italic.fntdata"/><Relationship Id="rId14" Type="http://schemas.openxmlformats.org/officeDocument/2006/relationships/slide" Target="slides/slide9.xml"/><Relationship Id="rId36" Type="http://schemas.openxmlformats.org/officeDocument/2006/relationships/font" Target="fonts/DMSans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DMSans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las subsiguientes slides de Actividades en clase.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las subsiguientes slides de Actividades en clase.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“Ejemplo en vivo”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docente realizará una tarea compartiendo la pantalla en vivo. Se centrará en los pasos y los aspectos a tener en cuenta.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las subsiguientes slides de Actividades en clase.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Ejemplo modelo de cómo comunicar una Actividad complementaria.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Desarrollo de un desafío extra. Vincular ejemplo. Hacer hincapié en que es optativa pero suma puntos para el top 10. 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+ Black">
  <p:cSld name="Logo + Black">
    <p:bg>
      <p:bgPr>
        <a:solidFill>
          <a:srgbClr val="1A1C1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1700" y="292781"/>
            <a:ext cx="11588600" cy="6272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1366" y="2854782"/>
            <a:ext cx="4269268" cy="1148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abeçalho da Seção">
  <p:cSld name="1_Cabeçalho da Seção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4"/>
          <p:cNvSpPr txBox="1"/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" type="body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  <a:defRPr b="0" sz="36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22" name="Google Shape;2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24"/>
          <p:cNvSpPr txBox="1"/>
          <p:nvPr>
            <p:ph idx="2" type="body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b="1"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" name="Google Shape;27;p24"/>
          <p:cNvSpPr txBox="1"/>
          <p:nvPr/>
        </p:nvSpPr>
        <p:spPr>
          <a:xfrm>
            <a:off x="219075" y="6088030"/>
            <a:ext cx="3384737" cy="39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Fevereiro 2025 / versão 1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ogo + Black">
  <p:cSld name="1_Logo + Black">
    <p:bg>
      <p:bgPr>
        <a:solidFill>
          <a:srgbClr val="1A1C1E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5"/>
          <p:cNvSpPr txBox="1"/>
          <p:nvPr>
            <p:ph type="title"/>
          </p:nvPr>
        </p:nvSpPr>
        <p:spPr>
          <a:xfrm>
            <a:off x="838198" y="301704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  <a:defRPr sz="4800">
                <a:solidFill>
                  <a:srgbClr val="D8D8D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0" name="Google Shape;30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7839" y="364886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3" name="Google Shape;3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9100" y="0"/>
            <a:ext cx="11353798" cy="16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6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6"/>
          <p:cNvSpPr txBox="1"/>
          <p:nvPr>
            <p:ph idx="1" type="body"/>
          </p:nvPr>
        </p:nvSpPr>
        <p:spPr>
          <a:xfrm>
            <a:off x="838200" y="1493521"/>
            <a:ext cx="10515600" cy="4976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8" name="Google Shape;38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7320" y="387750"/>
            <a:ext cx="121148" cy="988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>
  <p:cSld name="Cabeçalho da Seção">
    <p:bg>
      <p:bgPr>
        <a:solidFill>
          <a:schemeClr val="l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7"/>
          <p:cNvSpPr txBox="1"/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6" name="Google Shape;46;p27"/>
          <p:cNvSpPr txBox="1"/>
          <p:nvPr/>
        </p:nvSpPr>
        <p:spPr>
          <a:xfrm>
            <a:off x="838199" y="3357951"/>
            <a:ext cx="10699378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None/>
            </a:pPr>
            <a:r>
              <a:rPr b="1" lang="pt-BR" sz="24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Todos direitos reservados. Reprodução ou divulgação total ou parcial deste documento é expressamente proibido sem o consentimento formal, por escrito, do Professor (autor).</a:t>
            </a:r>
            <a:endParaRPr b="1" sz="48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e Conteúdo">
  <p:cSld name="1_Título e Conteúdo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 blanco">
  <p:cSld name="Fondo blanco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29" title="logo coderhouse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5218" y="6256367"/>
            <a:ext cx="1534333" cy="35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 1">
  <p:cSld name="03-B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30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15218" y="6256367"/>
            <a:ext cx="1534333" cy="35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co 1" type="title">
  <p:cSld name="TITLE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1"/>
          <p:cNvSpPr txBox="1"/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000"/>
              <a:buFont typeface="DM Sans"/>
              <a:buNone/>
              <a:defRPr b="1" sz="5333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/>
        </p:txBody>
      </p:sp>
      <p:sp>
        <p:nvSpPr>
          <p:cNvPr id="54" name="Google Shape;54;p31"/>
          <p:cNvSpPr txBox="1"/>
          <p:nvPr>
            <p:ph idx="1" type="subTitle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Helvetica Neue Light"/>
              <a:buNone/>
              <a:defRPr sz="2667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/>
            </a:lvl9pPr>
          </a:lstStyle>
          <a:p/>
        </p:txBody>
      </p:sp>
      <p:pic>
        <p:nvPicPr>
          <p:cNvPr id="55" name="Google Shape;55;p31" title="logo CoderHouse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5218" y="6256367"/>
            <a:ext cx="1534333" cy="35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eveloper.mozilla.org/pt-BR/docs/Web/JavaScript/Guide/Functions" TargetMode="External"/><Relationship Id="rId4" Type="http://schemas.openxmlformats.org/officeDocument/2006/relationships/hyperlink" Target="https://medium.com/reactbrasil/como-o-javascript-funciona-entendendo-as-fun%C3%A7%C3%B5es-e-suas-formas-de-uso-eb387c7fa138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idx="4294967295" type="sldNum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/>
              <a:t>Engenharia de Software</a:t>
            </a:r>
            <a:endParaRPr/>
          </a:p>
        </p:txBody>
      </p:sp>
      <p:sp>
        <p:nvSpPr>
          <p:cNvPr id="66" name="Google Shape;66;p2"/>
          <p:cNvSpPr txBox="1"/>
          <p:nvPr>
            <p:ph idx="1" type="body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</a:pPr>
            <a:r>
              <a:rPr lang="pt-BR"/>
              <a:t>Web Development with JS</a:t>
            </a:r>
            <a:endParaRPr/>
          </a:p>
        </p:txBody>
      </p:sp>
      <p:sp>
        <p:nvSpPr>
          <p:cNvPr id="67" name="Google Shape;67;p2"/>
          <p:cNvSpPr txBox="1"/>
          <p:nvPr>
            <p:ph idx="2" type="body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</a:pPr>
            <a:r>
              <a:rPr lang="pt-BR"/>
              <a:t>Prof. Lucas Sousa</a:t>
            </a:r>
            <a:endParaRPr/>
          </a:p>
        </p:txBody>
      </p:sp>
      <p:sp>
        <p:nvSpPr>
          <p:cNvPr id="68" name="Google Shape;68;p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 txBox="1"/>
          <p:nvPr>
            <p:ph type="title"/>
          </p:nvPr>
        </p:nvSpPr>
        <p:spPr>
          <a:xfrm>
            <a:off x="838200" y="1046480"/>
            <a:ext cx="10515600" cy="5362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</a:pPr>
            <a:r>
              <a:rPr lang="pt-BR"/>
              <a:t>Funções</a:t>
            </a:r>
            <a:br>
              <a:rPr lang="pt-BR"/>
            </a:br>
            <a:br>
              <a:rPr lang="pt-BR"/>
            </a:br>
            <a:r>
              <a:rPr lang="pt-BR" sz="4400"/>
              <a:t>- Funções e propriedades básicas</a:t>
            </a:r>
            <a:endParaRPr/>
          </a:p>
        </p:txBody>
      </p:sp>
      <p:sp>
        <p:nvSpPr>
          <p:cNvPr id="74" name="Google Shape;74;p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Funções</a:t>
            </a:r>
            <a:endParaRPr/>
          </a:p>
        </p:txBody>
      </p:sp>
      <p:sp>
        <p:nvSpPr>
          <p:cNvPr id="80" name="Google Shape;80;p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1" name="Google Shape;8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329" y="1373588"/>
            <a:ext cx="4706911" cy="54844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"/>
          <p:cNvSpPr txBox="1"/>
          <p:nvPr/>
        </p:nvSpPr>
        <p:spPr>
          <a:xfrm>
            <a:off x="5624865" y="1465966"/>
            <a:ext cx="6328539" cy="44935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Quando se desenvolve uma aplicação ou site, é muito comum usar as mesmas instruções uma ou outra vez.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 programação, uma </a:t>
            </a:r>
            <a:r>
              <a:rPr b="1" i="0" lang="pt-B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função é um conjunto de instruções que se agrupam para realizar uma tarefa concreta</a:t>
            </a:r>
            <a:r>
              <a:rPr b="0" i="0" lang="pt-B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que depois pode ser reutilizada ao longo de diferentes instâncias do código.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Declaração</a:t>
            </a:r>
            <a:endParaRPr/>
          </a:p>
        </p:txBody>
      </p:sp>
      <p:sp>
        <p:nvSpPr>
          <p:cNvPr id="88" name="Google Shape;88;p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9" name="Google Shape;89;p5"/>
          <p:cNvSpPr txBox="1"/>
          <p:nvPr/>
        </p:nvSpPr>
        <p:spPr>
          <a:xfrm>
            <a:off x="678599" y="1277398"/>
            <a:ext cx="11073689" cy="238853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 feita através da palavra reservada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function. 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 recomendável que não tenha espaços e com os característicos parênteses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()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vindo logo em seguida.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conteúdo da função é escrito entre as chaves.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nome de uma função não pode ser repetido em outra função.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0" name="Google Shape;90;p5"/>
          <p:cNvGraphicFramePr/>
          <p:nvPr/>
        </p:nvGraphicFramePr>
        <p:xfrm>
          <a:off x="838199" y="36659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{AB47428A-4845-41FA-BD52-609E609A0E03}</a:tableStyleId>
              </a:tblPr>
              <a:tblGrid>
                <a:gridCol w="4903025"/>
              </a:tblGrid>
              <a:tr h="97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1800"/>
                        <a:buFont typeface="Consolas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saudacao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 {</a:t>
                      </a:r>
                      <a:endParaRPr sz="2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1800"/>
                        <a:buFont typeface="Consolas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1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Olá, estudantes!</a:t>
                      </a:r>
                      <a:r>
                        <a:rPr b="0"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1800"/>
                        <a:buFont typeface="Consolas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cap="none" strike="noStrike"/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sp>
        <p:nvSpPr>
          <p:cNvPr id="91" name="Google Shape;91;p5"/>
          <p:cNvSpPr txBox="1"/>
          <p:nvPr/>
        </p:nvSpPr>
        <p:spPr>
          <a:xfrm>
            <a:off x="808219" y="4942572"/>
            <a:ext cx="1107368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fizermos a chamada, se interpretará as instruções definidas na função.</a:t>
            </a:r>
            <a:endParaRPr/>
          </a:p>
        </p:txBody>
      </p:sp>
      <p:graphicFrame>
        <p:nvGraphicFramePr>
          <p:cNvPr id="92" name="Google Shape;92;p5"/>
          <p:cNvGraphicFramePr/>
          <p:nvPr/>
        </p:nvGraphicFramePr>
        <p:xfrm>
          <a:off x="838199" y="59169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{AB47428A-4845-41FA-BD52-609E609A0E03}</a:tableStyleId>
              </a:tblPr>
              <a:tblGrid>
                <a:gridCol w="4169400"/>
              </a:tblGrid>
              <a:tr h="53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saudacao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();</a:t>
                      </a:r>
                      <a:endParaRPr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6"/>
          <p:cNvGrpSpPr/>
          <p:nvPr/>
        </p:nvGrpSpPr>
        <p:grpSpPr>
          <a:xfrm>
            <a:off x="938424" y="644082"/>
            <a:ext cx="535357" cy="535357"/>
            <a:chOff x="974706" y="2467173"/>
            <a:chExt cx="738900" cy="738900"/>
          </a:xfrm>
        </p:grpSpPr>
        <p:sp>
          <p:nvSpPr>
            <p:cNvPr id="98" name="Google Shape;98;p6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9" name="Google Shape;99;p6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0" name="Google Shape;100;p6"/>
          <p:cNvSpPr txBox="1"/>
          <p:nvPr/>
        </p:nvSpPr>
        <p:spPr>
          <a:xfrm>
            <a:off x="790132" y="1423413"/>
            <a:ext cx="6649600" cy="984781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33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praticar</a:t>
            </a:r>
            <a:endParaRPr b="1" sz="53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790132" y="2295391"/>
            <a:ext cx="10467481" cy="4308831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uma função que: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089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Receba um número do usuário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089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Verifique se esse número é par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089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Exiba um alert com o resultado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089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Lembrando que números pares são aqueles cujo resto da divisão por 2 é 0.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089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calcular o resto da divisão utilizamos a operação de módulo (representada pelo símbolo %)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0958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Execute sua função para 3 valores diferentes de entrada.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1480573" y="624367"/>
            <a:ext cx="3281600" cy="57441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33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ATIVIDADE EM SALA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3" name="Google Shape;103;p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7"/>
          <p:cNvGrpSpPr/>
          <p:nvPr/>
        </p:nvGrpSpPr>
        <p:grpSpPr>
          <a:xfrm>
            <a:off x="938424" y="644082"/>
            <a:ext cx="535357" cy="535357"/>
            <a:chOff x="974706" y="2467173"/>
            <a:chExt cx="738900" cy="738900"/>
          </a:xfrm>
        </p:grpSpPr>
        <p:sp>
          <p:nvSpPr>
            <p:cNvPr id="109" name="Google Shape;109;p7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0" name="Google Shape;110;p7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1" name="Google Shape;111;p7"/>
          <p:cNvSpPr txBox="1"/>
          <p:nvPr/>
        </p:nvSpPr>
        <p:spPr>
          <a:xfrm>
            <a:off x="790132" y="1423413"/>
            <a:ext cx="6649600" cy="689379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Resposta</a:t>
            </a:r>
            <a:endParaRPr b="1"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1480573" y="624367"/>
            <a:ext cx="3281600" cy="57441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33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ATIVIDADE EM SALA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3" name="Google Shape;113;p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4" name="Google Shape;114;p7"/>
          <p:cNvSpPr txBox="1"/>
          <p:nvPr/>
        </p:nvSpPr>
        <p:spPr>
          <a:xfrm>
            <a:off x="2981768" y="1423413"/>
            <a:ext cx="8525031" cy="4801314"/>
          </a:xfrm>
          <a:prstGeom prst="rect">
            <a:avLst/>
          </a:prstGeom>
          <a:solidFill>
            <a:srgbClr val="0C343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86C4"/>
              </a:buClr>
              <a:buSzPts val="1800"/>
              <a:buFont typeface="Consolas"/>
              <a:buNone/>
            </a:pPr>
            <a:r>
              <a:rPr b="0" lang="pt-BR" sz="1800">
                <a:solidFill>
                  <a:srgbClr val="F286C4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 sz="1800">
                <a:solidFill>
                  <a:srgbClr val="62E884"/>
                </a:solidFill>
                <a:latin typeface="Consolas"/>
                <a:ea typeface="Consolas"/>
                <a:cs typeface="Consolas"/>
                <a:sym typeface="Consolas"/>
              </a:rPr>
              <a:t>verificarPar</a:t>
            </a: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6F4"/>
              </a:buClr>
              <a:buSzPts val="1800"/>
              <a:buFont typeface="Consolas"/>
              <a:buNone/>
            </a:pP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pt-BR" sz="1800">
                <a:solidFill>
                  <a:srgbClr val="F286C4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 entrada </a:t>
            </a:r>
            <a:r>
              <a:rPr b="0" lang="pt-BR" sz="1800">
                <a:solidFill>
                  <a:srgbClr val="F286C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 sz="1800">
                <a:solidFill>
                  <a:srgbClr val="97E1F1"/>
                </a:solidFill>
                <a:latin typeface="Consolas"/>
                <a:ea typeface="Consolas"/>
                <a:cs typeface="Consolas"/>
                <a:sym typeface="Consolas"/>
              </a:rPr>
              <a:t>prompt</a:t>
            </a: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pt-BR" sz="1800">
                <a:solidFill>
                  <a:srgbClr val="DEE492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0" lang="pt-BR" sz="1800">
                <a:solidFill>
                  <a:srgbClr val="E7EE98"/>
                </a:solidFill>
                <a:latin typeface="Consolas"/>
                <a:ea typeface="Consolas"/>
                <a:cs typeface="Consolas"/>
                <a:sym typeface="Consolas"/>
              </a:rPr>
              <a:t>Digite um número:</a:t>
            </a:r>
            <a:r>
              <a:rPr b="0" lang="pt-BR" sz="1800">
                <a:solidFill>
                  <a:srgbClr val="DEE492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6F4"/>
              </a:buClr>
              <a:buSzPts val="1800"/>
              <a:buFont typeface="Consolas"/>
              <a:buNone/>
            </a:pP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pt-BR" sz="1800">
                <a:solidFill>
                  <a:srgbClr val="F286C4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 numero </a:t>
            </a:r>
            <a:r>
              <a:rPr b="0" lang="pt-BR" sz="1800">
                <a:solidFill>
                  <a:srgbClr val="F286C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 sz="1800">
                <a:solidFill>
                  <a:srgbClr val="97E1F1"/>
                </a:solidFill>
                <a:latin typeface="Consolas"/>
                <a:ea typeface="Consolas"/>
                <a:cs typeface="Consolas"/>
                <a:sym typeface="Consolas"/>
              </a:rPr>
              <a:t>parseInt</a:t>
            </a: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(entrada);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6F4"/>
              </a:buClr>
              <a:buSzPts val="1800"/>
              <a:buFont typeface="Consolas"/>
              <a:buNone/>
            </a:pP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6F4"/>
              </a:buClr>
              <a:buSzPts val="1800"/>
              <a:buFont typeface="Consolas"/>
              <a:buNone/>
            </a:pP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pt-BR" sz="1800">
                <a:solidFill>
                  <a:srgbClr val="F286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lang="pt-BR" sz="1800">
                <a:solidFill>
                  <a:srgbClr val="97E1F1"/>
                </a:solidFill>
                <a:latin typeface="Consolas"/>
                <a:ea typeface="Consolas"/>
                <a:cs typeface="Consolas"/>
                <a:sym typeface="Consolas"/>
              </a:rPr>
              <a:t>isNaN</a:t>
            </a: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(numero)) { </a:t>
            </a:r>
            <a:r>
              <a:rPr b="0" lang="pt-BR" sz="1800">
                <a:solidFill>
                  <a:srgbClr val="7B7F8B"/>
                </a:solidFill>
                <a:latin typeface="Consolas"/>
                <a:ea typeface="Consolas"/>
                <a:cs typeface="Consolas"/>
                <a:sym typeface="Consolas"/>
              </a:rPr>
              <a:t>// -&gt; isNaN significa "is Not a Number"</a:t>
            </a:r>
            <a:endParaRPr b="0" sz="1800">
              <a:solidFill>
                <a:srgbClr val="F6F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6F4"/>
              </a:buClr>
              <a:buSzPts val="1800"/>
              <a:buFont typeface="Consolas"/>
              <a:buNone/>
            </a:pP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lang="pt-BR" sz="1800">
                <a:solidFill>
                  <a:srgbClr val="97E1F1"/>
                </a:solidFill>
                <a:latin typeface="Consolas"/>
                <a:ea typeface="Consolas"/>
                <a:cs typeface="Consolas"/>
                <a:sym typeface="Consolas"/>
              </a:rPr>
              <a:t>alert</a:t>
            </a: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lang="pt-BR" sz="1800">
                <a:solidFill>
                  <a:srgbClr val="DEE492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0" lang="pt-BR" sz="1800">
                <a:solidFill>
                  <a:srgbClr val="E7EE98"/>
                </a:solidFill>
                <a:latin typeface="Consolas"/>
                <a:ea typeface="Consolas"/>
                <a:cs typeface="Consolas"/>
                <a:sym typeface="Consolas"/>
              </a:rPr>
              <a:t>Por favor, digite um número válido.</a:t>
            </a:r>
            <a:r>
              <a:rPr b="0" lang="pt-BR" sz="1800">
                <a:solidFill>
                  <a:srgbClr val="DEE492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6F4"/>
              </a:buClr>
              <a:buSzPts val="1800"/>
              <a:buFont typeface="Consolas"/>
              <a:buNone/>
            </a:pP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lang="pt-BR" sz="1800">
                <a:solidFill>
                  <a:srgbClr val="F286C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b="0" lang="pt-BR" sz="1800">
                <a:solidFill>
                  <a:srgbClr val="7B7F8B"/>
                </a:solidFill>
                <a:latin typeface="Consolas"/>
                <a:ea typeface="Consolas"/>
                <a:cs typeface="Consolas"/>
                <a:sym typeface="Consolas"/>
              </a:rPr>
              <a:t>// -&gt; Esse return interrompe a função.</a:t>
            </a:r>
            <a:endParaRPr b="0" sz="1800">
              <a:solidFill>
                <a:srgbClr val="F6F6F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6F4"/>
              </a:buClr>
              <a:buSzPts val="1800"/>
              <a:buFont typeface="Consolas"/>
              <a:buNone/>
            </a:pP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   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6F4"/>
              </a:buClr>
              <a:buSzPts val="1800"/>
              <a:buFont typeface="Consolas"/>
              <a:buNone/>
            </a:pP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lang="pt-BR" sz="1800">
                <a:solidFill>
                  <a:srgbClr val="F286C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 (numero </a:t>
            </a:r>
            <a:r>
              <a:rPr b="0" lang="pt-BR" sz="1800">
                <a:solidFill>
                  <a:srgbClr val="F286C4"/>
                </a:solidFill>
                <a:latin typeface="Consolas"/>
                <a:ea typeface="Consolas"/>
                <a:cs typeface="Consolas"/>
                <a:sym typeface="Consolas"/>
              </a:rPr>
              <a:t>%</a:t>
            </a: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 sz="1800">
                <a:solidFill>
                  <a:srgbClr val="BF9EEE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 sz="1800">
                <a:solidFill>
                  <a:srgbClr val="F286C4"/>
                </a:solidFill>
                <a:latin typeface="Consolas"/>
                <a:ea typeface="Consolas"/>
                <a:cs typeface="Consolas"/>
                <a:sym typeface="Consolas"/>
              </a:rPr>
              <a:t>===</a:t>
            </a: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 sz="1800">
                <a:solidFill>
                  <a:srgbClr val="BF9EEE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6F4"/>
              </a:buClr>
              <a:buSzPts val="1800"/>
              <a:buFont typeface="Consolas"/>
              <a:buNone/>
            </a:pP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lang="pt-BR" sz="1800">
                <a:solidFill>
                  <a:srgbClr val="97E1F1"/>
                </a:solidFill>
                <a:latin typeface="Consolas"/>
                <a:ea typeface="Consolas"/>
                <a:cs typeface="Consolas"/>
                <a:sym typeface="Consolas"/>
              </a:rPr>
              <a:t>alert</a:t>
            </a: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(numero </a:t>
            </a:r>
            <a:r>
              <a:rPr b="0" lang="pt-BR" sz="1800">
                <a:solidFill>
                  <a:srgbClr val="F286C4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 sz="1800">
                <a:solidFill>
                  <a:srgbClr val="DEE492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0" lang="pt-BR" sz="1800">
                <a:solidFill>
                  <a:srgbClr val="E7EE98"/>
                </a:solidFill>
                <a:latin typeface="Consolas"/>
                <a:ea typeface="Consolas"/>
                <a:cs typeface="Consolas"/>
                <a:sym typeface="Consolas"/>
              </a:rPr>
              <a:t> é par.</a:t>
            </a:r>
            <a:r>
              <a:rPr b="0" lang="pt-BR" sz="1800">
                <a:solidFill>
                  <a:srgbClr val="DEE492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6F4"/>
              </a:buClr>
              <a:buSzPts val="1800"/>
              <a:buFont typeface="Consolas"/>
              <a:buNone/>
            </a:pP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    } </a:t>
            </a:r>
            <a:r>
              <a:rPr b="0" lang="pt-BR" sz="1800">
                <a:solidFill>
                  <a:srgbClr val="F286C4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6F4"/>
              </a:buClr>
              <a:buSzPts val="1800"/>
              <a:buFont typeface="Consolas"/>
              <a:buNone/>
            </a:pP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      </a:t>
            </a:r>
            <a:r>
              <a:rPr b="0" lang="pt-BR" sz="1800">
                <a:solidFill>
                  <a:srgbClr val="97E1F1"/>
                </a:solidFill>
                <a:latin typeface="Consolas"/>
                <a:ea typeface="Consolas"/>
                <a:cs typeface="Consolas"/>
                <a:sym typeface="Consolas"/>
              </a:rPr>
              <a:t>alert</a:t>
            </a: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(numero </a:t>
            </a:r>
            <a:r>
              <a:rPr b="0" lang="pt-BR" sz="1800">
                <a:solidFill>
                  <a:srgbClr val="F286C4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lang="pt-BR" sz="1800">
                <a:solidFill>
                  <a:srgbClr val="DEE492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0" lang="pt-BR" sz="1800">
                <a:solidFill>
                  <a:srgbClr val="E7EE98"/>
                </a:solidFill>
                <a:latin typeface="Consolas"/>
                <a:ea typeface="Consolas"/>
                <a:cs typeface="Consolas"/>
                <a:sym typeface="Consolas"/>
              </a:rPr>
              <a:t> é ímpar.</a:t>
            </a:r>
            <a:r>
              <a:rPr b="0" lang="pt-BR" sz="1800">
                <a:solidFill>
                  <a:srgbClr val="DEE492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6F4"/>
              </a:buClr>
              <a:buSzPts val="1800"/>
              <a:buFont typeface="Consolas"/>
              <a:buNone/>
            </a:pP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   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6F4"/>
              </a:buClr>
              <a:buSzPts val="1800"/>
              <a:buFont typeface="Consolas"/>
              <a:buNone/>
            </a:pP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 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6F4"/>
              </a:buClr>
              <a:buSzPts val="1800"/>
              <a:buFont typeface="Consolas"/>
              <a:buNone/>
            </a:pP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lang="pt-BR" sz="1800">
                <a:solidFill>
                  <a:srgbClr val="62E884"/>
                </a:solidFill>
                <a:latin typeface="Consolas"/>
                <a:ea typeface="Consolas"/>
                <a:cs typeface="Consolas"/>
                <a:sym typeface="Consolas"/>
              </a:rPr>
              <a:t>verificarPar</a:t>
            </a: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6F4"/>
              </a:buClr>
              <a:buSzPts val="1800"/>
              <a:buFont typeface="Consolas"/>
              <a:buNone/>
            </a:pP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lang="pt-BR" sz="1800">
                <a:solidFill>
                  <a:srgbClr val="62E884"/>
                </a:solidFill>
                <a:latin typeface="Consolas"/>
                <a:ea typeface="Consolas"/>
                <a:cs typeface="Consolas"/>
                <a:sym typeface="Consolas"/>
              </a:rPr>
              <a:t>verificarPar</a:t>
            </a: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0" lang="pt-BR" sz="1800">
                <a:solidFill>
                  <a:srgbClr val="62E884"/>
                </a:solidFill>
                <a:latin typeface="Consolas"/>
                <a:ea typeface="Consolas"/>
                <a:cs typeface="Consolas"/>
                <a:sym typeface="Consolas"/>
              </a:rPr>
              <a:t>verificarPar</a:t>
            </a:r>
            <a:r>
              <a:rPr b="0" lang="pt-BR" sz="1800">
                <a:solidFill>
                  <a:srgbClr val="F6F6F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Argumentos e parâmetros</a:t>
            </a:r>
            <a:endParaRPr/>
          </a:p>
        </p:txBody>
      </p:sp>
      <p:sp>
        <p:nvSpPr>
          <p:cNvPr id="120" name="Google Shape;120;p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1" name="Google Shape;121;p8"/>
          <p:cNvSpPr txBox="1"/>
          <p:nvPr/>
        </p:nvSpPr>
        <p:spPr>
          <a:xfrm>
            <a:off x="710883" y="1373588"/>
            <a:ext cx="6754217" cy="50966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função simples pode não precisar de nenhum dado para funcionar. Mas quando começamos a codificar 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funções mais complexas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nos deparamos com a necessidade de receber informações.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enviamos à função um ou mais valores para serem utilizados em suas operações, estamos falando dos </a:t>
            </a:r>
            <a:r>
              <a:rPr b="1" lang="pt-BR" sz="2400">
                <a:solidFill>
                  <a:schemeClr val="dk1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argumentos da função.</a:t>
            </a:r>
            <a:endParaRPr b="1" sz="2400">
              <a:solidFill>
                <a:schemeClr val="dk1"/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a função receba esses valores, usamos os </a:t>
            </a:r>
            <a:r>
              <a:rPr b="1" lang="pt-BR" sz="2400">
                <a:solidFill>
                  <a:schemeClr val="dk1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parâmetros da função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ficam entre os parênteses, logo após seu nome.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ogramação funcional em JavaScript – Acervo Lima" id="122" name="Google Shape;122;p8"/>
          <p:cNvPicPr preferRelativeResize="0"/>
          <p:nvPr/>
        </p:nvPicPr>
        <p:blipFill rotWithShape="1">
          <a:blip r:embed="rId3">
            <a:alphaModFix/>
          </a:blip>
          <a:srcRect b="0" l="9339" r="13665" t="0"/>
          <a:stretch/>
        </p:blipFill>
        <p:spPr>
          <a:xfrm>
            <a:off x="7658726" y="1196367"/>
            <a:ext cx="4488303" cy="40167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Argumentos e parâmetros</a:t>
            </a:r>
            <a:endParaRPr/>
          </a:p>
        </p:txBody>
      </p:sp>
      <p:sp>
        <p:nvSpPr>
          <p:cNvPr id="128" name="Google Shape;128;p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9" name="Google Shape;129;p9"/>
          <p:cNvSpPr txBox="1"/>
          <p:nvPr/>
        </p:nvSpPr>
        <p:spPr>
          <a:xfrm>
            <a:off x="635934" y="1432754"/>
            <a:ext cx="11296236" cy="28244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exemplo temos uma função que trabalha com dois parâmetros (palavra1 e palavra2) para gerar seu resultado. Seus valores são definidos na chamada da função. Na primeira chamada os argumentos são: “Olá” e “Dev”. Na segunda chamada os argumentos são “Estudando” e “JS”.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Nesse caso, a primeira string que enviamos é atribuída em palavra1, e a segunda string em palavra2; configurando as saídas segundo a lógica definida na função.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0" name="Google Shape;130;p9"/>
          <p:cNvGraphicFramePr/>
          <p:nvPr/>
        </p:nvGraphicFramePr>
        <p:xfrm>
          <a:off x="2303769" y="43163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{AB47428A-4845-41FA-BD52-609E609A0E03}</a:tableStyleId>
              </a:tblPr>
              <a:tblGrid>
                <a:gridCol w="7934525"/>
              </a:tblGrid>
              <a:tr h="15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unirPalavras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palavra1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palavra2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palavra1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palavra2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unirPalavras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Olá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Dev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-&gt; “Olá Dev”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0FA7B"/>
                        </a:buClr>
                        <a:buSzPts val="2000"/>
                        <a:buFont typeface="Consolas"/>
                        <a:buNone/>
                      </a:pP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unirPalavras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Estudando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-&gt; “Estudando JS”</a:t>
                      </a:r>
                      <a:endParaRPr sz="2000" u="none" cap="none" strike="noStrike">
                        <a:solidFill>
                          <a:srgbClr val="50FA7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/>
          <p:nvPr/>
        </p:nvSpPr>
        <p:spPr>
          <a:xfrm>
            <a:off x="1926867" y="918434"/>
            <a:ext cx="9559200" cy="892576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667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Exemplo</a:t>
            </a:r>
            <a:endParaRPr b="1" sz="4667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6" name="Google Shape;136;p10"/>
          <p:cNvSpPr txBox="1"/>
          <p:nvPr/>
        </p:nvSpPr>
        <p:spPr>
          <a:xfrm>
            <a:off x="316339" y="2168134"/>
            <a:ext cx="3086428" cy="759078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33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Somar e exibir</a:t>
            </a:r>
            <a:endParaRPr b="1" sz="3333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37" name="Google Shape;137;p10"/>
          <p:cNvGrpSpPr/>
          <p:nvPr/>
        </p:nvGrpSpPr>
        <p:grpSpPr>
          <a:xfrm>
            <a:off x="631135" y="826031"/>
            <a:ext cx="985200" cy="985200"/>
            <a:chOff x="473351" y="619523"/>
            <a:chExt cx="738900" cy="738900"/>
          </a:xfrm>
        </p:grpSpPr>
        <p:sp>
          <p:nvSpPr>
            <p:cNvPr id="138" name="Google Shape;138;p10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9" name="Google Shape;139;p10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40" name="Google Shape;140;p10"/>
          <p:cNvGraphicFramePr/>
          <p:nvPr/>
        </p:nvGraphicFramePr>
        <p:xfrm>
          <a:off x="3385305" y="19157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{AB47428A-4845-41FA-BD52-609E609A0E03}</a:tableStyleId>
              </a:tblPr>
              <a:tblGrid>
                <a:gridCol w="7636075"/>
              </a:tblGrid>
              <a:tr h="4043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272A4"/>
                        </a:buClr>
                        <a:buSzPts val="1800"/>
                        <a:buFont typeface="Consolas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//Declaração de variável para armazenar o resultado da soma</a:t>
                      </a:r>
                      <a:endParaRPr b="0"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1800"/>
                        <a:buFont typeface="Consolas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resultado </a:t>
                      </a: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1800"/>
                        <a:buFont typeface="Consolas"/>
                        <a:buNone/>
                      </a:pPr>
                      <a:b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b="0" lang="pt-BR" sz="18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//Função que soma dois números e atribui o resultado</a:t>
                      </a:r>
                      <a:endParaRPr b="0"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1800"/>
                        <a:buFont typeface="Consolas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somar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primeiroNumero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b="0"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segundoNumero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1800"/>
                        <a:buFont typeface="Consolas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resultado </a:t>
                      </a: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primeiroNumero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segundoNumero</a:t>
                      </a:r>
                      <a:endParaRPr b="0"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1800"/>
                        <a:buFont typeface="Consolas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1800"/>
                        <a:buFont typeface="Consolas"/>
                        <a:buNone/>
                      </a:pPr>
                      <a:b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b="0" lang="pt-BR" sz="18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//Função que mostra o resultado no console</a:t>
                      </a:r>
                      <a:endParaRPr b="0"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1800"/>
                        <a:buFont typeface="Consolas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1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mostrar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mensagem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1800"/>
                        <a:buFont typeface="Consolas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1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mensagem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1800"/>
                        <a:buFont typeface="Consolas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1800"/>
                        <a:buFont typeface="Consolas"/>
                        <a:buNone/>
                      </a:pPr>
                      <a:b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b="0" lang="pt-BR" sz="18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//Chamamos primeiro para somar e depois para mostrar</a:t>
                      </a:r>
                      <a:endParaRPr b="0"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0FA7B"/>
                        </a:buClr>
                        <a:buSzPts val="1800"/>
                        <a:buFont typeface="Consolas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somar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b="0"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0FA7B"/>
                        </a:buClr>
                        <a:buSzPts val="1800"/>
                        <a:buFont typeface="Consolas"/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mostrar</a:t>
                      </a:r>
                      <a:r>
                        <a:rPr b="0"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(resultado);</a:t>
                      </a:r>
                      <a:endParaRPr b="0"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71125" marB="71125" marR="71125" marL="71125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sp>
        <p:nvSpPr>
          <p:cNvPr id="141" name="Google Shape;141;p1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Resultado de uma Função</a:t>
            </a:r>
            <a:endParaRPr/>
          </a:p>
        </p:txBody>
      </p:sp>
      <p:sp>
        <p:nvSpPr>
          <p:cNvPr id="147" name="Google Shape;147;p11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8" name="Google Shape;148;p11"/>
          <p:cNvSpPr txBox="1"/>
          <p:nvPr/>
        </p:nvSpPr>
        <p:spPr>
          <a:xfrm>
            <a:off x="710884" y="1429808"/>
            <a:ext cx="10996434" cy="1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exemplo anterior, somamos dois números a uma variável declarada anteriormente. No entanto, as </a:t>
            </a:r>
            <a:r>
              <a:rPr lang="pt-BR" sz="2400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funções podem gerar um valor de retorno usando a palavra </a:t>
            </a:r>
            <a:r>
              <a:rPr b="1" lang="pt-BR" sz="2400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lang="pt-BR" sz="2400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, obtendo esse valor quando a função é chamada.</a:t>
            </a:r>
            <a:endParaRPr sz="2400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9" name="Google Shape;149;p11"/>
          <p:cNvGraphicFramePr/>
          <p:nvPr/>
        </p:nvGraphicFramePr>
        <p:xfrm>
          <a:off x="990356" y="28227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{AB47428A-4845-41FA-BD52-609E609A0E03}</a:tableStyleId>
              </a:tblPr>
              <a:tblGrid>
                <a:gridCol w="9517750"/>
              </a:tblGrid>
              <a:tr h="53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2000"/>
                        <a:buFont typeface="Consolas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somar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primeiroNumero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b="0"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segundoNumero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000"/>
                        <a:buFont typeface="Consolas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primeiroNumero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segundoNumero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000"/>
                        <a:buFont typeface="Consolas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2000"/>
                        <a:buFont typeface="Consolas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resultado 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somar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b="0"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sp>
        <p:nvSpPr>
          <p:cNvPr id="150" name="Google Shape;150;p11"/>
          <p:cNvSpPr txBox="1"/>
          <p:nvPr/>
        </p:nvSpPr>
        <p:spPr>
          <a:xfrm>
            <a:off x="838199" y="4249972"/>
            <a:ext cx="11183911" cy="15662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função pode se comportar como uma operação que gera valores (como nas operações matemáticas e lógicas anteriores). No espaço onde se chama a função, é gerado um novo valor: </a:t>
            </a:r>
            <a:r>
              <a:rPr lang="pt-BR" sz="2400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esse valor é aquele definido pelo </a:t>
            </a:r>
            <a:r>
              <a:rPr b="1" lang="pt-BR" sz="2400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return </a:t>
            </a:r>
            <a:r>
              <a:rPr lang="pt-BR" sz="2400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da função.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1" name="Google Shape;151;p11"/>
          <p:cNvGraphicFramePr/>
          <p:nvPr/>
        </p:nvGraphicFramePr>
        <p:xfrm>
          <a:off x="2937724" y="564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{AB47428A-4845-41FA-BD52-609E609A0E03}</a:tableStyleId>
              </a:tblPr>
              <a:tblGrid>
                <a:gridCol w="5248725"/>
              </a:tblGrid>
              <a:tr h="53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resultado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somar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000"/>
                        <a:buFont typeface="Consolas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(resultado)  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⇒ 13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 txBox="1"/>
          <p:nvPr/>
        </p:nvSpPr>
        <p:spPr>
          <a:xfrm>
            <a:off x="1926867" y="918434"/>
            <a:ext cx="9559200" cy="892576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667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Exemplo: Calculadora</a:t>
            </a:r>
            <a:endParaRPr b="1" sz="4667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57" name="Google Shape;157;p12"/>
          <p:cNvGrpSpPr/>
          <p:nvPr/>
        </p:nvGrpSpPr>
        <p:grpSpPr>
          <a:xfrm>
            <a:off x="631135" y="826031"/>
            <a:ext cx="985200" cy="985200"/>
            <a:chOff x="473351" y="619523"/>
            <a:chExt cx="738900" cy="738900"/>
          </a:xfrm>
        </p:grpSpPr>
        <p:sp>
          <p:nvSpPr>
            <p:cNvPr id="158" name="Google Shape;158;p12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9" name="Google Shape;159;p12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60" name="Google Shape;160;p12"/>
          <p:cNvGraphicFramePr/>
          <p:nvPr/>
        </p:nvGraphicFramePr>
        <p:xfrm>
          <a:off x="1926867" y="17152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{AB47428A-4845-41FA-BD52-609E609A0E03}</a:tableStyleId>
              </a:tblPr>
              <a:tblGrid>
                <a:gridCol w="8535900"/>
              </a:tblGrid>
              <a:tr h="4621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calculadora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primeiroNumero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segundoNumero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operacao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operacao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primeiroNumero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segundoNumero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operacao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primeiroNumero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segundoNumero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operacao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primeiroNumero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segundoNumero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operacao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primeiroNumero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segundoNumero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D93F9"/>
                        </a:buClr>
                        <a:buSzPts val="1800"/>
                        <a:buFont typeface="Consolas"/>
                        <a:buNone/>
                      </a:pPr>
                      <a:r>
                        <a:rPr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calculadora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));</a:t>
                      </a:r>
                      <a:endParaRPr sz="1800" u="none" cap="none" strike="noStrike">
                        <a:solidFill>
                          <a:srgbClr val="6272A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71125" marB="71125" marR="71125" marL="71125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sp>
        <p:nvSpPr>
          <p:cNvPr id="161" name="Google Shape;161;p1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13"/>
          <p:cNvGrpSpPr/>
          <p:nvPr/>
        </p:nvGrpSpPr>
        <p:grpSpPr>
          <a:xfrm>
            <a:off x="998383" y="644082"/>
            <a:ext cx="535357" cy="535357"/>
            <a:chOff x="974706" y="2467173"/>
            <a:chExt cx="738900" cy="738900"/>
          </a:xfrm>
        </p:grpSpPr>
        <p:sp>
          <p:nvSpPr>
            <p:cNvPr id="167" name="Google Shape;167;p13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8" name="Google Shape;168;p13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9" name="Google Shape;169;p13"/>
          <p:cNvSpPr txBox="1"/>
          <p:nvPr/>
        </p:nvSpPr>
        <p:spPr>
          <a:xfrm>
            <a:off x="668600" y="1442334"/>
            <a:ext cx="6649600" cy="994078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praticar</a:t>
            </a:r>
            <a:endParaRPr b="1" sz="5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3"/>
          <p:cNvSpPr txBox="1"/>
          <p:nvPr/>
        </p:nvSpPr>
        <p:spPr>
          <a:xfrm>
            <a:off x="790133" y="2427534"/>
            <a:ext cx="7562000" cy="3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uma função que faz subtrações: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089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Receba dois números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0958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089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Verifique qual é o número maior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0958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089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Faça uma subtração do maior pelo menor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0958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089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Exiba o resultado com o console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3"/>
          <p:cNvSpPr txBox="1"/>
          <p:nvPr/>
        </p:nvSpPr>
        <p:spPr>
          <a:xfrm>
            <a:off x="1570513" y="624367"/>
            <a:ext cx="3281600" cy="57441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33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ATIVIDADE EM SALA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Funções Anônimas</a:t>
            </a:r>
            <a:endParaRPr/>
          </a:p>
        </p:txBody>
      </p:sp>
      <p:sp>
        <p:nvSpPr>
          <p:cNvPr id="177" name="Google Shape;177;p1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8" name="Google Shape;178;p14"/>
          <p:cNvSpPr txBox="1"/>
          <p:nvPr/>
        </p:nvSpPr>
        <p:spPr>
          <a:xfrm>
            <a:off x="838200" y="1373588"/>
            <a:ext cx="10659256" cy="20554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função anônima 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uma função que é definida </a:t>
            </a:r>
            <a:r>
              <a:rPr b="1" lang="pt-BR" sz="2400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sem nome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é utilizada para ser enviada como parâmetro ou atribuída a uma variável.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caso de atribuí-la a uma variável, ela pode ser chamada usando o identificador da variável declarada.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9" name="Google Shape;179;p14"/>
          <p:cNvGraphicFramePr/>
          <p:nvPr/>
        </p:nvGraphicFramePr>
        <p:xfrm>
          <a:off x="1039892" y="3904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{AB47428A-4845-41FA-BD52-609E609A0E03}</a:tableStyleId>
              </a:tblPr>
              <a:tblGrid>
                <a:gridCol w="8433900"/>
              </a:tblGrid>
              <a:tr h="53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subtrair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400"/>
                        <a:buFont typeface="Consolas"/>
                        <a:buNone/>
                      </a:pPr>
                      <a:b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D93F9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subtrair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</a:t>
                      </a:r>
                      <a:endParaRPr sz="24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Arrow Function (Funções seta)</a:t>
            </a:r>
            <a:endParaRPr/>
          </a:p>
        </p:txBody>
      </p:sp>
      <p:sp>
        <p:nvSpPr>
          <p:cNvPr id="185" name="Google Shape;185;p1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743100" y="1564718"/>
            <a:ext cx="10799326" cy="1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Identificamos as arrow functions como </a:t>
            </a:r>
            <a:r>
              <a:rPr b="1" lang="pt-BR" sz="2400">
                <a:solidFill>
                  <a:schemeClr val="dk1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funções anônimas de sintaxe simplificada.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Estão disponíveis a partir da versão ES6 do JavaScript e não usam a palavra 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mas sim </a:t>
            </a:r>
            <a:r>
              <a:rPr b="1" lang="pt-BR" sz="2400">
                <a:solidFill>
                  <a:schemeClr val="dk1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=&gt; (seta)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entre os parâmetros e o bloco.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7" name="Google Shape;187;p15"/>
          <p:cNvGraphicFramePr/>
          <p:nvPr/>
        </p:nvGraphicFramePr>
        <p:xfrm>
          <a:off x="838200" y="32924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{AB47428A-4845-41FA-BD52-609E609A0E03}</a:tableStyleId>
              </a:tblPr>
              <a:tblGrid>
                <a:gridCol w="9902925"/>
              </a:tblGrid>
              <a:tr h="4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}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272A4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//Se for uma função de uma só linha com um retorno, não é necessário escrever o corpo. 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subtrair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D93F9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D93F9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subtrair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</a:t>
                      </a:r>
                      <a:endParaRPr sz="24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 txBox="1"/>
          <p:nvPr/>
        </p:nvSpPr>
        <p:spPr>
          <a:xfrm>
            <a:off x="1926867" y="918434"/>
            <a:ext cx="9559200" cy="892576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667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Exemplo: Calculadora de preço</a:t>
            </a:r>
            <a:endParaRPr b="1" sz="4667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93" name="Google Shape;193;p16"/>
          <p:cNvGrpSpPr/>
          <p:nvPr/>
        </p:nvGrpSpPr>
        <p:grpSpPr>
          <a:xfrm>
            <a:off x="631135" y="826031"/>
            <a:ext cx="985200" cy="985200"/>
            <a:chOff x="473351" y="619523"/>
            <a:chExt cx="738900" cy="738900"/>
          </a:xfrm>
        </p:grpSpPr>
        <p:sp>
          <p:nvSpPr>
            <p:cNvPr id="194" name="Google Shape;194;p16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95" name="Google Shape;195;p16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96" name="Google Shape;196;p16"/>
          <p:cNvGraphicFramePr/>
          <p:nvPr/>
        </p:nvGraphicFramePr>
        <p:xfrm>
          <a:off x="2466870" y="189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{AB47428A-4845-41FA-BD52-609E609A0E03}</a:tableStyleId>
              </a:tblPr>
              <a:tblGrid>
                <a:gridCol w="7258225"/>
              </a:tblGrid>
              <a:tr h="477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subtrair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calcularICMS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0.21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400"/>
                        <a:buFont typeface="Consolas"/>
                        <a:buNone/>
                      </a:pPr>
                      <a:b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precoProduto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500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desconto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8F2"/>
                        </a:buClr>
                        <a:buSzPts val="2400"/>
                        <a:buFont typeface="Consolas"/>
                        <a:buNone/>
                      </a:pPr>
                      <a:b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//Calculo o PrecoProduto + ICMS - Desconto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icms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calcularICMS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(precoProduto)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soma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(precoProduto, icms)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9C6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novoPreco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subtrair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(soma, desconto)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D93F9"/>
                        </a:buClr>
                        <a:buSzPts val="2400"/>
                        <a:buFont typeface="Consolas"/>
                        <a:buNone/>
                      </a:pP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(novoPreco)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71125" marB="71125" marR="71125" marL="71125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sp>
        <p:nvSpPr>
          <p:cNvPr id="197" name="Google Shape;197;p1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17"/>
          <p:cNvGrpSpPr/>
          <p:nvPr/>
        </p:nvGrpSpPr>
        <p:grpSpPr>
          <a:xfrm>
            <a:off x="1058343" y="644082"/>
            <a:ext cx="535357" cy="535357"/>
            <a:chOff x="974706" y="2467173"/>
            <a:chExt cx="738900" cy="738900"/>
          </a:xfrm>
        </p:grpSpPr>
        <p:sp>
          <p:nvSpPr>
            <p:cNvPr id="203" name="Google Shape;203;p17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04" name="Google Shape;204;p17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5" name="Google Shape;205;p17"/>
          <p:cNvSpPr txBox="1"/>
          <p:nvPr/>
        </p:nvSpPr>
        <p:spPr>
          <a:xfrm>
            <a:off x="668600" y="1442334"/>
            <a:ext cx="6649600" cy="984781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praticar</a:t>
            </a:r>
            <a:endParaRPr b="1" sz="5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7"/>
          <p:cNvSpPr txBox="1"/>
          <p:nvPr/>
        </p:nvSpPr>
        <p:spPr>
          <a:xfrm>
            <a:off x="790133" y="2427534"/>
            <a:ext cx="7562000" cy="270839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-419089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Refaça o exemplo da calculadora usando apenas arrow functions.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0958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089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Exiba o resultado com o alert.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0958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0958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7"/>
          <p:cNvSpPr txBox="1"/>
          <p:nvPr/>
        </p:nvSpPr>
        <p:spPr>
          <a:xfrm>
            <a:off x="1630473" y="624367"/>
            <a:ext cx="3281600" cy="57441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33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ATIVIDADE EM SALA</a:t>
            </a:r>
            <a:endParaRPr sz="24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8" name="Google Shape;208;p1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18"/>
          <p:cNvGrpSpPr/>
          <p:nvPr/>
        </p:nvGrpSpPr>
        <p:grpSpPr>
          <a:xfrm>
            <a:off x="5603400" y="1325564"/>
            <a:ext cx="985200" cy="985200"/>
            <a:chOff x="5323100" y="2467173"/>
            <a:chExt cx="738900" cy="738900"/>
          </a:xfrm>
        </p:grpSpPr>
        <p:sp>
          <p:nvSpPr>
            <p:cNvPr id="214" name="Google Shape;214;p18"/>
            <p:cNvSpPr/>
            <p:nvPr/>
          </p:nvSpPr>
          <p:spPr>
            <a:xfrm>
              <a:off x="5323100" y="2467173"/>
              <a:ext cx="738900" cy="738900"/>
            </a:xfrm>
            <a:prstGeom prst="ellipse">
              <a:avLst/>
            </a:prstGeom>
            <a:solidFill>
              <a:srgbClr val="393B4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5" name="Google Shape;215;p18" title="ícono de desafío complementari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470107" y="2622261"/>
              <a:ext cx="428721" cy="4287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6" name="Google Shape;216;p18"/>
          <p:cNvSpPr txBox="1"/>
          <p:nvPr/>
        </p:nvSpPr>
        <p:spPr>
          <a:xfrm>
            <a:off x="1948400" y="2944834"/>
            <a:ext cx="8295200" cy="172338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333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Resolver um processo complexo</a:t>
            </a:r>
            <a:endParaRPr b="1" sz="5333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7" name="Google Shape;217;p18"/>
          <p:cNvSpPr txBox="1"/>
          <p:nvPr/>
        </p:nvSpPr>
        <p:spPr>
          <a:xfrm>
            <a:off x="1316400" y="4585668"/>
            <a:ext cx="9559200" cy="65661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67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DESAFIO COMPLEMENTAR</a:t>
            </a:r>
            <a:endParaRPr sz="2667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8" name="Google Shape;218;p1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oogle Shape;223;p19"/>
          <p:cNvGrpSpPr/>
          <p:nvPr/>
        </p:nvGrpSpPr>
        <p:grpSpPr>
          <a:xfrm>
            <a:off x="888840" y="556106"/>
            <a:ext cx="574765" cy="574765"/>
            <a:chOff x="5323100" y="2467173"/>
            <a:chExt cx="738900" cy="738900"/>
          </a:xfrm>
        </p:grpSpPr>
        <p:sp>
          <p:nvSpPr>
            <p:cNvPr id="224" name="Google Shape;224;p19"/>
            <p:cNvSpPr/>
            <p:nvPr/>
          </p:nvSpPr>
          <p:spPr>
            <a:xfrm>
              <a:off x="5323100" y="2467173"/>
              <a:ext cx="738900" cy="738900"/>
            </a:xfrm>
            <a:prstGeom prst="ellipse">
              <a:avLst/>
            </a:prstGeom>
            <a:solidFill>
              <a:srgbClr val="393B4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5" name="Google Shape;225;p19" title="ícono de desafío complementari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470107" y="2622261"/>
              <a:ext cx="428721" cy="4287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6" name="Google Shape;226;p19"/>
          <p:cNvSpPr txBox="1"/>
          <p:nvPr/>
        </p:nvSpPr>
        <p:spPr>
          <a:xfrm>
            <a:off x="1495563" y="556077"/>
            <a:ext cx="3841200" cy="57441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3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DESAFIO COMPLEMENTAR</a:t>
            </a:r>
            <a:endParaRPr sz="1867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7" name="Google Shape;227;p19"/>
          <p:cNvSpPr txBox="1"/>
          <p:nvPr/>
        </p:nvSpPr>
        <p:spPr>
          <a:xfrm>
            <a:off x="6036767" y="2111493"/>
            <a:ext cx="5112800" cy="300636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Exemplos:</a:t>
            </a:r>
            <a:endParaRPr b="1" sz="18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4855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DM Sans"/>
              <a:buChar char="✓"/>
            </a:pPr>
            <a:r>
              <a:rPr lang="pt-BR" sz="173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Cálculo do ICMS: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0431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3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1) Inserir preço de custo </a:t>
            </a:r>
            <a:endParaRPr sz="1733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80431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3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2) Somar ICMS </a:t>
            </a:r>
            <a:endParaRPr sz="1733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80431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3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3) Mostrar preço calculado.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9472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3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4855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DM Sans"/>
              <a:buChar char="✓"/>
            </a:pPr>
            <a:r>
              <a:rPr lang="pt-BR" sz="173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Determinar se dois número são múltiplos: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0431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3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1) Inserir números a serem verificados </a:t>
            </a:r>
            <a:endParaRPr sz="1733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80431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3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2) Verificar se um é múltiplo do outro </a:t>
            </a:r>
            <a:endParaRPr sz="1733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80431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3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3) Mostrar resultado.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 txBox="1"/>
          <p:nvPr/>
        </p:nvSpPr>
        <p:spPr>
          <a:xfrm>
            <a:off x="609800" y="2111493"/>
            <a:ext cx="5112800" cy="459301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3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Instrução:</a:t>
            </a:r>
            <a:endParaRPr sz="1733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4855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DM Sans"/>
              <a:buChar char="✓"/>
            </a:pPr>
            <a:r>
              <a:rPr lang="pt-BR" sz="173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Codifique ao menos três funções cujas instruções permitam resolver um problema particular, segmentado em tarefas. </a:t>
            </a:r>
            <a:endParaRPr sz="1733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4855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DM Sans"/>
              <a:buChar char="✓"/>
            </a:pPr>
            <a:r>
              <a:rPr lang="pt-BR" sz="173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informação a ser processada deve ser inserida pelo usuário, e o resultado do processamento será visualizado em uma saída (alert ou console.log).</a:t>
            </a:r>
            <a:endParaRPr sz="1733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791" lvl="0" marL="60958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3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3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Recomendação: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33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4855" lvl="0" marL="609585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DM Sans"/>
              <a:buChar char="✓"/>
            </a:pPr>
            <a:r>
              <a:rPr lang="pt-BR" sz="173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Para realizar essa tarefa, sugero pensar em um processo complexo, decompô-lo em ao menos três partes e criar funções que se encarreguem de cada uma dessas partes. </a:t>
            </a:r>
            <a:endParaRPr sz="1733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605800" y="1175847"/>
            <a:ext cx="109804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Resolver um processo complexo</a:t>
            </a:r>
            <a:endParaRPr b="1" sz="52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0" name="Google Shape;230;p1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Referências:</a:t>
            </a:r>
            <a:endParaRPr/>
          </a:p>
        </p:txBody>
      </p:sp>
      <p:sp>
        <p:nvSpPr>
          <p:cNvPr id="236" name="Google Shape;236;p20"/>
          <p:cNvSpPr txBox="1"/>
          <p:nvPr>
            <p:ph idx="1" type="body"/>
          </p:nvPr>
        </p:nvSpPr>
        <p:spPr>
          <a:xfrm>
            <a:off x="838200" y="1493521"/>
            <a:ext cx="10515600" cy="4976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Char char="✓"/>
            </a:pPr>
            <a:r>
              <a:rPr lang="pt-BR" u="sng">
                <a:solidFill>
                  <a:schemeClr val="hlink"/>
                </a:solidFill>
                <a:hlinkClick r:id="rId3"/>
              </a:rPr>
              <a:t>Funções</a:t>
            </a:r>
            <a:r>
              <a:rPr lang="pt-BR"/>
              <a:t> | Developer Mozilla</a:t>
            </a:r>
            <a:endParaRPr/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Char char="✓"/>
            </a:pPr>
            <a:r>
              <a:rPr lang="pt-BR" u="sng">
                <a:solidFill>
                  <a:schemeClr val="hlink"/>
                </a:solidFill>
                <a:hlinkClick r:id="rId4"/>
              </a:rPr>
              <a:t>Entendendo as funções e suas formas de uso </a:t>
            </a:r>
            <a:r>
              <a:rPr lang="pt-BR"/>
              <a:t>| React Brasil</a:t>
            </a:r>
            <a:endParaRPr/>
          </a:p>
        </p:txBody>
      </p:sp>
      <p:sp>
        <p:nvSpPr>
          <p:cNvPr id="237" name="Google Shape;237;p2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"/>
          <p:cNvSpPr txBox="1"/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Copyright © 2025</a:t>
            </a:r>
            <a:br>
              <a:rPr lang="pt-BR">
                <a:latin typeface="Arial"/>
                <a:ea typeface="Arial"/>
                <a:cs typeface="Arial"/>
                <a:sym typeface="Arial"/>
              </a:rPr>
            </a:br>
            <a:r>
              <a:rPr lang="pt-BR"/>
              <a:t>Prof. Lucas Sousa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2022-12-26T16:03:00Z</dcterms:created>
  <dc:creator>Allen Fernando Oberleitner Lima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B96E02AB6EE14174B6F4E9A4A472FBCF_12</vt:lpwstr>
  </property>
  <property fmtid="{D5CDD505-2E9C-101B-9397-08002B2CF9AE}" pid="3" name="KSOProductBuildVer">
    <vt:lpwstr>1046-12.2.0.16731</vt:lpwstr>
  </property>
</Properties>
</file>