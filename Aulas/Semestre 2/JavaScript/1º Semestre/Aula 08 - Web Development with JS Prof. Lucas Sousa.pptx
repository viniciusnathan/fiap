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Helvetica Neue"/>
      <p:regular r:id="rId38"/>
      <p:bold r:id="rId39"/>
      <p:italic r:id="rId40"/>
      <p:boldItalic r:id="rId41"/>
    </p:embeddedFont>
    <p:embeddedFont>
      <p:font typeface="Helvetica Neue Light"/>
      <p:regular r:id="rId42"/>
      <p:bold r:id="rId43"/>
      <p:italic r:id="rId44"/>
      <p:boldItalic r:id="rId45"/>
    </p:embeddedFont>
    <p:embeddedFont>
      <p:font typeface="DM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gXdyVp7EbA80vF2IbtMvvd3Kw+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850B9C-13BD-47F8-AD0D-0D9FDF8C848F}">
  <a:tblStyle styleId="{92850B9C-13BD-47F8-AD0D-0D9FDF8C84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italic.fntdata"/><Relationship Id="rId42" Type="http://schemas.openxmlformats.org/officeDocument/2006/relationships/font" Target="fonts/HelveticaNeueLight-regular.fntdata"/><Relationship Id="rId41" Type="http://schemas.openxmlformats.org/officeDocument/2006/relationships/font" Target="fonts/HelveticaNeue-boldItalic.fntdata"/><Relationship Id="rId44" Type="http://schemas.openxmlformats.org/officeDocument/2006/relationships/font" Target="fonts/HelveticaNeueLight-italic.fntdata"/><Relationship Id="rId43" Type="http://schemas.openxmlformats.org/officeDocument/2006/relationships/font" Target="fonts/HelveticaNeueLight-bold.fntdata"/><Relationship Id="rId46" Type="http://schemas.openxmlformats.org/officeDocument/2006/relationships/font" Target="fonts/DMSans-regular.fntdata"/><Relationship Id="rId45" Type="http://schemas.openxmlformats.org/officeDocument/2006/relationships/font" Target="fonts/HelveticaNeue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DMSans-italic.fntdata"/><Relationship Id="rId47" Type="http://schemas.openxmlformats.org/officeDocument/2006/relationships/font" Target="fonts/DMSans-bold.fntdata"/><Relationship Id="rId49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HelveticaNeue-bold.fntdata"/><Relationship Id="rId38" Type="http://schemas.openxmlformats.org/officeDocument/2006/relationships/font" Target="fonts/HelveticaNeue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5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5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35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6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03-B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9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5" name="Google Shape;4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7" name="Google Shape;47;p39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i="0" sz="48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5333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51" name="Google Shape;51;p41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667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pic>
        <p:nvPicPr>
          <p:cNvPr id="52" name="Google Shape;52;p41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 1">
  <p:cSld name="Fondo blanco 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42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4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Fondo blanco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44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eveloper.mozilla.org/pt-BR/docs/Web/JavaScript/Reference/Global_Objects/String" TargetMode="External"/><Relationship Id="rId4" Type="http://schemas.openxmlformats.org/officeDocument/2006/relationships/hyperlink" Target="https://www.devmedia.com.br/javascript-arrays/4079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72" name="Google Shape;72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73" name="Google Shape;73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Arrays</a:t>
            </a:r>
            <a:endParaRPr/>
          </a:p>
        </p:txBody>
      </p:sp>
      <p:sp>
        <p:nvSpPr>
          <p:cNvPr id="79" name="Google Shape;79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 que é um Array</a:t>
            </a:r>
            <a:endParaRPr/>
          </a:p>
        </p:txBody>
      </p:sp>
      <p:sp>
        <p:nvSpPr>
          <p:cNvPr id="85" name="Google Shape;85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 b="0" l="2801" r="4123" t="0"/>
          <a:stretch/>
        </p:blipFill>
        <p:spPr>
          <a:xfrm>
            <a:off x="6719164" y="0"/>
            <a:ext cx="54728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/>
          <p:nvPr/>
        </p:nvSpPr>
        <p:spPr>
          <a:xfrm>
            <a:off x="838200" y="1859354"/>
            <a:ext cx="5710084" cy="31392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Array é um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tipo de dado que serve para armazenar valores sequencialmente em forma de lista. </a:t>
            </a:r>
            <a:endParaRPr b="1" i="0" sz="2400" u="none" cap="none" strike="noStrike">
              <a:solidFill>
                <a:srgbClr val="000000"/>
              </a:solidFill>
              <a:highlight>
                <a:srgbClr val="DEFC5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 ser uma coleção de números, strings, booleanos, objetos ou até mesmo uma lista de listas.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 que é um Array</a:t>
            </a:r>
            <a:endParaRPr/>
          </a:p>
        </p:txBody>
      </p:sp>
      <p:sp>
        <p:nvSpPr>
          <p:cNvPr id="93" name="Google Shape;93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827137" y="1452673"/>
            <a:ext cx="10945761" cy="2031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array podem ser distintos, e é possível acrescentar ou excluir elementos a qualquer momento.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elementos do array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têm um índice (index)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vai de 0 (o primeiro elemento do array) até o último elemento.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mburg Coding School | Arrays und Schleifen"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208" y="3730368"/>
            <a:ext cx="9110663" cy="2739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Declaração do Array</a:t>
            </a:r>
            <a:endParaRPr/>
          </a:p>
        </p:txBody>
      </p:sp>
      <p:sp>
        <p:nvSpPr>
          <p:cNvPr id="101" name="Google Shape;101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02" name="Google Shape;102;p6"/>
          <p:cNvGraphicFramePr/>
          <p:nvPr/>
        </p:nvGraphicFramePr>
        <p:xfrm>
          <a:off x="6301119" y="137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5220925"/>
              </a:tblGrid>
              <a:tr h="279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Declaração de array vazio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Declaração de array com números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arrayB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Declaração de array com strings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arrayC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C1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C2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C3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Declaração de array com booleanos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Declaração de array misto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C4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103" name="Google Shape;103;p6"/>
          <p:cNvSpPr txBox="1"/>
          <p:nvPr/>
        </p:nvSpPr>
        <p:spPr>
          <a:xfrm>
            <a:off x="669953" y="1674688"/>
            <a:ext cx="5619048" cy="35086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declarar uma variável e atribuir um array, utilizamos os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colchetes ([ ])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dentro deles definimos todos os valores separados por vírgula.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Os arrays do JavaScript começam sempre na posição 0.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 array que tenha, por exemplo, 10 elementos, terá posições de 0 a 9.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Acesso ao Array</a:t>
            </a:r>
            <a:endParaRPr/>
          </a:p>
        </p:txBody>
      </p:sp>
      <p:sp>
        <p:nvSpPr>
          <p:cNvPr id="109" name="Google Shape;109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10" name="Google Shape;110;p7"/>
          <p:cNvGraphicFramePr/>
          <p:nvPr/>
        </p:nvGraphicFramePr>
        <p:xfrm>
          <a:off x="6472083" y="19574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5518350"/>
              </a:tblGrid>
              <a:tr h="140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1; 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4; 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(resultado)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5;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111" name="Google Shape;111;p7"/>
          <p:cNvSpPr txBox="1"/>
          <p:nvPr/>
        </p:nvSpPr>
        <p:spPr>
          <a:xfrm>
            <a:off x="838200" y="1957428"/>
            <a:ext cx="5257800" cy="2031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elemento dentro do array têm um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determina sua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posição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Assim, é possível acessar os elementos através de sua posição: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Percorrer um Array</a:t>
            </a:r>
            <a:endParaRPr/>
          </a:p>
        </p:txBody>
      </p:sp>
      <p:sp>
        <p:nvSpPr>
          <p:cNvPr id="117" name="Google Shape;117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734960" y="1723785"/>
            <a:ext cx="11034253" cy="2031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Dizemos que estamos percorrendo um array quando utilizamos um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laço (loop ou ciclo) para acessar separadamente cada elemento.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arrays são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 iteráveis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JavaScript, o que permite usar diferentes estruturas para iterar sobre eles.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9" name="Google Shape;119;p8"/>
          <p:cNvGraphicFramePr/>
          <p:nvPr/>
        </p:nvGraphicFramePr>
        <p:xfrm>
          <a:off x="1988576" y="4105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7155425"/>
              </a:tblGrid>
              <a:tr h="119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index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index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index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[index]);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Array: Métodos e Propriedades</a:t>
            </a:r>
            <a:endParaRPr/>
          </a:p>
        </p:txBody>
      </p:sp>
      <p:sp>
        <p:nvSpPr>
          <p:cNvPr id="125" name="Google Shape;125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Length</a:t>
            </a:r>
            <a:endParaRPr/>
          </a:p>
        </p:txBody>
      </p:sp>
      <p:sp>
        <p:nvSpPr>
          <p:cNvPr id="131" name="Google Shape;131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" name="Google Shape;132;p10"/>
          <p:cNvSpPr txBox="1"/>
          <p:nvPr/>
        </p:nvSpPr>
        <p:spPr>
          <a:xfrm>
            <a:off x="838199" y="1605087"/>
            <a:ext cx="11063749" cy="2400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 mesma forma que em uma string, a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propriedade length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 permite obter o comprimento de um array, ou seja, identificar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quantos elementos ele tem.</a:t>
            </a:r>
            <a:r>
              <a:rPr b="0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highlight>
                <a:srgbClr val="DEFC5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comum utilizá-la para definir o limite de uma iteração sobre um array, já que a propriedade length permite saber exatamente o comprimento e, portanto, a quantidade de elementos no array.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3" name="Google Shape;133;p10"/>
          <p:cNvGraphicFramePr/>
          <p:nvPr/>
        </p:nvGraphicFramePr>
        <p:xfrm>
          <a:off x="1723103" y="423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7597875"/>
              </a:tblGrid>
              <a:tr h="119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rosa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verde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azul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.length);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//imprime 3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.length; i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[i]);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Acrescentar elementos</a:t>
            </a:r>
            <a:endParaRPr/>
          </a:p>
        </p:txBody>
      </p:sp>
      <p:sp>
        <p:nvSpPr>
          <p:cNvPr id="139" name="Google Shape;139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0" name="Google Shape;140;p11"/>
          <p:cNvSpPr txBox="1"/>
          <p:nvPr/>
        </p:nvSpPr>
        <p:spPr>
          <a:xfrm>
            <a:off x="838200" y="1633999"/>
            <a:ext cx="4198200" cy="31392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adicionar um elemento a um array já existente, utilizamos 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método push</a:t>
            </a:r>
            <a:r>
              <a:rPr b="0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acrescenta elementos ao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final do array.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quisermos acrescentar no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início do array,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utilizamos o método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unshift()</a:t>
            </a:r>
            <a:endParaRPr b="1" i="0" sz="2400" u="none" cap="none" strike="noStrike">
              <a:solidFill>
                <a:srgbClr val="000000"/>
              </a:solidFill>
              <a:highlight>
                <a:srgbClr val="DEFC5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1" name="Google Shape;141;p11"/>
          <p:cNvGraphicFramePr/>
          <p:nvPr/>
        </p:nvGraphicFramePr>
        <p:xfrm>
          <a:off x="5707626" y="1633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6371300"/>
              </a:tblGrid>
              <a:tr h="119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rosa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verde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azul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amarelo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.length);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imprime 4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imprime ["rosa","verde","azul","amarelo"]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unshift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vermelho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.length);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imprime 5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meuArray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imprime ["vermelho","rosa","verde","azul","amarelo"]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Eliminar elementos</a:t>
            </a:r>
            <a:endParaRPr/>
          </a:p>
        </p:txBody>
      </p:sp>
      <p:sp>
        <p:nvSpPr>
          <p:cNvPr id="147" name="Google Shape;147;p1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8" name="Google Shape;148;p12"/>
          <p:cNvSpPr txBox="1"/>
          <p:nvPr/>
        </p:nvSpPr>
        <p:spPr>
          <a:xfrm>
            <a:off x="734960" y="1716395"/>
            <a:ext cx="4308987" cy="38779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forma inversa, existem métodos para eliminar elementos do array.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quisermos eliminar 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primeiro elemento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array, utilizamos 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método shift()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e, se queremos eliminar o último elemento, utilizamos o método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pop()</a:t>
            </a:r>
            <a:r>
              <a:rPr b="0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rgbClr val="000000"/>
              </a:solidFill>
              <a:highlight>
                <a:srgbClr val="DEFC5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9" name="Google Shape;149;p12"/>
          <p:cNvGraphicFramePr/>
          <p:nvPr/>
        </p:nvGraphicFramePr>
        <p:xfrm>
          <a:off x="5338917" y="214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6737550"/>
              </a:tblGrid>
              <a:tr h="119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Luis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Julia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["Luis", "Ana", "Julia"]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shift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["Ana", "Julia"]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Splice</a:t>
            </a:r>
            <a:endParaRPr/>
          </a:p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722757" y="1484300"/>
            <a:ext cx="4552162" cy="46166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splice()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eliminar um ou vários elementos de um array em qualquer posição.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 com 2 parâmetros: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primeiro é o índice, que determina a posição em que o método será executado, e o segundo é a quantidade de elementos a serem eliminados a partir dessa posição.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7" name="Google Shape;157;p13"/>
          <p:cNvGraphicFramePr/>
          <p:nvPr/>
        </p:nvGraphicFramePr>
        <p:xfrm>
          <a:off x="5274919" y="2658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6754750"/>
              </a:tblGrid>
              <a:tr h="119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Rita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Luiz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Léo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Marco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splice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["Rita", "Mara", "Marco"]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Join</a:t>
            </a:r>
            <a:endParaRPr/>
          </a:p>
        </p:txBody>
      </p:sp>
      <p:sp>
        <p:nvSpPr>
          <p:cNvPr id="163" name="Google Shape;163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708010" y="2413352"/>
            <a:ext cx="4670149" cy="2031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Através do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método join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podemos gerar uma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 com todos os elementos do array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separados pelo valor que utilizarmos como parâmetro: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5" name="Google Shape;165;p14"/>
          <p:cNvGraphicFramePr/>
          <p:nvPr/>
        </p:nvGraphicFramePr>
        <p:xfrm>
          <a:off x="5378159" y="2506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6577775"/>
              </a:tblGrid>
              <a:tr h="119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Luis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Julia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join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Luis, Ana, Julia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join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Luis*Ana*Julia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Concat</a:t>
            </a:r>
            <a:endParaRPr/>
          </a:p>
        </p:txBody>
      </p:sp>
      <p:sp>
        <p:nvSpPr>
          <p:cNvPr id="171" name="Google Shape;171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604771" y="2140708"/>
            <a:ext cx="4198200" cy="16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Através do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método concat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podemos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combinar dois Arrays em um único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array resultante: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3" name="Google Shape;173;p15"/>
          <p:cNvGraphicFramePr/>
          <p:nvPr/>
        </p:nvGraphicFramePr>
        <p:xfrm>
          <a:off x="5472878" y="19864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6300025"/>
              </a:tblGrid>
              <a:tr h="119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Pupy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Ronnied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gatos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Mishi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Garfieldd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Zuri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animais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concat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gatos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animais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["Pupy", "Ronnied", "Mishi", "Garfieldd", "Zuri"]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Slice</a:t>
            </a:r>
            <a:endParaRPr/>
          </a:p>
        </p:txBody>
      </p:sp>
      <p:sp>
        <p:nvSpPr>
          <p:cNvPr id="179" name="Google Shape;179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838200" y="1674688"/>
            <a:ext cx="5417487" cy="35086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método slice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retorna uma parte do array para um novo array.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 com 2 parâmetros: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índices inicial e final que determina a posição em que o método será executado (fim não incluído).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array original não é modificado.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1" name="Google Shape;181;p16"/>
          <p:cNvGraphicFramePr/>
          <p:nvPr/>
        </p:nvGraphicFramePr>
        <p:xfrm>
          <a:off x="6570408" y="260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5417475"/>
              </a:tblGrid>
              <a:tr h="127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Rita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Pedro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Miguel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Vanessa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masculinos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slice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["Pedro","Miguel"]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Includes</a:t>
            </a:r>
            <a:endParaRPr/>
          </a:p>
        </p:txBody>
      </p:sp>
      <p:sp>
        <p:nvSpPr>
          <p:cNvPr id="187" name="Google Shape;187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61218" y="1711732"/>
            <a:ext cx="4412228" cy="27699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método includes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saber se um elemento utilizado como parâmetro existe ou não dentro de um array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retornando um valor booleano em caso afirmativo ou negativo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" name="Google Shape;189;p17"/>
          <p:cNvGraphicFramePr/>
          <p:nvPr/>
        </p:nvGraphicFramePr>
        <p:xfrm>
          <a:off x="5073446" y="21795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6976000"/>
              </a:tblGrid>
              <a:tr h="156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Rita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Pedro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Miguel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Vanessa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includes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Rita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true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includes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Miguel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true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includes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Julieta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false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IndexOf</a:t>
            </a:r>
            <a:endParaRPr/>
          </a:p>
        </p:txBody>
      </p:sp>
      <p:sp>
        <p:nvSpPr>
          <p:cNvPr id="195" name="Google Shape;195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722758" y="1712188"/>
            <a:ext cx="4793139" cy="46166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ao anterior, 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método indexOf()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 permite obter o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índice de um elemento em um array.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 recebe por parâmetro o elemento que buscamos no array e, caso esse elemento exista, nos retorna seu índice.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o elemento não existir, nos retornará 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valor: -1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7" name="Google Shape;197;p18"/>
          <p:cNvGraphicFramePr/>
          <p:nvPr/>
        </p:nvGraphicFramePr>
        <p:xfrm>
          <a:off x="5675671" y="2389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6403250"/>
              </a:tblGrid>
              <a:tr h="156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Rita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Pedro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Miguel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Vanessa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Rita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0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3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Julieta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-1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Reverse</a:t>
            </a:r>
            <a:endParaRPr/>
          </a:p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08008" y="1948267"/>
            <a:ext cx="4975209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seu nome indica, 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método reverse()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inverte a ordem dos elementos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dentro de um array.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19"/>
          <p:cNvGraphicFramePr/>
          <p:nvPr/>
        </p:nvGraphicFramePr>
        <p:xfrm>
          <a:off x="6096000" y="21244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4975200"/>
              </a:tblGrid>
              <a:tr h="156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Rita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Pedro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Miguel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Vanessa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reverse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["Vanessa", "Ana","Miguel", "Pedro","Rita"]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/>
        </p:nvSpPr>
        <p:spPr>
          <a:xfrm>
            <a:off x="631133" y="826034"/>
            <a:ext cx="108548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Reverse</a:t>
            </a:r>
            <a:endParaRPr b="1" i="0" sz="5333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31133" y="2168133"/>
            <a:ext cx="9559200" cy="332356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333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Cuidado</a:t>
            </a:r>
            <a:r>
              <a:rPr b="0" i="0" lang="pt-BR" sz="3333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, pois o método reverse é destrutivo, ou seja, </a:t>
            </a:r>
            <a:r>
              <a:rPr b="1" i="0" lang="pt-BR" sz="3333" u="none" cap="none" strike="noStrik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ele modifica o array original</a:t>
            </a:r>
            <a:r>
              <a:rPr b="0" i="0" lang="pt-BR" sz="3333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, da mesma forma que os métodos para acrescentar ou excluir elementos.</a:t>
            </a:r>
            <a:endParaRPr b="0" i="0" sz="3333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33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33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/>
          <p:nvPr/>
        </p:nvSpPr>
        <p:spPr>
          <a:xfrm>
            <a:off x="772000" y="281067"/>
            <a:ext cx="103012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Métodos e propriedades mais comuns</a:t>
            </a:r>
            <a:endParaRPr b="1" i="0" sz="5333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19244" y="2900433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lenght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597259" y="2900433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push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2784509" y="2900433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shift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597259" y="3501400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unshift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784509" y="3501400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pop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784509" y="4102367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splice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3962524" y="2900433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join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124323" y="2900225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concat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307959" y="2900225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sng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slice</a:t>
            </a:r>
            <a:endParaRPr b="0" i="0" sz="1600" u="sng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7492352" y="2900225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indexOf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8674433" y="2900233"/>
            <a:ext cx="10864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includes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9856501" y="2900225"/>
            <a:ext cx="1003600" cy="440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reverse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19244" y="5016733"/>
            <a:ext cx="1003600" cy="948800"/>
          </a:xfrm>
          <a:prstGeom prst="rect">
            <a:avLst/>
          </a:prstGeom>
          <a:solidFill>
            <a:srgbClr val="DEFC52"/>
          </a:solidFill>
          <a:ln>
            <a:noFill/>
          </a:ln>
        </p:spPr>
        <p:txBody>
          <a:bodyPr anchorCtr="0" anchor="ctr" bIns="121900" lIns="24000" spcFirstLastPara="1" rIns="240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verificar o tamanho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597259" y="5016733"/>
            <a:ext cx="1003600" cy="948800"/>
          </a:xfrm>
          <a:prstGeom prst="rect">
            <a:avLst/>
          </a:prstGeom>
          <a:solidFill>
            <a:srgbClr val="DEFC52"/>
          </a:solidFill>
          <a:ln>
            <a:noFill/>
          </a:ln>
        </p:spPr>
        <p:txBody>
          <a:bodyPr anchorCtr="0" anchor="ctr" bIns="121900" lIns="24000" spcFirstLastPara="1" rIns="240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adicionar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2784509" y="5016733"/>
            <a:ext cx="1003600" cy="948800"/>
          </a:xfrm>
          <a:prstGeom prst="rect">
            <a:avLst/>
          </a:prstGeom>
          <a:solidFill>
            <a:srgbClr val="DEFC52"/>
          </a:solidFill>
          <a:ln>
            <a:noFill/>
          </a:ln>
        </p:spPr>
        <p:txBody>
          <a:bodyPr anchorCtr="0" anchor="ctr" bIns="121900" lIns="24000" spcFirstLastPara="1" rIns="240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excluir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962524" y="5016733"/>
            <a:ext cx="1003600" cy="948800"/>
          </a:xfrm>
          <a:prstGeom prst="rect">
            <a:avLst/>
          </a:prstGeom>
          <a:solidFill>
            <a:srgbClr val="DEFC52"/>
          </a:solidFill>
          <a:ln>
            <a:noFill/>
          </a:ln>
        </p:spPr>
        <p:txBody>
          <a:bodyPr anchorCtr="0" anchor="ctr" bIns="121900" lIns="24000" spcFirstLastPara="1" rIns="240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juntar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124323" y="5016525"/>
            <a:ext cx="1003600" cy="948800"/>
          </a:xfrm>
          <a:prstGeom prst="rect">
            <a:avLst/>
          </a:prstGeom>
          <a:solidFill>
            <a:srgbClr val="DEFC52"/>
          </a:solidFill>
          <a:ln>
            <a:noFill/>
          </a:ln>
        </p:spPr>
        <p:txBody>
          <a:bodyPr anchorCtr="0" anchor="ctr" bIns="121900" lIns="24000" spcFirstLastPara="1" rIns="240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combinar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6307959" y="5016525"/>
            <a:ext cx="1003600" cy="948800"/>
          </a:xfrm>
          <a:prstGeom prst="rect">
            <a:avLst/>
          </a:prstGeom>
          <a:solidFill>
            <a:srgbClr val="DEFC52"/>
          </a:solidFill>
          <a:ln>
            <a:noFill/>
          </a:ln>
        </p:spPr>
        <p:txBody>
          <a:bodyPr anchorCtr="0" anchor="ctr" bIns="121900" lIns="24000" spcFirstLastPara="1" rIns="240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cortar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7492352" y="5016525"/>
            <a:ext cx="1003600" cy="948800"/>
          </a:xfrm>
          <a:prstGeom prst="rect">
            <a:avLst/>
          </a:prstGeom>
          <a:solidFill>
            <a:srgbClr val="DEFC52"/>
          </a:solidFill>
          <a:ln>
            <a:noFill/>
          </a:ln>
        </p:spPr>
        <p:txBody>
          <a:bodyPr anchorCtr="0" anchor="ctr" bIns="121900" lIns="24000" spcFirstLastPara="1" rIns="240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obter índice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8674427" y="5016525"/>
            <a:ext cx="1003600" cy="948800"/>
          </a:xfrm>
          <a:prstGeom prst="rect">
            <a:avLst/>
          </a:prstGeom>
          <a:solidFill>
            <a:srgbClr val="DEFC52"/>
          </a:solidFill>
          <a:ln>
            <a:noFill/>
          </a:ln>
        </p:spPr>
        <p:txBody>
          <a:bodyPr anchorCtr="0" anchor="ctr" bIns="121900" lIns="24000" spcFirstLastPara="1" rIns="240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verificar existência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9856501" y="5016525"/>
            <a:ext cx="1003600" cy="948800"/>
          </a:xfrm>
          <a:prstGeom prst="rect">
            <a:avLst/>
          </a:prstGeom>
          <a:solidFill>
            <a:srgbClr val="DEFC52"/>
          </a:solidFill>
          <a:ln>
            <a:noFill/>
          </a:ln>
        </p:spPr>
        <p:txBody>
          <a:bodyPr anchorCtr="0" anchor="ctr" bIns="121900" lIns="24000" spcFirstLastPara="1" rIns="240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inverter a ordem</a:t>
            </a:r>
            <a:endParaRPr b="0" i="0" sz="16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38" name="Google Shape;238;p21"/>
          <p:cNvCxnSpPr/>
          <p:nvPr/>
        </p:nvCxnSpPr>
        <p:spPr>
          <a:xfrm>
            <a:off x="913911" y="2576200"/>
            <a:ext cx="9441200" cy="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21"/>
          <p:cNvCxnSpPr/>
          <p:nvPr/>
        </p:nvCxnSpPr>
        <p:spPr>
          <a:xfrm>
            <a:off x="7082115" y="23469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21"/>
          <p:cNvCxnSpPr/>
          <p:nvPr/>
        </p:nvCxnSpPr>
        <p:spPr>
          <a:xfrm>
            <a:off x="6231391" y="2345533"/>
            <a:ext cx="2800" cy="2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21"/>
          <p:cNvCxnSpPr/>
          <p:nvPr/>
        </p:nvCxnSpPr>
        <p:spPr>
          <a:xfrm>
            <a:off x="6804967" y="2576200"/>
            <a:ext cx="2800" cy="2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21"/>
          <p:cNvCxnSpPr/>
          <p:nvPr/>
        </p:nvCxnSpPr>
        <p:spPr>
          <a:xfrm>
            <a:off x="5617424" y="2545300"/>
            <a:ext cx="2800" cy="2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21"/>
          <p:cNvCxnSpPr/>
          <p:nvPr/>
        </p:nvCxnSpPr>
        <p:spPr>
          <a:xfrm>
            <a:off x="3293457" y="2576200"/>
            <a:ext cx="2800" cy="2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21"/>
          <p:cNvCxnSpPr/>
          <p:nvPr/>
        </p:nvCxnSpPr>
        <p:spPr>
          <a:xfrm>
            <a:off x="4461481" y="2576200"/>
            <a:ext cx="2800" cy="2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21"/>
          <p:cNvCxnSpPr/>
          <p:nvPr/>
        </p:nvCxnSpPr>
        <p:spPr>
          <a:xfrm>
            <a:off x="2112228" y="2576200"/>
            <a:ext cx="2800" cy="2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21"/>
          <p:cNvCxnSpPr/>
          <p:nvPr/>
        </p:nvCxnSpPr>
        <p:spPr>
          <a:xfrm>
            <a:off x="913911" y="2576200"/>
            <a:ext cx="2800" cy="2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21"/>
          <p:cNvCxnSpPr/>
          <p:nvPr/>
        </p:nvCxnSpPr>
        <p:spPr>
          <a:xfrm>
            <a:off x="7984241" y="2576200"/>
            <a:ext cx="2800" cy="2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21"/>
          <p:cNvCxnSpPr/>
          <p:nvPr/>
        </p:nvCxnSpPr>
        <p:spPr>
          <a:xfrm>
            <a:off x="9176184" y="2576200"/>
            <a:ext cx="2800" cy="2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21"/>
          <p:cNvCxnSpPr/>
          <p:nvPr/>
        </p:nvCxnSpPr>
        <p:spPr>
          <a:xfrm>
            <a:off x="10356859" y="2604159"/>
            <a:ext cx="2800" cy="2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21"/>
          <p:cNvCxnSpPr>
            <a:stCxn id="217" idx="2"/>
            <a:endCxn id="229" idx="0"/>
          </p:cNvCxnSpPr>
          <p:nvPr/>
        </p:nvCxnSpPr>
        <p:spPr>
          <a:xfrm>
            <a:off x="921044" y="3341233"/>
            <a:ext cx="0" cy="16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21"/>
          <p:cNvCxnSpPr>
            <a:stCxn id="220" idx="2"/>
            <a:endCxn id="230" idx="0"/>
          </p:cNvCxnSpPr>
          <p:nvPr/>
        </p:nvCxnSpPr>
        <p:spPr>
          <a:xfrm>
            <a:off x="2099059" y="3942200"/>
            <a:ext cx="0" cy="107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21"/>
          <p:cNvCxnSpPr>
            <a:stCxn id="222" idx="2"/>
            <a:endCxn id="231" idx="0"/>
          </p:cNvCxnSpPr>
          <p:nvPr/>
        </p:nvCxnSpPr>
        <p:spPr>
          <a:xfrm>
            <a:off x="3286309" y="4543167"/>
            <a:ext cx="0" cy="47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21"/>
          <p:cNvCxnSpPr>
            <a:stCxn id="223" idx="2"/>
            <a:endCxn id="232" idx="0"/>
          </p:cNvCxnSpPr>
          <p:nvPr/>
        </p:nvCxnSpPr>
        <p:spPr>
          <a:xfrm>
            <a:off x="4464324" y="3341233"/>
            <a:ext cx="0" cy="16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21"/>
          <p:cNvCxnSpPr>
            <a:stCxn id="224" idx="2"/>
            <a:endCxn id="233" idx="0"/>
          </p:cNvCxnSpPr>
          <p:nvPr/>
        </p:nvCxnSpPr>
        <p:spPr>
          <a:xfrm>
            <a:off x="5626123" y="3341025"/>
            <a:ext cx="0" cy="16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21"/>
          <p:cNvCxnSpPr>
            <a:stCxn id="225" idx="2"/>
            <a:endCxn id="234" idx="0"/>
          </p:cNvCxnSpPr>
          <p:nvPr/>
        </p:nvCxnSpPr>
        <p:spPr>
          <a:xfrm>
            <a:off x="6809759" y="3341025"/>
            <a:ext cx="0" cy="16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21"/>
          <p:cNvCxnSpPr>
            <a:stCxn id="226" idx="2"/>
            <a:endCxn id="235" idx="0"/>
          </p:cNvCxnSpPr>
          <p:nvPr/>
        </p:nvCxnSpPr>
        <p:spPr>
          <a:xfrm>
            <a:off x="7994152" y="3341025"/>
            <a:ext cx="0" cy="16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21"/>
          <p:cNvCxnSpPr>
            <a:stCxn id="227" idx="2"/>
            <a:endCxn id="236" idx="0"/>
          </p:cNvCxnSpPr>
          <p:nvPr/>
        </p:nvCxnSpPr>
        <p:spPr>
          <a:xfrm flipH="1">
            <a:off x="9176233" y="3341033"/>
            <a:ext cx="41400" cy="16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1"/>
          <p:cNvCxnSpPr>
            <a:stCxn id="228" idx="2"/>
            <a:endCxn id="237" idx="0"/>
          </p:cNvCxnSpPr>
          <p:nvPr/>
        </p:nvCxnSpPr>
        <p:spPr>
          <a:xfrm>
            <a:off x="10358301" y="3341025"/>
            <a:ext cx="0" cy="16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/>
        </p:nvSpPr>
        <p:spPr>
          <a:xfrm>
            <a:off x="1926867" y="918434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667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 ao vivo</a:t>
            </a:r>
            <a:endParaRPr b="1" i="0" sz="4667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256468" y="2280116"/>
            <a:ext cx="3844000" cy="22977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33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333" u="none" cap="none" strike="noStrik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Eliminar qualquer elemento</a:t>
            </a:r>
            <a:endParaRPr b="1" i="0" sz="3333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33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66" name="Google Shape;266;p22"/>
          <p:cNvGrpSpPr/>
          <p:nvPr/>
        </p:nvGrpSpPr>
        <p:grpSpPr>
          <a:xfrm>
            <a:off x="631135" y="826031"/>
            <a:ext cx="985200" cy="985200"/>
            <a:chOff x="473351" y="619523"/>
            <a:chExt cx="738900" cy="738900"/>
          </a:xfrm>
        </p:grpSpPr>
        <p:sp>
          <p:nvSpPr>
            <p:cNvPr id="267" name="Google Shape;267;p22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8" name="Google Shape;268;p22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69" name="Google Shape;269;p22"/>
          <p:cNvGraphicFramePr/>
          <p:nvPr/>
        </p:nvGraphicFramePr>
        <p:xfrm>
          <a:off x="3908323" y="1797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8067375"/>
              </a:tblGrid>
              <a:tr h="408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//Declaração de array e variável para determinar quantidade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listaNomes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[];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quantidade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//Uso de do...while para carregar nomes no array por prompt()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entrada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nome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listaNomes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(entrada.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toUpperCase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listaNomes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.length);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listaNomes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.length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quantidade)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//Concatenação com um novo array de dois elementos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novaLista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listaNomes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concat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([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b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//Saída com salto de linha após cada item usando join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novaLista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join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84675" marB="84675" marR="84675" marL="8467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/>
        </p:nvSpPr>
        <p:spPr>
          <a:xfrm>
            <a:off x="1926867" y="918434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667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 ao vivo</a:t>
            </a:r>
            <a:endParaRPr b="1" i="0" sz="4667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336165" y="2023667"/>
            <a:ext cx="3188700" cy="28106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33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333" u="none" cap="none" strike="noStrik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Carregar Array com entradas do prompt</a:t>
            </a:r>
            <a:endParaRPr b="1" i="0" sz="3333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33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76" name="Google Shape;276;p23"/>
          <p:cNvGrpSpPr/>
          <p:nvPr/>
        </p:nvGrpSpPr>
        <p:grpSpPr>
          <a:xfrm>
            <a:off x="631135" y="826031"/>
            <a:ext cx="985200" cy="985200"/>
            <a:chOff x="473351" y="619523"/>
            <a:chExt cx="738900" cy="738900"/>
          </a:xfrm>
        </p:grpSpPr>
        <p:sp>
          <p:nvSpPr>
            <p:cNvPr id="277" name="Google Shape;277;p23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8" name="Google Shape;278;p23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79" name="Google Shape;279;p23"/>
          <p:cNvGraphicFramePr/>
          <p:nvPr/>
        </p:nvGraphicFramePr>
        <p:xfrm>
          <a:off x="3716594" y="1811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8080000"/>
              </a:tblGrid>
              <a:tr h="443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Rita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Pedro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Miguel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Vanessa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Recebo como parâmetro o elemento a ser eliminado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eliminar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Busco seu índice no array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index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indexOf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Se ele existir, ou seja, for diferente de -1, será eliminado com splice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(index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splice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(index,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nome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não foi encontrado!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nomeEliminar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Qual nome deseja eliminar?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eliminar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(nomeEliminar);</a:t>
                      </a:r>
                      <a:endParaRPr sz="16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84675" marB="84675" marR="84675" marL="8467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/>
          <p:nvPr/>
        </p:nvSpPr>
        <p:spPr>
          <a:xfrm>
            <a:off x="1037504" y="2184367"/>
            <a:ext cx="10023785" cy="464738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Descrição</a:t>
            </a:r>
            <a:endParaRPr b="1" i="0" sz="2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Crie um array de cores e peça para o usuário preencher com 5 cores diferentes.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660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Usando o console.log, exiba o array completo e seu tamanho.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660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Das cores inseridas, peça ao usuário para eliminar uma delas.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660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Para cada cor presente no array, exiba a frase “Na posição {i} temos a cor {cor}”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660" lvl="0" marL="3809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Peça para o usuário inserir uma nova cor e verifique se a cor já existe no array, caso ela já exista, não faça nada. Caso ainda não exista, insira na primeira posição.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1096305" y="1199167"/>
            <a:ext cx="97468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Bora praticar!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86" name="Google Shape;286;p24"/>
          <p:cNvGrpSpPr/>
          <p:nvPr/>
        </p:nvGrpSpPr>
        <p:grpSpPr>
          <a:xfrm>
            <a:off x="1096308" y="644082"/>
            <a:ext cx="535357" cy="535357"/>
            <a:chOff x="974706" y="2467173"/>
            <a:chExt cx="738900" cy="738900"/>
          </a:xfrm>
        </p:grpSpPr>
        <p:sp>
          <p:nvSpPr>
            <p:cNvPr id="287" name="Google Shape;287;p2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" name="Google Shape;288;p24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9" name="Google Shape;289;p24"/>
          <p:cNvSpPr txBox="1"/>
          <p:nvPr/>
        </p:nvSpPr>
        <p:spPr>
          <a:xfrm>
            <a:off x="1668438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3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b="0" i="0" sz="186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0" name="Google Shape;290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Array de Objetos</a:t>
            </a:r>
            <a:endParaRPr/>
          </a:p>
        </p:txBody>
      </p:sp>
      <p:sp>
        <p:nvSpPr>
          <p:cNvPr id="296" name="Google Shape;296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838199" y="1789800"/>
            <a:ext cx="4618703" cy="31392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array podem ser usados para armazenar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 personalizados.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Podemos atribuir objetos literais ou previamente instanciados na declaração do array e acrescentar novos objetos usando o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método push.</a:t>
            </a:r>
            <a:endParaRPr b="1" i="0" sz="2400" u="none" cap="none" strike="noStrike">
              <a:solidFill>
                <a:srgbClr val="000000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8" name="Google Shape;298;p25"/>
          <p:cNvGraphicFramePr/>
          <p:nvPr/>
        </p:nvGraphicFramePr>
        <p:xfrm>
          <a:off x="5705168" y="17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6373750"/>
              </a:tblGrid>
              <a:tr h="156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objeto1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objeto1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Macarrão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produto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Arrays + Objetos</a:t>
            </a:r>
            <a:endParaRPr/>
          </a:p>
        </p:txBody>
      </p:sp>
      <p:sp>
        <p:nvSpPr>
          <p:cNvPr id="304" name="Google Shape;304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5" name="Google Shape;305;p26"/>
          <p:cNvPicPr preferRelativeResize="0"/>
          <p:nvPr/>
        </p:nvPicPr>
        <p:blipFill rotWithShape="1">
          <a:blip r:embed="rId3">
            <a:alphaModFix/>
          </a:blip>
          <a:srcRect b="0" l="27631" r="28016" t="0"/>
          <a:stretch/>
        </p:blipFill>
        <p:spPr>
          <a:xfrm>
            <a:off x="6813756" y="-1"/>
            <a:ext cx="5378244" cy="686651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734961" y="1911997"/>
            <a:ext cx="5577348" cy="30340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combinação de arrays com objetos gera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estruturas de dados complexas. </a:t>
            </a:r>
            <a:endParaRPr b="1" i="0" sz="2400" u="none" cap="none" strike="noStrike">
              <a:solidFill>
                <a:srgbClr val="000000"/>
              </a:solidFill>
              <a:highlight>
                <a:srgbClr val="DEFC5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Os métodos de arrays e as ferramentas para percorrê-los nos permitem acessar e manipular todos esses dados de forma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precisa e ordenada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For…Of</a:t>
            </a:r>
            <a:endParaRPr/>
          </a:p>
        </p:txBody>
      </p:sp>
      <p:sp>
        <p:nvSpPr>
          <p:cNvPr id="312" name="Google Shape;312;p2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693260" y="1716395"/>
            <a:ext cx="5294585" cy="31392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DEFC52"/>
                </a:highlight>
                <a:latin typeface="Arial"/>
                <a:ea typeface="Arial"/>
                <a:cs typeface="Arial"/>
                <a:sym typeface="Arial"/>
              </a:rPr>
              <a:t>sentença for...of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um iterador que percorre o array do início ao fim, e, em cada iteração, acessa o elemento em questão através da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referência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declaramos.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cada iteração, é executado o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bloco de código que definimos entre chaves.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4" name="Google Shape;314;p27"/>
          <p:cNvGraphicFramePr/>
          <p:nvPr/>
        </p:nvGraphicFramePr>
        <p:xfrm>
          <a:off x="6096000" y="1716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6017350"/>
              </a:tblGrid>
              <a:tr h="156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Macarrão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 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nome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.id,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 txBox="1"/>
          <p:nvPr/>
        </p:nvSpPr>
        <p:spPr>
          <a:xfrm>
            <a:off x="1749905" y="259592"/>
            <a:ext cx="9559200" cy="153897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667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Exemplo: Objetos, Produtos e Arrays</a:t>
            </a:r>
            <a:endParaRPr b="1" i="0" sz="4667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20" name="Google Shape;320;p28"/>
          <p:cNvGrpSpPr/>
          <p:nvPr/>
        </p:nvGrpSpPr>
        <p:grpSpPr>
          <a:xfrm>
            <a:off x="454156" y="486822"/>
            <a:ext cx="985200" cy="985200"/>
            <a:chOff x="473351" y="619523"/>
            <a:chExt cx="738900" cy="738900"/>
          </a:xfrm>
        </p:grpSpPr>
        <p:sp>
          <p:nvSpPr>
            <p:cNvPr id="321" name="Google Shape;321;p2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2" name="Google Shape;322;p28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323" name="Google Shape;323;p28"/>
          <p:cNvGraphicFramePr/>
          <p:nvPr/>
        </p:nvGraphicFramePr>
        <p:xfrm>
          <a:off x="4848256" y="116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{92850B9C-13BD-47F8-AD0D-0D9FDF8C848F}</a:tableStyleId>
              </a:tblPr>
              <a:tblGrid>
                <a:gridCol w="6431350"/>
              </a:tblGrid>
              <a:tr h="463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constructor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preco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toUpperCase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parseFloat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preco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.vendido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somaICMS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1.21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//Declaramos um array de produtos para armazenar objetos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[];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arroz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125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macarrão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70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pão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//Iteramos o array com for...of para modificar todos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somaICMS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produtos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6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84675" marB="84675" marR="84675" marL="84675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29"/>
          <p:cNvGrpSpPr/>
          <p:nvPr/>
        </p:nvGrpSpPr>
        <p:grpSpPr>
          <a:xfrm>
            <a:off x="5603401" y="1325681"/>
            <a:ext cx="985200" cy="985299"/>
            <a:chOff x="974706" y="2467173"/>
            <a:chExt cx="738900" cy="738900"/>
          </a:xfrm>
        </p:grpSpPr>
        <p:sp>
          <p:nvSpPr>
            <p:cNvPr id="329" name="Google Shape;329;p2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0" name="Google Shape;330;p29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p29"/>
          <p:cNvSpPr txBox="1"/>
          <p:nvPr/>
        </p:nvSpPr>
        <p:spPr>
          <a:xfrm>
            <a:off x="1948400" y="2629067"/>
            <a:ext cx="8295200" cy="172338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Desenvolvendo um sistema</a:t>
            </a:r>
            <a:endParaRPr b="1" i="0" sz="5333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2" name="Google Shape;332;p29"/>
          <p:cNvSpPr txBox="1"/>
          <p:nvPr/>
        </p:nvSpPr>
        <p:spPr>
          <a:xfrm>
            <a:off x="1316400" y="4159618"/>
            <a:ext cx="95592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667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Atividade extra para praticar em casa</a:t>
            </a:r>
            <a:endParaRPr b="0" i="0" sz="2667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3" name="Google Shape;333;p2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/>
        </p:nvSpPr>
        <p:spPr>
          <a:xfrm>
            <a:off x="757088" y="1361395"/>
            <a:ext cx="97468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Desenvolvendo um sistema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969571" y="2346176"/>
            <a:ext cx="8108400" cy="30833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Desenvolva um sistema que:</a:t>
            </a:r>
            <a:endParaRPr b="0" i="0" sz="24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Receba nomes pelo prompt e insira todos em um array até que o usuário digite “fim”.</a:t>
            </a:r>
            <a:endParaRPr b="0" i="0" sz="24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Ao finalizar, percorra o array usando o “for”e exiba todos os nomes no console.</a:t>
            </a:r>
            <a:endParaRPr b="0" i="0" sz="24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Não insira a palavra “fim” no array.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40" name="Google Shape;340;p30"/>
          <p:cNvGrpSpPr/>
          <p:nvPr/>
        </p:nvGrpSpPr>
        <p:grpSpPr>
          <a:xfrm>
            <a:off x="1081553" y="644082"/>
            <a:ext cx="535357" cy="535357"/>
            <a:chOff x="974706" y="2467173"/>
            <a:chExt cx="738900" cy="738900"/>
          </a:xfrm>
        </p:grpSpPr>
        <p:sp>
          <p:nvSpPr>
            <p:cNvPr id="341" name="Google Shape;341;p3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90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2" name="Google Shape;342;p3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30"/>
          <p:cNvSpPr txBox="1"/>
          <p:nvPr/>
        </p:nvSpPr>
        <p:spPr>
          <a:xfrm>
            <a:off x="1653683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3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ATIVIDADE EXTRA</a:t>
            </a:r>
            <a:endParaRPr b="0" i="0" sz="186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4" name="Google Shape;344;p3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350" name="Google Shape;350;p31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432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50"/>
              <a:buFont typeface="DM Sans"/>
              <a:buChar char="✓"/>
            </a:pPr>
            <a:r>
              <a:rPr lang="pt-BR" sz="280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 objeto global String</a:t>
            </a:r>
            <a:r>
              <a:rPr lang="pt-BR" sz="280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pt-BR" sz="2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b="1" lang="pt-BR" sz="2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Developer Mozilla</a:t>
            </a:r>
            <a:endParaRPr sz="28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50"/>
              <a:buFont typeface="DM Sans"/>
              <a:buChar char="✓"/>
            </a:pPr>
            <a:r>
              <a:rPr lang="pt-BR" sz="280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JavaScript Arrays </a:t>
            </a:r>
            <a:r>
              <a:rPr lang="pt-BR" sz="2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b="1" lang="pt-BR" sz="2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Devmedia</a:t>
            </a:r>
            <a:endParaRPr/>
          </a:p>
        </p:txBody>
      </p:sp>
      <p:sp>
        <p:nvSpPr>
          <p:cNvPr id="351" name="Google Shape;351;p3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357" name="Google Shape;357;p32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2024-05-06T00:37:34Z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</Properties>
</file>