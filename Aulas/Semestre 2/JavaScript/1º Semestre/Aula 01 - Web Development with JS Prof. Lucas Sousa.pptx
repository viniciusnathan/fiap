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HJG17St25MDZXxb61rhMvGUGH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1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1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31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4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4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sz="4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1. Git</a:t>
            </a:r>
            <a:endParaRPr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o Git?</a:t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838200" y="1566545"/>
            <a:ext cx="6781800" cy="4189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Git é um sistema de controle de versões gratuito e de código aberto, desenvolvido para manipular de pequenos a grandes projetos de maneira rápida e eficaz. 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Entende-se como controle de versões todas as ferramentas que nos permitem fazer modificações no nosso projeto e registrar as alterações realizadas em um arquivo ou conjunto de arquivos ao longo do tempo.</a:t>
            </a:r>
            <a:endParaRPr/>
          </a:p>
        </p:txBody>
      </p:sp>
      <p:sp>
        <p:nvSpPr>
          <p:cNvPr id="73" name="Google Shape;73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6755" y="2752090"/>
            <a:ext cx="3181985" cy="13538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 txBox="1"/>
          <p:nvPr/>
        </p:nvSpPr>
        <p:spPr>
          <a:xfrm>
            <a:off x="1181100" y="5949315"/>
            <a:ext cx="6096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Fonte: https://git-scm.com/book/es/v1/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o Git?</a:t>
            </a:r>
            <a:endParaRPr/>
          </a:p>
        </p:txBody>
      </p:sp>
      <p:sp>
        <p:nvSpPr>
          <p:cNvPr id="81" name="Google Shape;81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2" name="Google Shape;8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733" l="0" r="-755" t="-1482"/>
          <a:stretch/>
        </p:blipFill>
        <p:spPr>
          <a:xfrm>
            <a:off x="966470" y="1493520"/>
            <a:ext cx="8681720" cy="4976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GIT: os 3 estágios</a:t>
            </a:r>
            <a:endParaRPr/>
          </a:p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047115" y="1992630"/>
            <a:ext cx="4418330" cy="914400"/>
          </a:xfrm>
          <a:prstGeom prst="rect">
            <a:avLst/>
          </a:prstGeom>
          <a:solidFill>
            <a:srgbClr val="393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1º estágio</a:t>
            </a:r>
            <a:r>
              <a:rPr b="0" i="0" lang="pt-BR" sz="1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(no qual trabalhamos)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"preparamos</a:t>
            </a:r>
            <a:r>
              <a:rPr b="0" i="1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caixas</a:t>
            </a: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/>
          </a:p>
        </p:txBody>
      </p:sp>
      <p:grpSp>
        <p:nvGrpSpPr>
          <p:cNvPr id="90" name="Google Shape;90;p6"/>
          <p:cNvGrpSpPr/>
          <p:nvPr/>
        </p:nvGrpSpPr>
        <p:grpSpPr>
          <a:xfrm>
            <a:off x="5858510" y="1373505"/>
            <a:ext cx="5918200" cy="3945890"/>
            <a:chOff x="4080600" y="1560918"/>
            <a:chExt cx="4051000" cy="2603650"/>
          </a:xfrm>
        </p:grpSpPr>
        <p:sp>
          <p:nvSpPr>
            <p:cNvPr id="91" name="Google Shape;91;p6"/>
            <p:cNvSpPr/>
            <p:nvPr/>
          </p:nvSpPr>
          <p:spPr>
            <a:xfrm>
              <a:off x="5201600" y="1560918"/>
              <a:ext cx="1399200" cy="580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Working directory</a:t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5201675" y="2572643"/>
              <a:ext cx="1399200" cy="580200"/>
            </a:xfrm>
            <a:prstGeom prst="rect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Staging area</a:t>
              </a:r>
              <a:endParaRPr/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5201750" y="3584368"/>
              <a:ext cx="1399200" cy="5802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Repository</a:t>
              </a:r>
              <a:endParaRPr/>
            </a:p>
          </p:txBody>
        </p:sp>
        <p:sp>
          <p:nvSpPr>
            <p:cNvPr id="94" name="Google Shape;94;p6"/>
            <p:cNvSpPr txBox="1"/>
            <p:nvPr/>
          </p:nvSpPr>
          <p:spPr>
            <a:xfrm>
              <a:off x="4080600" y="2140525"/>
              <a:ext cx="9828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endParaRPr/>
            </a:p>
          </p:txBody>
        </p:sp>
        <p:sp>
          <p:nvSpPr>
            <p:cNvPr id="95" name="Google Shape;95;p6"/>
            <p:cNvSpPr txBox="1"/>
            <p:nvPr/>
          </p:nvSpPr>
          <p:spPr>
            <a:xfrm>
              <a:off x="6732400" y="3152550"/>
              <a:ext cx="13992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endParaRPr/>
            </a:p>
          </p:txBody>
        </p:sp>
        <p:cxnSp>
          <p:nvCxnSpPr>
            <p:cNvPr id="96" name="Google Shape;96;p6"/>
            <p:cNvCxnSpPr>
              <a:stCxn id="91" idx="1"/>
              <a:endCxn id="94" idx="0"/>
            </p:cNvCxnSpPr>
            <p:nvPr/>
          </p:nvCxnSpPr>
          <p:spPr>
            <a:xfrm flipH="1">
              <a:off x="4571900" y="1851018"/>
              <a:ext cx="629700" cy="2895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6"/>
            <p:cNvCxnSpPr>
              <a:stCxn id="94" idx="2"/>
              <a:endCxn id="92" idx="1"/>
            </p:cNvCxnSpPr>
            <p:nvPr/>
          </p:nvCxnSpPr>
          <p:spPr>
            <a:xfrm flipH="1" rot="-5400000">
              <a:off x="4677000" y="2338041"/>
              <a:ext cx="419700" cy="629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6"/>
            <p:cNvCxnSpPr>
              <a:stCxn id="92" idx="3"/>
              <a:endCxn id="95" idx="0"/>
            </p:cNvCxnSpPr>
            <p:nvPr/>
          </p:nvCxnSpPr>
          <p:spPr>
            <a:xfrm>
              <a:off x="6600875" y="2862743"/>
              <a:ext cx="831000" cy="2898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6"/>
            <p:cNvCxnSpPr>
              <a:stCxn id="95" idx="2"/>
              <a:endCxn id="93" idx="3"/>
            </p:cNvCxnSpPr>
            <p:nvPr/>
          </p:nvCxnSpPr>
          <p:spPr>
            <a:xfrm rot="5400000">
              <a:off x="6806800" y="3249266"/>
              <a:ext cx="419400" cy="8310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0" name="Google Shape;100;p6"/>
          <p:cNvSpPr/>
          <p:nvPr/>
        </p:nvSpPr>
        <p:spPr>
          <a:xfrm>
            <a:off x="1047115" y="3004820"/>
            <a:ext cx="4418330" cy="914400"/>
          </a:xfrm>
          <a:prstGeom prst="rect">
            <a:avLst/>
          </a:prstGeom>
          <a:solidFill>
            <a:srgbClr val="393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2º estágio</a:t>
            </a:r>
            <a:r>
              <a:rPr b="0" i="0" lang="pt-BR" sz="1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(arquivos prontos)</a:t>
            </a:r>
            <a:b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acrescentamos as caixas prontas</a:t>
            </a: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047115" y="4017010"/>
            <a:ext cx="4418330" cy="914400"/>
          </a:xfrm>
          <a:prstGeom prst="rect">
            <a:avLst/>
          </a:prstGeom>
          <a:solidFill>
            <a:srgbClr val="393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3º estágio</a:t>
            </a:r>
            <a:r>
              <a:rPr b="0" i="0" lang="pt-BR" sz="1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(registro de todos os arquivos) “</a:t>
            </a:r>
            <a:r>
              <a:rPr b="0" i="1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lote pronto</a:t>
            </a: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Acessando o terminal</a:t>
            </a:r>
            <a:endParaRPr/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838200" y="1566545"/>
            <a:ext cx="4142105" cy="402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CMD do Windows, Terminal do MAC, etc.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Caso prefira, também podemos usar o terminal dentro do VS Code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Vá em Visualizar (View) -&gt; Terminal</a:t>
            </a:r>
            <a:endParaRPr/>
          </a:p>
        </p:txBody>
      </p:sp>
      <p:sp>
        <p:nvSpPr>
          <p:cNvPr id="108" name="Google Shape;108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09" name="Google Shape;109;p7"/>
          <p:cNvGrpSpPr/>
          <p:nvPr/>
        </p:nvGrpSpPr>
        <p:grpSpPr>
          <a:xfrm>
            <a:off x="5208905" y="1201420"/>
            <a:ext cx="6595745" cy="4363720"/>
            <a:chOff x="199870" y="1491399"/>
            <a:chExt cx="4921104" cy="3433891"/>
          </a:xfrm>
        </p:grpSpPr>
        <p:pic>
          <p:nvPicPr>
            <p:cNvPr id="110" name="Google Shape;11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9870" y="1491399"/>
              <a:ext cx="4921104" cy="34338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7"/>
            <p:cNvSpPr/>
            <p:nvPr/>
          </p:nvSpPr>
          <p:spPr>
            <a:xfrm>
              <a:off x="1524000" y="3318164"/>
              <a:ext cx="3595200" cy="1489500"/>
            </a:xfrm>
            <a:prstGeom prst="rect">
              <a:avLst/>
            </a:prstGeom>
            <a:noFill/>
            <a:ln cap="flat" cmpd="sng" w="25400">
              <a:solidFill>
                <a:srgbClr val="EEFF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1233055" y="1496291"/>
              <a:ext cx="291000" cy="166200"/>
            </a:xfrm>
            <a:prstGeom prst="rect">
              <a:avLst/>
            </a:prstGeom>
            <a:noFill/>
            <a:ln cap="flat" cmpd="sng" w="25400">
              <a:solidFill>
                <a:srgbClr val="EEFF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635" y="5093050"/>
            <a:ext cx="5151525" cy="1574075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Configurando o Git pela primeira vez</a:t>
            </a:r>
            <a:endParaRPr/>
          </a:p>
        </p:txBody>
      </p:sp>
      <p:sp>
        <p:nvSpPr>
          <p:cNvPr id="119" name="Google Shape;119;p8"/>
          <p:cNvSpPr txBox="1"/>
          <p:nvPr>
            <p:ph idx="1" type="body"/>
          </p:nvPr>
        </p:nvSpPr>
        <p:spPr>
          <a:xfrm>
            <a:off x="838200" y="1566545"/>
            <a:ext cx="10722610" cy="275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Sua identidade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A primeira coisa que você deve fazer quando instalar o Git é configurar o seu nome de usuário e endereço de e-mail.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/>
              <a:t>Isso é importante porque as confirmações de alterações (commits) no Git usam essa informação, e ela é introduzida de maneira imutável nos commits que você envia.</a:t>
            </a:r>
            <a:endParaRPr/>
          </a:p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385" y="4431030"/>
            <a:ext cx="9963785" cy="176403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Verificando a sua configuração</a:t>
            </a:r>
            <a:endParaRPr/>
          </a:p>
        </p:txBody>
      </p: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105" y="1576705"/>
            <a:ext cx="6331585" cy="141097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" name="Google Shape;12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105" y="3562350"/>
            <a:ext cx="6355715" cy="175895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2. Criando Repositórios</a:t>
            </a:r>
            <a:endParaRPr/>
          </a:p>
        </p:txBody>
      </p:sp>
      <p:sp>
        <p:nvSpPr>
          <p:cNvPr id="135" name="Google Shape;135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um repositório?</a:t>
            </a:r>
            <a:endParaRPr/>
          </a:p>
        </p:txBody>
      </p:sp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961390" y="1373505"/>
            <a:ext cx="9274810" cy="3377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 repositório é um espaço centralizado onde se armazena, organiza, mantém e divulga informações. 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Será “a pasta” ou espaço na qual você guardará o seu projeto, para depois compartilhá-lo com a equipe por meio de um repositório na nuvem, por exemplo, no Github.</a:t>
            </a:r>
            <a:endParaRPr/>
          </a:p>
        </p:txBody>
      </p:sp>
      <p:pic>
        <p:nvPicPr>
          <p:cNvPr descr="images"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0745" y="3228975"/>
            <a:ext cx="6898005" cy="3503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Comandos Git</a:t>
            </a:r>
            <a:endParaRPr/>
          </a:p>
        </p:txBody>
      </p:sp>
      <p:sp>
        <p:nvSpPr>
          <p:cNvPr id="149" name="Google Shape;149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0" name="Google Shape;150;p12"/>
          <p:cNvSpPr/>
          <p:nvPr/>
        </p:nvSpPr>
        <p:spPr>
          <a:xfrm>
            <a:off x="961390" y="1163955"/>
            <a:ext cx="5655945" cy="531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dir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cd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init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&gt; criar-arquivo.html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mkdir nome-pasta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echo “texto” &gt;&gt; arquivo.md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ls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status (git status --short) / (git diff)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- U - Arquivos não rastreados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- A - Arquivos adicionados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- M - Arquivos modificados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None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- D - Arquivos excluídos</a:t>
            </a:r>
            <a:endParaRPr/>
          </a:p>
        </p:txBody>
      </p:sp>
      <p:pic>
        <p:nvPicPr>
          <p:cNvPr id="151" name="Google Shape;15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4140" y="1668780"/>
            <a:ext cx="6847205" cy="243078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GIT: Lembram dos 3 estágios?</a:t>
            </a:r>
            <a:endParaRPr/>
          </a:p>
        </p:txBody>
      </p:sp>
      <p:sp>
        <p:nvSpPr>
          <p:cNvPr id="157" name="Google Shape;157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740410" y="1575435"/>
            <a:ext cx="4418330" cy="914400"/>
          </a:xfrm>
          <a:prstGeom prst="rect">
            <a:avLst/>
          </a:prstGeom>
          <a:solidFill>
            <a:srgbClr val="393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Estamos aqui com o index.html criado.</a:t>
            </a:r>
            <a:endParaRPr/>
          </a:p>
        </p:txBody>
      </p:sp>
      <p:grpSp>
        <p:nvGrpSpPr>
          <p:cNvPr id="159" name="Google Shape;159;p13"/>
          <p:cNvGrpSpPr/>
          <p:nvPr/>
        </p:nvGrpSpPr>
        <p:grpSpPr>
          <a:xfrm>
            <a:off x="5858510" y="1373505"/>
            <a:ext cx="5918200" cy="3945890"/>
            <a:chOff x="4080600" y="1560918"/>
            <a:chExt cx="4051000" cy="2603650"/>
          </a:xfrm>
        </p:grpSpPr>
        <p:sp>
          <p:nvSpPr>
            <p:cNvPr id="160" name="Google Shape;160;p13"/>
            <p:cNvSpPr/>
            <p:nvPr/>
          </p:nvSpPr>
          <p:spPr>
            <a:xfrm>
              <a:off x="5201600" y="1560918"/>
              <a:ext cx="1399200" cy="580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Working directory</a:t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5201675" y="2572643"/>
              <a:ext cx="1399200" cy="580200"/>
            </a:xfrm>
            <a:prstGeom prst="rect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Staging area</a:t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5201750" y="3584368"/>
              <a:ext cx="1399200" cy="5802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Repository</a:t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4080600" y="2140525"/>
              <a:ext cx="9828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endParaRPr/>
            </a:p>
          </p:txBody>
        </p:sp>
        <p:sp>
          <p:nvSpPr>
            <p:cNvPr id="164" name="Google Shape;164;p13"/>
            <p:cNvSpPr txBox="1"/>
            <p:nvPr/>
          </p:nvSpPr>
          <p:spPr>
            <a:xfrm>
              <a:off x="6732400" y="3152550"/>
              <a:ext cx="13992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endParaRPr/>
            </a:p>
          </p:txBody>
        </p:sp>
        <p:cxnSp>
          <p:nvCxnSpPr>
            <p:cNvPr id="165" name="Google Shape;165;p13"/>
            <p:cNvCxnSpPr>
              <a:stCxn id="160" idx="1"/>
              <a:endCxn id="163" idx="0"/>
            </p:cNvCxnSpPr>
            <p:nvPr/>
          </p:nvCxnSpPr>
          <p:spPr>
            <a:xfrm flipH="1">
              <a:off x="4571900" y="1851018"/>
              <a:ext cx="629700" cy="2895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3"/>
            <p:cNvCxnSpPr>
              <a:stCxn id="163" idx="2"/>
              <a:endCxn id="161" idx="1"/>
            </p:cNvCxnSpPr>
            <p:nvPr/>
          </p:nvCxnSpPr>
          <p:spPr>
            <a:xfrm flipH="1" rot="-5400000">
              <a:off x="4677000" y="2338041"/>
              <a:ext cx="419700" cy="629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3"/>
            <p:cNvCxnSpPr>
              <a:stCxn id="161" idx="3"/>
              <a:endCxn id="164" idx="0"/>
            </p:cNvCxnSpPr>
            <p:nvPr/>
          </p:nvCxnSpPr>
          <p:spPr>
            <a:xfrm>
              <a:off x="6600875" y="2862743"/>
              <a:ext cx="831000" cy="2898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3"/>
            <p:cNvCxnSpPr>
              <a:stCxn id="164" idx="2"/>
              <a:endCxn id="162" idx="3"/>
            </p:cNvCxnSpPr>
            <p:nvPr/>
          </p:nvCxnSpPr>
          <p:spPr>
            <a:xfrm rot="5400000">
              <a:off x="6806800" y="3249266"/>
              <a:ext cx="419400" cy="8310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9" name="Google Shape;169;p13"/>
          <p:cNvCxnSpPr/>
          <p:nvPr/>
        </p:nvCxnSpPr>
        <p:spPr>
          <a:xfrm flipH="1" rot="10800000">
            <a:off x="5158565" y="1810080"/>
            <a:ext cx="9039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Comandos Git - git add</a:t>
            </a:r>
            <a:endParaRPr/>
          </a:p>
        </p:txBody>
      </p:sp>
      <p:sp>
        <p:nvSpPr>
          <p:cNvPr id="175" name="Google Shape;175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961390" y="1373505"/>
            <a:ext cx="10704830" cy="254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Agora é preciso adicionar o(s) arquivo(s) no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Staging Area</a:t>
            </a: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nosso caso, para o index.html, vamos usar o comando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add nome do arquivo</a:t>
            </a: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que permite preparar o arquivo para depois fazer o upload para o repositório.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Também é possível usar 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add .</a:t>
            </a: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, que anexa todos os arquivos novos.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Para verificar se funcionou, utilizamos novamente o git status.</a:t>
            </a:r>
            <a:endParaRPr/>
          </a:p>
        </p:txBody>
      </p:sp>
      <p:pic>
        <p:nvPicPr>
          <p:cNvPr id="177" name="Google Shape;17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6555" y="3919855"/>
            <a:ext cx="6358890" cy="267081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GIT: Lembram dos 3 estágios?</a:t>
            </a:r>
            <a:endParaRPr/>
          </a:p>
        </p:txBody>
      </p:sp>
      <p:sp>
        <p:nvSpPr>
          <p:cNvPr id="183" name="Google Shape;183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740410" y="3237865"/>
            <a:ext cx="4418330" cy="914400"/>
          </a:xfrm>
          <a:prstGeom prst="rect">
            <a:avLst/>
          </a:prstGeom>
          <a:solidFill>
            <a:srgbClr val="393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Estamos aqui com o index.html anexado.</a:t>
            </a:r>
            <a:endParaRPr/>
          </a:p>
        </p:txBody>
      </p:sp>
      <p:grpSp>
        <p:nvGrpSpPr>
          <p:cNvPr id="185" name="Google Shape;185;p15"/>
          <p:cNvGrpSpPr/>
          <p:nvPr/>
        </p:nvGrpSpPr>
        <p:grpSpPr>
          <a:xfrm>
            <a:off x="5858510" y="1373505"/>
            <a:ext cx="5918200" cy="3945890"/>
            <a:chOff x="4080600" y="1560918"/>
            <a:chExt cx="4051000" cy="2603650"/>
          </a:xfrm>
        </p:grpSpPr>
        <p:sp>
          <p:nvSpPr>
            <p:cNvPr id="186" name="Google Shape;186;p15"/>
            <p:cNvSpPr/>
            <p:nvPr/>
          </p:nvSpPr>
          <p:spPr>
            <a:xfrm>
              <a:off x="5201600" y="1560918"/>
              <a:ext cx="1399200" cy="580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Working directory</a:t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201675" y="2572643"/>
              <a:ext cx="1399200" cy="580200"/>
            </a:xfrm>
            <a:prstGeom prst="rect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Staging area</a:t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5201750" y="3584368"/>
              <a:ext cx="1399200" cy="5802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Repository</a:t>
              </a:r>
              <a:endParaRPr/>
            </a:p>
          </p:txBody>
        </p:sp>
        <p:sp>
          <p:nvSpPr>
            <p:cNvPr id="189" name="Google Shape;189;p15"/>
            <p:cNvSpPr txBox="1"/>
            <p:nvPr/>
          </p:nvSpPr>
          <p:spPr>
            <a:xfrm>
              <a:off x="4080600" y="2140525"/>
              <a:ext cx="9828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endParaRPr/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6732400" y="3152550"/>
              <a:ext cx="13992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endParaRPr/>
            </a:p>
          </p:txBody>
        </p:sp>
        <p:cxnSp>
          <p:nvCxnSpPr>
            <p:cNvPr id="191" name="Google Shape;191;p15"/>
            <p:cNvCxnSpPr>
              <a:stCxn id="186" idx="1"/>
              <a:endCxn id="189" idx="0"/>
            </p:cNvCxnSpPr>
            <p:nvPr/>
          </p:nvCxnSpPr>
          <p:spPr>
            <a:xfrm flipH="1">
              <a:off x="4571900" y="1851018"/>
              <a:ext cx="629700" cy="2895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15"/>
            <p:cNvCxnSpPr>
              <a:stCxn id="189" idx="2"/>
              <a:endCxn id="187" idx="1"/>
            </p:cNvCxnSpPr>
            <p:nvPr/>
          </p:nvCxnSpPr>
          <p:spPr>
            <a:xfrm flipH="1" rot="-5400000">
              <a:off x="4677000" y="2338041"/>
              <a:ext cx="419700" cy="629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15"/>
            <p:cNvCxnSpPr>
              <a:stCxn id="187" idx="3"/>
              <a:endCxn id="190" idx="0"/>
            </p:cNvCxnSpPr>
            <p:nvPr/>
          </p:nvCxnSpPr>
          <p:spPr>
            <a:xfrm>
              <a:off x="6600875" y="2862743"/>
              <a:ext cx="831000" cy="2898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15"/>
            <p:cNvCxnSpPr>
              <a:stCxn id="190" idx="2"/>
              <a:endCxn id="188" idx="3"/>
            </p:cNvCxnSpPr>
            <p:nvPr/>
          </p:nvCxnSpPr>
          <p:spPr>
            <a:xfrm rot="5400000">
              <a:off x="6806800" y="3249266"/>
              <a:ext cx="419400" cy="8310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95" name="Google Shape;195;p15"/>
          <p:cNvCxnSpPr/>
          <p:nvPr/>
        </p:nvCxnSpPr>
        <p:spPr>
          <a:xfrm flipH="1" rot="10800000">
            <a:off x="5158565" y="3472510"/>
            <a:ext cx="9039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Comandos Git - git commit</a:t>
            </a:r>
            <a:endParaRPr/>
          </a:p>
        </p:txBody>
      </p:sp>
      <p:sp>
        <p:nvSpPr>
          <p:cNvPr id="201" name="Google Shape;201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961390" y="1247775"/>
            <a:ext cx="10704830" cy="273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Uma vez que os nossos arquivos estejam na Staging Area, devemos passá-los para o nosso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repositório local</a:t>
            </a: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 E, para isso, devemos usar o comando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commit</a:t>
            </a: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que é o comando que vai nos permitir enviar os nossos arquivos para o repositório que foi criado. 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comando é o seguinte: 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commit -m “Comentário sobre o que se trata as modificações”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Para desfazer um commit: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reset HEAD~1</a:t>
            </a:r>
            <a:endParaRPr/>
          </a:p>
        </p:txBody>
      </p:sp>
      <p:pic>
        <p:nvPicPr>
          <p:cNvPr id="203" name="Google Shape;20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4143375"/>
            <a:ext cx="9962515" cy="1816100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GIT: Lembram dos 3 estágios?</a:t>
            </a:r>
            <a:endParaRPr/>
          </a:p>
        </p:txBody>
      </p:sp>
      <p:sp>
        <p:nvSpPr>
          <p:cNvPr id="209" name="Google Shape;209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740410" y="4620895"/>
            <a:ext cx="4418330" cy="914400"/>
          </a:xfrm>
          <a:prstGeom prst="rect">
            <a:avLst/>
          </a:prstGeom>
          <a:solidFill>
            <a:srgbClr val="393B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Estamos aqui com o index.html dentro do repositório.</a:t>
            </a:r>
            <a:endParaRPr/>
          </a:p>
        </p:txBody>
      </p:sp>
      <p:grpSp>
        <p:nvGrpSpPr>
          <p:cNvPr id="211" name="Google Shape;211;p17"/>
          <p:cNvGrpSpPr/>
          <p:nvPr/>
        </p:nvGrpSpPr>
        <p:grpSpPr>
          <a:xfrm>
            <a:off x="5858510" y="1373505"/>
            <a:ext cx="5918200" cy="3945890"/>
            <a:chOff x="4080600" y="1560918"/>
            <a:chExt cx="4051000" cy="2603650"/>
          </a:xfrm>
        </p:grpSpPr>
        <p:sp>
          <p:nvSpPr>
            <p:cNvPr id="212" name="Google Shape;212;p17"/>
            <p:cNvSpPr/>
            <p:nvPr/>
          </p:nvSpPr>
          <p:spPr>
            <a:xfrm>
              <a:off x="5201600" y="1560918"/>
              <a:ext cx="1399200" cy="5802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Working directory</a:t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5201675" y="2572643"/>
              <a:ext cx="1399200" cy="580200"/>
            </a:xfrm>
            <a:prstGeom prst="rect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Staging area</a:t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5201750" y="3584368"/>
              <a:ext cx="1399200" cy="5802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Repository</a:t>
              </a:r>
              <a:endParaRPr/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4080600" y="2140525"/>
              <a:ext cx="9828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add</a:t>
              </a:r>
              <a:endParaRPr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6732400" y="3152550"/>
              <a:ext cx="1399200" cy="302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pt-BR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git commit</a:t>
              </a:r>
              <a:endParaRPr/>
            </a:p>
          </p:txBody>
        </p:sp>
        <p:cxnSp>
          <p:nvCxnSpPr>
            <p:cNvPr id="217" name="Google Shape;217;p17"/>
            <p:cNvCxnSpPr>
              <a:stCxn id="212" idx="1"/>
              <a:endCxn id="215" idx="0"/>
            </p:cNvCxnSpPr>
            <p:nvPr/>
          </p:nvCxnSpPr>
          <p:spPr>
            <a:xfrm flipH="1">
              <a:off x="4571900" y="1851018"/>
              <a:ext cx="629700" cy="2895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17"/>
            <p:cNvCxnSpPr>
              <a:stCxn id="215" idx="2"/>
              <a:endCxn id="213" idx="1"/>
            </p:cNvCxnSpPr>
            <p:nvPr/>
          </p:nvCxnSpPr>
          <p:spPr>
            <a:xfrm flipH="1" rot="-5400000">
              <a:off x="4677000" y="2338041"/>
              <a:ext cx="419700" cy="629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17"/>
            <p:cNvCxnSpPr>
              <a:stCxn id="213" idx="3"/>
              <a:endCxn id="216" idx="0"/>
            </p:cNvCxnSpPr>
            <p:nvPr/>
          </p:nvCxnSpPr>
          <p:spPr>
            <a:xfrm>
              <a:off x="6600875" y="2862743"/>
              <a:ext cx="831000" cy="2898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17"/>
            <p:cNvCxnSpPr>
              <a:stCxn id="216" idx="2"/>
              <a:endCxn id="214" idx="3"/>
            </p:cNvCxnSpPr>
            <p:nvPr/>
          </p:nvCxnSpPr>
          <p:spPr>
            <a:xfrm rot="5400000">
              <a:off x="6806800" y="3249266"/>
              <a:ext cx="419400" cy="8310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21" name="Google Shape;221;p17"/>
          <p:cNvCxnSpPr/>
          <p:nvPr/>
        </p:nvCxnSpPr>
        <p:spPr>
          <a:xfrm flipH="1" rot="10800000">
            <a:off x="5158565" y="4855540"/>
            <a:ext cx="9039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Comandos Git - git log</a:t>
            </a:r>
            <a:endParaRPr/>
          </a:p>
        </p:txBody>
      </p:sp>
      <p:sp>
        <p:nvSpPr>
          <p:cNvPr id="227" name="Google Shape;227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961390" y="1275715"/>
            <a:ext cx="10704830" cy="254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 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log</a:t>
            </a: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podemos ver os logs (histórico) do que aconteceu no repositório.</a:t>
            </a:r>
            <a:endParaRPr/>
          </a:p>
          <a:p>
            <a:pPr indent="-8255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Arial"/>
              <a:buChar char="•"/>
            </a:pPr>
            <a:r>
              <a:rPr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Para ver os commits realizados de forma simplificada podemos usar o comando </a:t>
            </a:r>
            <a:r>
              <a:rPr b="1" lang="pt-BR" sz="23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git log --oneline</a:t>
            </a:r>
            <a:endParaRPr sz="23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6820" y="1803400"/>
            <a:ext cx="7390130" cy="1864995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6820" y="4641215"/>
            <a:ext cx="7327900" cy="1951355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3. GitHub</a:t>
            </a:r>
            <a:endParaRPr/>
          </a:p>
        </p:txBody>
      </p:sp>
      <p:sp>
        <p:nvSpPr>
          <p:cNvPr id="236" name="Google Shape;236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 que é GitHub?</a:t>
            </a:r>
            <a:endParaRPr/>
          </a:p>
        </p:txBody>
      </p:sp>
      <p:sp>
        <p:nvSpPr>
          <p:cNvPr id="242" name="Google Shape;242;p20"/>
          <p:cNvSpPr txBox="1"/>
          <p:nvPr>
            <p:ph idx="1" type="body"/>
          </p:nvPr>
        </p:nvSpPr>
        <p:spPr>
          <a:xfrm>
            <a:off x="768985" y="1373505"/>
            <a:ext cx="7740650" cy="497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Tudo o que vinha acontecendo no Git era de maneira local, e não precisávamos da internet para salvar os nossos commits e o nosso repositório.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Agora queremos compartilhar o nosso trabalho com outras pessoas (parceiros de projeto, clientes, etc.). Para isso, utilizamos o Github!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O Github é uma espécie de “rede social” de programadores. Com esta plataforma, podemos subir os nossos projetos e deixar que outras pessoas colaborem.</a:t>
            </a:r>
            <a:endParaRPr/>
          </a:p>
        </p:txBody>
      </p:sp>
      <p:sp>
        <p:nvSpPr>
          <p:cNvPr id="243" name="Google Shape;243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4" name="Google Shape;2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8700" y="2573655"/>
            <a:ext cx="3411855" cy="161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Criando um repositório no GitHub</a:t>
            </a:r>
            <a:endParaRPr/>
          </a:p>
        </p:txBody>
      </p:sp>
      <p:sp>
        <p:nvSpPr>
          <p:cNvPr id="250" name="Google Shape;250;p21"/>
          <p:cNvSpPr txBox="1"/>
          <p:nvPr>
            <p:ph idx="1" type="body"/>
          </p:nvPr>
        </p:nvSpPr>
        <p:spPr>
          <a:xfrm>
            <a:off x="768985" y="1373505"/>
            <a:ext cx="5625465" cy="497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É necessário seguir as regrinhas de arquivos: não ter acento, não ter espaço, não é indicado utilizar letras maiúsculas, para separar palavras use tracinho, etc.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Escolha entre “público” ou “privado” e depois, clique em “Create repository”.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Use público para que possamos compartilhar e publicar.</a:t>
            </a:r>
            <a:endParaRPr/>
          </a:p>
        </p:txBody>
      </p:sp>
      <p:sp>
        <p:nvSpPr>
          <p:cNvPr id="251" name="Google Shape;251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7350" y="1202055"/>
            <a:ext cx="5137785" cy="44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Fazer o upload no nosso repositório</a:t>
            </a:r>
            <a:endParaRPr/>
          </a:p>
        </p:txBody>
      </p:sp>
      <p:sp>
        <p:nvSpPr>
          <p:cNvPr id="258" name="Google Shape;258;p22"/>
          <p:cNvSpPr txBox="1"/>
          <p:nvPr>
            <p:ph idx="1" type="body"/>
          </p:nvPr>
        </p:nvSpPr>
        <p:spPr>
          <a:xfrm>
            <a:off x="768985" y="1373505"/>
            <a:ext cx="10584815" cy="167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Para enviar os arquivos para o repositório do GitHub, primeiro precisamos fazer um vínculo do git no nosso projeto com o GitHub.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b="1" lang="pt-BR" sz="2300"/>
              <a:t>git remote add origin “link do repositório”</a:t>
            </a:r>
            <a:endParaRPr/>
          </a:p>
        </p:txBody>
      </p:sp>
      <p:sp>
        <p:nvSpPr>
          <p:cNvPr id="259" name="Google Shape;259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55" y="3468370"/>
            <a:ext cx="11550650" cy="68326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Fazer o upload no nosso repositório</a:t>
            </a:r>
            <a:endParaRPr/>
          </a:p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768985" y="1373505"/>
            <a:ext cx="10584815" cy="167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Vamos subir todos os nossos arquivos para o repositório do Github.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Para fazer isso, o novo comando que usaremos aqui é o git push.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b="1" lang="pt-BR" sz="2300"/>
              <a:t>git push -u origin master</a:t>
            </a:r>
            <a:endParaRPr/>
          </a:p>
        </p:txBody>
      </p:sp>
      <p:sp>
        <p:nvSpPr>
          <p:cNvPr id="267" name="Google Shape;267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635" y="3052445"/>
            <a:ext cx="7270750" cy="3481705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Os arquivos já no GitHub</a:t>
            </a:r>
            <a:endParaRPr/>
          </a:p>
        </p:txBody>
      </p:sp>
      <p:sp>
        <p:nvSpPr>
          <p:cNvPr id="274" name="Google Shape;274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75" name="Google Shape;275;p24"/>
          <p:cNvGrpSpPr/>
          <p:nvPr/>
        </p:nvGrpSpPr>
        <p:grpSpPr>
          <a:xfrm>
            <a:off x="868163" y="1509844"/>
            <a:ext cx="8248793" cy="1721524"/>
            <a:chOff x="714375" y="1418550"/>
            <a:chExt cx="7168500" cy="1364232"/>
          </a:xfrm>
        </p:grpSpPr>
        <p:sp>
          <p:nvSpPr>
            <p:cNvPr id="276" name="Google Shape;276;p24"/>
            <p:cNvSpPr/>
            <p:nvPr/>
          </p:nvSpPr>
          <p:spPr>
            <a:xfrm>
              <a:off x="714375" y="1418550"/>
              <a:ext cx="7168500" cy="1364100"/>
            </a:xfrm>
            <a:prstGeom prst="rect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7" name="Google Shape;277;p24"/>
            <p:cNvGrpSpPr/>
            <p:nvPr/>
          </p:nvGrpSpPr>
          <p:grpSpPr>
            <a:xfrm>
              <a:off x="740226" y="1442393"/>
              <a:ext cx="7142354" cy="1340389"/>
              <a:chOff x="863915" y="2004762"/>
              <a:chExt cx="7470301" cy="1390012"/>
            </a:xfrm>
          </p:grpSpPr>
          <p:pic>
            <p:nvPicPr>
              <p:cNvPr id="278" name="Google Shape;278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63915" y="2004762"/>
                <a:ext cx="7470301" cy="1390012"/>
              </a:xfrm>
              <a:prstGeom prst="rect">
                <a:avLst/>
              </a:prstGeom>
              <a:noFill/>
              <a:ln cap="flat" cmpd="sng" w="381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279" name="Google Shape;279;p24"/>
              <p:cNvSpPr/>
              <p:nvPr/>
            </p:nvSpPr>
            <p:spPr>
              <a:xfrm>
                <a:off x="959325" y="2614349"/>
                <a:ext cx="7225500" cy="741300"/>
              </a:xfrm>
              <a:prstGeom prst="rect">
                <a:avLst/>
              </a:prstGeom>
              <a:noFill/>
              <a:ln cap="flat" cmpd="sng" w="381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0" name="Google Shape;2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480" y="5564135"/>
            <a:ext cx="3962975" cy="1097800"/>
          </a:xfrm>
          <a:prstGeom prst="rect">
            <a:avLst/>
          </a:prstGeom>
          <a:noFill/>
          <a:ln cap="flat" cmpd="sng" w="38100">
            <a:solidFill>
              <a:srgbClr val="EAFF6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81" name="Google Shape;281;p24"/>
          <p:cNvGrpSpPr/>
          <p:nvPr/>
        </p:nvGrpSpPr>
        <p:grpSpPr>
          <a:xfrm>
            <a:off x="1002480" y="3410285"/>
            <a:ext cx="3962975" cy="1480336"/>
            <a:chOff x="4835975" y="1257000"/>
            <a:chExt cx="3962975" cy="1480336"/>
          </a:xfrm>
        </p:grpSpPr>
        <p:pic>
          <p:nvPicPr>
            <p:cNvPr id="282" name="Google Shape;282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35975" y="1257000"/>
              <a:ext cx="3962975" cy="1480336"/>
            </a:xfrm>
            <a:prstGeom prst="rect">
              <a:avLst/>
            </a:prstGeom>
            <a:noFill/>
            <a:ln cap="flat" cmpd="sng" w="38100">
              <a:solidFill>
                <a:srgbClr val="EAFF6A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3" name="Google Shape;283;p24"/>
            <p:cNvSpPr/>
            <p:nvPr/>
          </p:nvSpPr>
          <p:spPr>
            <a:xfrm>
              <a:off x="6112425" y="1811550"/>
              <a:ext cx="1306200" cy="271800"/>
            </a:xfrm>
            <a:prstGeom prst="rect">
              <a:avLst/>
            </a:prstGeom>
            <a:noFill/>
            <a:ln cap="flat" cmpd="sng" w="38100">
              <a:solidFill>
                <a:srgbClr val="EAFF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Atualizando um repositório</a:t>
            </a:r>
            <a:endParaRPr/>
          </a:p>
        </p:txBody>
      </p:sp>
      <p:sp>
        <p:nvSpPr>
          <p:cNvPr id="289" name="Google Shape;289;p25"/>
          <p:cNvSpPr txBox="1"/>
          <p:nvPr>
            <p:ph idx="1" type="body"/>
          </p:nvPr>
        </p:nvSpPr>
        <p:spPr>
          <a:xfrm>
            <a:off x="768985" y="1373505"/>
            <a:ext cx="9562465" cy="5227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Caso seja feita alguma atualização no repositório pelo GitHub ou em outro computador, também precisamos atualizar a nossa versão local, que está no nosso computador.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Para isso utilizamos o comando </a:t>
            </a:r>
            <a:r>
              <a:rPr b="1" lang="pt-BR" sz="2300"/>
              <a:t>git pull origin master</a:t>
            </a:r>
            <a:endParaRPr/>
          </a:p>
          <a:p>
            <a:pPr indent="-8255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None/>
            </a:pPr>
            <a:r>
              <a:t/>
            </a:r>
            <a:endParaRPr b="1" sz="2300"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Podemos também pegar um repositório que esteja disponível no GitHub e baixar para usar no nosso computador, podendo ser um repositório seu ou de outro usuário.</a:t>
            </a:r>
            <a:endParaRPr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lang="pt-BR" sz="2300"/>
              <a:t>Para isso, no terminal, utilizamos o comando git clone seguido da URL do repositório.</a:t>
            </a:r>
            <a:endParaRPr b="1" sz="2300"/>
          </a:p>
          <a:p>
            <a:pPr indent="-228600" lvl="0" marL="228600" rtl="0" algn="just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300"/>
              <a:buChar char="•"/>
            </a:pPr>
            <a:r>
              <a:rPr b="1" lang="pt-BR" sz="2300"/>
              <a:t>git clone https://github.com/minhacontagmail/primeiroprojeto.git</a:t>
            </a:r>
            <a:endParaRPr/>
          </a:p>
        </p:txBody>
      </p:sp>
      <p:sp>
        <p:nvSpPr>
          <p:cNvPr id="290" name="Google Shape;290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git_CompT" id="296" name="Google Shape;2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445" y="763905"/>
            <a:ext cx="10460355" cy="5709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302" name="Google Shape;302;p27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https://git-scm.com/doc | Documentação do Git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https://learngitbranching.js.org/?locale=pt_BR | Aprenda mais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https://docs.github.com/pt | GitHub Doc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https://pages.github.com/ | GitHub Pages</a:t>
            </a:r>
            <a:endParaRPr/>
          </a:p>
        </p:txBody>
      </p:sp>
      <p:sp>
        <p:nvSpPr>
          <p:cNvPr id="303" name="Google Shape;303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309" name="Google Shape;309;p28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1046-12.2.0.13489</vt:lpwstr>
  </property>
</Properties>
</file>