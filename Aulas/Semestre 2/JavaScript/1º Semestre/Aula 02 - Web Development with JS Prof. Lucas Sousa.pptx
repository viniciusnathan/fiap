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6858000" cx="12192000"/>
  <p:notesSz cx="6858000" cy="9144000"/>
  <p:embeddedFontLst>
    <p:embeddedFont>
      <p:font typeface="DM Sans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0" roundtripDataSignature="AMtx7mj5EOYy+WQX1WCuDTXsuMMtWN14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753C663-57FA-4825-85F1-575A634AF19A}">
  <a:tblStyle styleId="{7753C663-57FA-4825-85F1-575A634AF19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DMSans-bold.fntdata"/><Relationship Id="rId14" Type="http://schemas.openxmlformats.org/officeDocument/2006/relationships/slide" Target="slides/slide9.xml"/><Relationship Id="rId36" Type="http://schemas.openxmlformats.org/officeDocument/2006/relationships/font" Target="fonts/DMSans-regular.fntdata"/><Relationship Id="rId17" Type="http://schemas.openxmlformats.org/officeDocument/2006/relationships/slide" Target="slides/slide12.xml"/><Relationship Id="rId39" Type="http://schemas.openxmlformats.org/officeDocument/2006/relationships/font" Target="fonts/DMSans-boldItalic.fntdata"/><Relationship Id="rId16" Type="http://schemas.openxmlformats.org/officeDocument/2006/relationships/slide" Target="slides/slide11.xml"/><Relationship Id="rId38" Type="http://schemas.openxmlformats.org/officeDocument/2006/relationships/font" Target="fonts/DMSans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las subsiguientes slides de Actividades en clase.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+ Black">
  <p:cSld name="Logo + Black">
    <p:bg>
      <p:bgPr>
        <a:solidFill>
          <a:srgbClr val="1A1C1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1700" y="292781"/>
            <a:ext cx="11588600" cy="6272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1366" y="2854782"/>
            <a:ext cx="4269268" cy="1148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abeçalho da Seção">
  <p:cSld name="1_Cabeçalho da Seção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975643"/>
            <a:ext cx="12191999" cy="290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3"/>
          <p:cNvSpPr txBox="1"/>
          <p:nvPr>
            <p:ph type="title"/>
          </p:nvPr>
        </p:nvSpPr>
        <p:spPr>
          <a:xfrm>
            <a:off x="838200" y="2073528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  <a:defRPr sz="4000">
                <a:solidFill>
                  <a:srgbClr val="D8D8D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3"/>
          <p:cNvSpPr txBox="1"/>
          <p:nvPr>
            <p:ph idx="1" type="body"/>
          </p:nvPr>
        </p:nvSpPr>
        <p:spPr>
          <a:xfrm>
            <a:off x="831850" y="2967290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600"/>
              <a:buNone/>
              <a:defRPr b="0" sz="36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id="22" name="Google Shape;2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094" y="2039437"/>
            <a:ext cx="199158" cy="259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3"/>
          <p:cNvSpPr txBox="1"/>
          <p:nvPr>
            <p:ph idx="2" type="body"/>
          </p:nvPr>
        </p:nvSpPr>
        <p:spPr>
          <a:xfrm>
            <a:off x="831850" y="3960557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b="1"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33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7" name="Google Shape;27;p33"/>
          <p:cNvSpPr txBox="1"/>
          <p:nvPr/>
        </p:nvSpPr>
        <p:spPr>
          <a:xfrm>
            <a:off x="219075" y="6088030"/>
            <a:ext cx="3384737" cy="39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Fevereiro 2025 / versão 1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Logo + Black">
  <p:cSld name="1_Logo + Black">
    <p:bg>
      <p:bgPr>
        <a:solidFill>
          <a:srgbClr val="1A1C1E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4"/>
          <p:cNvSpPr txBox="1"/>
          <p:nvPr>
            <p:ph type="title"/>
          </p:nvPr>
        </p:nvSpPr>
        <p:spPr>
          <a:xfrm>
            <a:off x="838198" y="3017044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800"/>
              <a:buFont typeface="Arial"/>
              <a:buNone/>
              <a:defRPr sz="4800">
                <a:solidFill>
                  <a:srgbClr val="D8D8D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0" name="Google Shape;30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7839" y="364886"/>
            <a:ext cx="1579539" cy="424896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34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3" name="Google Shape;33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9100" y="0"/>
            <a:ext cx="11353798" cy="168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35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5"/>
          <p:cNvSpPr txBox="1"/>
          <p:nvPr>
            <p:ph idx="1" type="body"/>
          </p:nvPr>
        </p:nvSpPr>
        <p:spPr>
          <a:xfrm>
            <a:off x="838200" y="1493521"/>
            <a:ext cx="10515600" cy="4976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8" name="Google Shape;38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7320" y="387750"/>
            <a:ext cx="121148" cy="988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35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ndo blanco 1">
  <p:cSld name="Fondo blanco 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36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>
  <p:cSld name="Cabeçalho da Seção">
    <p:bg>
      <p:bgPr>
        <a:solidFill>
          <a:schemeClr val="lt1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975643"/>
            <a:ext cx="12191999" cy="290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37"/>
          <p:cNvSpPr txBox="1"/>
          <p:nvPr>
            <p:ph type="title"/>
          </p:nvPr>
        </p:nvSpPr>
        <p:spPr>
          <a:xfrm>
            <a:off x="838199" y="2073528"/>
            <a:ext cx="11183471" cy="1234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  <a:defRPr sz="4000">
                <a:solidFill>
                  <a:srgbClr val="D8D8D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7" name="Google Shape;4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094" y="2039437"/>
            <a:ext cx="199158" cy="259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49" name="Google Shape;49;p37"/>
          <p:cNvSpPr txBox="1"/>
          <p:nvPr/>
        </p:nvSpPr>
        <p:spPr>
          <a:xfrm>
            <a:off x="838199" y="3357951"/>
            <a:ext cx="10699378" cy="1234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400"/>
              <a:buFont typeface="Arial"/>
              <a:buNone/>
            </a:pPr>
            <a:r>
              <a:rPr b="1" lang="pt-BR" sz="24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Todos direitos reservados. Reprodução ou divulgação total ou parcial deste documento é expressamente proibido sem o consentimento formal, por escrito, do Professor (autor).</a:t>
            </a:r>
            <a:endParaRPr b="1" sz="4800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ítulo e Conteúdo">
  <p:cSld name="1_Título e Conteúdo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38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22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16.jpg"/><Relationship Id="rId6" Type="http://schemas.openxmlformats.org/officeDocument/2006/relationships/image" Target="../media/image18.png"/><Relationship Id="rId7" Type="http://schemas.openxmlformats.org/officeDocument/2006/relationships/image" Target="../media/image13.png"/><Relationship Id="rId8" Type="http://schemas.openxmlformats.org/officeDocument/2006/relationships/image" Target="../media/image20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"/>
          <p:cNvSpPr txBox="1"/>
          <p:nvPr>
            <p:ph idx="4294967295" type="sldNum"/>
          </p:nvPr>
        </p:nvSpPr>
        <p:spPr>
          <a:xfrm>
            <a:off x="11353800" y="5594350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/>
          <p:nvPr>
            <p:ph type="title"/>
          </p:nvPr>
        </p:nvSpPr>
        <p:spPr>
          <a:xfrm>
            <a:off x="838200" y="2073528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</a:pPr>
            <a:r>
              <a:rPr lang="pt-BR"/>
              <a:t>Engenharia de Software</a:t>
            </a:r>
            <a:endParaRPr/>
          </a:p>
        </p:txBody>
      </p:sp>
      <p:sp>
        <p:nvSpPr>
          <p:cNvPr id="63" name="Google Shape;63;p2"/>
          <p:cNvSpPr txBox="1"/>
          <p:nvPr>
            <p:ph idx="1" type="body"/>
          </p:nvPr>
        </p:nvSpPr>
        <p:spPr>
          <a:xfrm>
            <a:off x="831850" y="2967290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3600"/>
              <a:buNone/>
            </a:pPr>
            <a:r>
              <a:rPr lang="pt-BR"/>
              <a:t>Web Development with JS</a:t>
            </a:r>
            <a:endParaRPr/>
          </a:p>
        </p:txBody>
      </p:sp>
      <p:sp>
        <p:nvSpPr>
          <p:cNvPr id="64" name="Google Shape;64;p2"/>
          <p:cNvSpPr txBox="1"/>
          <p:nvPr>
            <p:ph idx="2" type="body"/>
          </p:nvPr>
        </p:nvSpPr>
        <p:spPr>
          <a:xfrm>
            <a:off x="831850" y="3960557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</a:pPr>
            <a:r>
              <a:rPr lang="pt-BR"/>
              <a:t>Prof. Lucas Sousa</a:t>
            </a:r>
            <a:endParaRPr/>
          </a:p>
        </p:txBody>
      </p:sp>
      <p:sp>
        <p:nvSpPr>
          <p:cNvPr id="65" name="Google Shape;65;p2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 txBox="1"/>
          <p:nvPr>
            <p:ph type="title"/>
          </p:nvPr>
        </p:nvSpPr>
        <p:spPr>
          <a:xfrm>
            <a:off x="838198" y="3017043"/>
            <a:ext cx="10515600" cy="13151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ct val="100000"/>
              <a:buFont typeface="Arial"/>
              <a:buNone/>
            </a:pPr>
            <a:r>
              <a:rPr lang="pt-BR"/>
              <a:t>Introdução ao JavaScript:</a:t>
            </a:r>
            <a:br>
              <a:rPr lang="pt-BR"/>
            </a:br>
            <a:r>
              <a:rPr lang="pt-BR"/>
              <a:t>Conceitos Básicos</a:t>
            </a:r>
            <a:endParaRPr/>
          </a:p>
        </p:txBody>
      </p:sp>
      <p:sp>
        <p:nvSpPr>
          <p:cNvPr id="71" name="Google Shape;71;p3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Aplicativo WEB</a:t>
            </a:r>
            <a:endParaRPr/>
          </a:p>
        </p:txBody>
      </p:sp>
      <p:sp>
        <p:nvSpPr>
          <p:cNvPr id="77" name="Google Shape;77;p4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78" name="Google Shape;78;p4"/>
          <p:cNvPicPr preferRelativeResize="0"/>
          <p:nvPr/>
        </p:nvPicPr>
        <p:blipFill rotWithShape="1">
          <a:blip r:embed="rId3">
            <a:alphaModFix/>
          </a:blip>
          <a:srcRect b="0" l="24253" r="24252" t="0"/>
          <a:stretch/>
        </p:blipFill>
        <p:spPr>
          <a:xfrm>
            <a:off x="7398755" y="796049"/>
            <a:ext cx="3816400" cy="537584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4"/>
          <p:cNvSpPr txBox="1"/>
          <p:nvPr/>
        </p:nvSpPr>
        <p:spPr>
          <a:xfrm>
            <a:off x="838199" y="1373588"/>
            <a:ext cx="6421911" cy="53552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Enquanto os sites procuram fornecer in</a:t>
            </a:r>
            <a:r>
              <a:rPr b="1"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formações estáticas</a:t>
            </a: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os aplicativos web permitem que os usuários realizem </a:t>
            </a:r>
            <a:r>
              <a:rPr b="1"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múltiplas ações</a:t>
            </a: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página.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400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Os aplicativos web são plataformas dinâmicas e interativas</a:t>
            </a: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 suas funcionalidades estão em constante manutenção e melhoria.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Plataformas como o Mercado Livre, Youtube, Gmail, Facebook e Fiap são consideradas web apps devido à quantidade de funcionalidades que oferecem.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Aplicativo WEB</a:t>
            </a:r>
            <a:endParaRPr/>
          </a:p>
        </p:txBody>
      </p:sp>
      <p:sp>
        <p:nvSpPr>
          <p:cNvPr id="85" name="Google Shape;85;p5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86" name="Google Shape;86;p5"/>
          <p:cNvPicPr preferRelativeResize="0"/>
          <p:nvPr/>
        </p:nvPicPr>
        <p:blipFill rotWithShape="1">
          <a:blip r:embed="rId3">
            <a:alphaModFix/>
          </a:blip>
          <a:srcRect b="0" l="26365" r="26359" t="0"/>
          <a:stretch/>
        </p:blipFill>
        <p:spPr>
          <a:xfrm>
            <a:off x="7369150" y="753088"/>
            <a:ext cx="3881707" cy="546783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5"/>
          <p:cNvSpPr txBox="1"/>
          <p:nvPr/>
        </p:nvSpPr>
        <p:spPr>
          <a:xfrm>
            <a:off x="838200" y="1785979"/>
            <a:ext cx="6287849" cy="424728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Atualmente, o desenvolvimento de sites estáticos não é muito comum.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se busca construir são plataformas que ofereçam um </a:t>
            </a:r>
            <a:r>
              <a:rPr b="1"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alto nível de interatividade</a:t>
            </a: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um </a:t>
            </a:r>
            <a:r>
              <a:rPr b="1"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variado número de funcionalidades. 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Já não falamos de sites, mas sim de aplicativos web que permitem que seus usuários realizem tarefas importantes.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Aplicativo WEB</a:t>
            </a:r>
            <a:endParaRPr/>
          </a:p>
        </p:txBody>
      </p:sp>
      <p:sp>
        <p:nvSpPr>
          <p:cNvPr id="93" name="Google Shape;93;p6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4" name="Google Shape;94;p6"/>
          <p:cNvSpPr txBox="1"/>
          <p:nvPr/>
        </p:nvSpPr>
        <p:spPr>
          <a:xfrm>
            <a:off x="863778" y="1641404"/>
            <a:ext cx="9914150" cy="129263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Também é normal </a:t>
            </a:r>
            <a:r>
              <a:rPr b="1"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consumir alguma API</a:t>
            </a: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serviço de back-end conectado à uma base de dados </a:t>
            </a: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qual podemos carregar e administrar as informações da página.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rom 'A' to 'Web App': Build an API in Java" id="95" name="Google Shape;95;p6"/>
          <p:cNvPicPr preferRelativeResize="0"/>
          <p:nvPr/>
        </p:nvPicPr>
        <p:blipFill rotWithShape="1">
          <a:blip r:embed="rId3">
            <a:alphaModFix/>
          </a:blip>
          <a:srcRect b="30681" l="1341" r="762" t="26051"/>
          <a:stretch/>
        </p:blipFill>
        <p:spPr>
          <a:xfrm>
            <a:off x="863778" y="3201851"/>
            <a:ext cx="8960683" cy="26391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O que é JavaScript</a:t>
            </a:r>
            <a:endParaRPr/>
          </a:p>
        </p:txBody>
      </p:sp>
      <p:sp>
        <p:nvSpPr>
          <p:cNvPr id="101" name="Google Shape;101;p7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02" name="Google Shape;102;p7"/>
          <p:cNvPicPr preferRelativeResize="0"/>
          <p:nvPr/>
        </p:nvPicPr>
        <p:blipFill rotWithShape="1">
          <a:blip r:embed="rId3">
            <a:alphaModFix/>
          </a:blip>
          <a:srcRect b="0" l="14503" r="14503" t="0"/>
          <a:stretch/>
        </p:blipFill>
        <p:spPr>
          <a:xfrm>
            <a:off x="8113705" y="1658161"/>
            <a:ext cx="2923972" cy="411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7"/>
          <p:cNvSpPr txBox="1"/>
          <p:nvPr/>
        </p:nvSpPr>
        <p:spPr>
          <a:xfrm>
            <a:off x="838200" y="1650927"/>
            <a:ext cx="6701852" cy="387795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JavaScript é uma </a:t>
            </a:r>
            <a:r>
              <a:rPr b="1"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linguagem de programação</a:t>
            </a: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utilizada principalmente para oferecer </a:t>
            </a:r>
            <a:r>
              <a:rPr b="1"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dinamismo</a:t>
            </a: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aos sites e aplicativos web.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Funciona em conjunto com as linguagens web </a:t>
            </a:r>
            <a:r>
              <a:rPr b="1"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HTML e CSS</a:t>
            </a: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permitindo criar novas funcionalidades e interações avançadas com os usuários, assim como interagir com outros aplicativos ou serviços de back-end.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Linguagem interpretada</a:t>
            </a:r>
            <a:endParaRPr/>
          </a:p>
        </p:txBody>
      </p:sp>
      <p:sp>
        <p:nvSpPr>
          <p:cNvPr id="109" name="Google Shape;109;p8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0" name="Google Shape;110;p8"/>
          <p:cNvSpPr txBox="1"/>
          <p:nvPr/>
        </p:nvSpPr>
        <p:spPr>
          <a:xfrm>
            <a:off x="838200" y="1529625"/>
            <a:ext cx="9370102" cy="424728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Diferentemente de uma linguagem de programação compilada, o JavaScript é uma linguagem </a:t>
            </a:r>
            <a:r>
              <a:rPr b="1"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interpretada</a:t>
            </a: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 que significa que</a:t>
            </a:r>
            <a:r>
              <a:rPr b="1" lang="pt-BR" sz="2400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 é executada por meio de um programa interpretador.</a:t>
            </a:r>
            <a:endParaRPr b="1" sz="2400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 nosso caso, os </a:t>
            </a:r>
            <a:r>
              <a:rPr lang="pt-BR" sz="2400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navegadores</a:t>
            </a: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são os programas que se encarregam de interpretar e executar o código JavaScript que criamos.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acessamos uma página pelo navegador, ele se encarrega de </a:t>
            </a:r>
            <a:r>
              <a:rPr b="1" lang="pt-BR" sz="2400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ler e executar todos os arquivos que formam o aplicativo</a:t>
            </a: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(HTML, CSS, JS).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Front-end e Back-end</a:t>
            </a:r>
            <a:endParaRPr/>
          </a:p>
        </p:txBody>
      </p:sp>
      <p:sp>
        <p:nvSpPr>
          <p:cNvPr id="116" name="Google Shape;116;p9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7" name="Google Shape;117;p9"/>
          <p:cNvSpPr txBox="1"/>
          <p:nvPr/>
        </p:nvSpPr>
        <p:spPr>
          <a:xfrm>
            <a:off x="838200" y="1827260"/>
            <a:ext cx="5607570" cy="276995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JavaScript é utilizado tanto para construir aplicativos de front-end quanto de back-end.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pt-BR" sz="2400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Nesta disciplina, nos focaremos no desenvolvimento front-end do aplicativo web.</a:t>
            </a:r>
            <a:endParaRPr b="1" sz="2400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ogramação front-End ou Back-End, por qual começar?" id="118" name="Google Shape;11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7459" y="1373588"/>
            <a:ext cx="5185439" cy="3962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Quando surgiu o JavaScript?</a:t>
            </a:r>
            <a:endParaRPr/>
          </a:p>
        </p:txBody>
      </p:sp>
      <p:sp>
        <p:nvSpPr>
          <p:cNvPr id="124" name="Google Shape;124;p10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5" name="Google Shape;125;p10"/>
          <p:cNvSpPr txBox="1"/>
          <p:nvPr/>
        </p:nvSpPr>
        <p:spPr>
          <a:xfrm>
            <a:off x="838199" y="2052368"/>
            <a:ext cx="5082915" cy="313929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primeira aparição pública do Javascript data do ano de 1995, quando foi utilizado como ferramenta do navegador</a:t>
            </a:r>
            <a:r>
              <a:rPr b="1"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Netscape Navigator.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Seu objetivo era </a:t>
            </a:r>
            <a:r>
              <a:rPr b="1" lang="pt-BR" sz="2400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permitir a adição de programas às páginas web.</a:t>
            </a:r>
            <a:endParaRPr b="1" sz="2400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2052368"/>
            <a:ext cx="5890092" cy="3331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62508" y="1160484"/>
            <a:ext cx="4999174" cy="3354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Quando surgiu o JavaScript?</a:t>
            </a:r>
            <a:endParaRPr/>
          </a:p>
        </p:txBody>
      </p:sp>
      <p:sp>
        <p:nvSpPr>
          <p:cNvPr id="133" name="Google Shape;133;p11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4" name="Google Shape;134;p11"/>
          <p:cNvSpPr txBox="1"/>
          <p:nvPr/>
        </p:nvSpPr>
        <p:spPr>
          <a:xfrm>
            <a:off x="838200" y="1626454"/>
            <a:ext cx="4992974" cy="44935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pt-B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primeira versão do JavaScript, a ES1, foi lançada em 1997, e a linguagem foi mudando com o tempo. </a:t>
            </a:r>
            <a:r>
              <a:rPr b="1" lang="pt-B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Nesta disciplina, nos focaremos nas versões ES6</a:t>
            </a:r>
            <a:r>
              <a:rPr lang="pt-B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posteriores. O JavaScript foi inventado por Brendan Eich em 1995 e se tornou um padrão ECMA em 1997.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pt-B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ECMAScript é o nome oficial da linguagem. As versões do ECMAScript foram abreviadas para ES1, ES2, ES3, ES5 e ES6. Desde 2016, as versões são nomeadas por ano (ECMAScript 2016, 2017, 2018, 2019, 2020).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JavaScript Versions - GeeksforGeeks" id="135" name="Google Shape;135;p11"/>
          <p:cNvPicPr preferRelativeResize="0"/>
          <p:nvPr/>
        </p:nvPicPr>
        <p:blipFill rotWithShape="1">
          <a:blip r:embed="rId3">
            <a:alphaModFix/>
          </a:blip>
          <a:srcRect b="0" l="3474" r="0" t="0"/>
          <a:stretch/>
        </p:blipFill>
        <p:spPr>
          <a:xfrm>
            <a:off x="5938682" y="1835915"/>
            <a:ext cx="6063245" cy="3140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Diferença em relação ao Java</a:t>
            </a:r>
            <a:endParaRPr/>
          </a:p>
        </p:txBody>
      </p:sp>
      <p:sp>
        <p:nvSpPr>
          <p:cNvPr id="141" name="Google Shape;141;p12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2" name="Google Shape;142;p12"/>
          <p:cNvSpPr txBox="1"/>
          <p:nvPr/>
        </p:nvSpPr>
        <p:spPr>
          <a:xfrm>
            <a:off x="838199" y="1736713"/>
            <a:ext cx="7091597" cy="240062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Embora tanto o Java quanto o JavaScript sejam linguagens de programação que compartilham uma base sintática, o </a:t>
            </a:r>
            <a:r>
              <a:rPr b="1"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uso de cada um é distinto. 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São duas linguagens diferentes, e não é correto mencioná-las como sinônimos.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7425" y="1736713"/>
            <a:ext cx="3384574" cy="3384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Algoritmos</a:t>
            </a:r>
            <a:endParaRPr/>
          </a:p>
        </p:txBody>
      </p:sp>
      <p:sp>
        <p:nvSpPr>
          <p:cNvPr id="149" name="Google Shape;149;p13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0" name="Google Shape;150;p13"/>
          <p:cNvSpPr txBox="1"/>
          <p:nvPr/>
        </p:nvSpPr>
        <p:spPr>
          <a:xfrm>
            <a:off x="838200" y="1576584"/>
            <a:ext cx="6072266" cy="40072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programação, um algoritmo é um </a:t>
            </a:r>
            <a:r>
              <a:rPr b="1"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conjunto de procedimentos ou funções ordenadas que são necessárias para realizar certa operação ou ação.</a:t>
            </a: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exemplo, em uma operação de soma, a ação do algoritmo envolveria selecionar um dado, somá-lo a outro e obter um resultado.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13"/>
          <p:cNvPicPr preferRelativeResize="0"/>
          <p:nvPr/>
        </p:nvPicPr>
        <p:blipFill rotWithShape="1">
          <a:blip r:embed="rId3">
            <a:alphaModFix/>
          </a:blip>
          <a:srcRect b="1188" l="0" r="0" t="-1190"/>
          <a:stretch/>
        </p:blipFill>
        <p:spPr>
          <a:xfrm>
            <a:off x="6720136" y="898677"/>
            <a:ext cx="4432546" cy="57472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4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Algoritmos</a:t>
            </a:r>
            <a:endParaRPr/>
          </a:p>
        </p:txBody>
      </p:sp>
      <p:sp>
        <p:nvSpPr>
          <p:cNvPr id="157" name="Google Shape;157;p14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8" name="Google Shape;158;p14"/>
          <p:cNvSpPr txBox="1"/>
          <p:nvPr/>
        </p:nvSpPr>
        <p:spPr>
          <a:xfrm>
            <a:off x="838199" y="1482522"/>
            <a:ext cx="5442679" cy="443195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Pensar a partir de algoritmos é uma </a:t>
            </a:r>
            <a:r>
              <a:rPr b="1" lang="pt-BR" sz="2400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prática que devemos reforçar como desenvolvedores(as). </a:t>
            </a:r>
            <a:endParaRPr b="1" sz="2400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Consiste em encarar um problema complexo, dividir sua resolução em diversos passos, pensar em como resolver cada um deles e sequenciá-los corretamente para chegar ao </a:t>
            </a:r>
            <a:r>
              <a:rPr b="1"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resultado esperado.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42204" y="1531005"/>
            <a:ext cx="5410576" cy="34492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Ferramentas para utilizar</a:t>
            </a:r>
            <a:endParaRPr/>
          </a:p>
        </p:txBody>
      </p:sp>
      <p:sp>
        <p:nvSpPr>
          <p:cNvPr id="165" name="Google Shape;165;p15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6" name="Google Shape;166;p15"/>
          <p:cNvSpPr txBox="1"/>
          <p:nvPr/>
        </p:nvSpPr>
        <p:spPr>
          <a:xfrm>
            <a:off x="838200" y="1827296"/>
            <a:ext cx="5442679" cy="18835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Navegadores;</a:t>
            </a:r>
            <a:endParaRPr/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Editores de Texto;</a:t>
            </a:r>
            <a:endParaRPr/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Controle de Versão;</a:t>
            </a:r>
            <a:endParaRPr/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Terminal ou Console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8633" y="1672642"/>
            <a:ext cx="1453760" cy="309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41567" y="2068091"/>
            <a:ext cx="1453781" cy="3478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6 Visual code extensions to improve your python code" id="169" name="Google Shape;169;p15"/>
          <p:cNvPicPr preferRelativeResize="0"/>
          <p:nvPr/>
        </p:nvPicPr>
        <p:blipFill rotWithShape="1">
          <a:blip r:embed="rId5">
            <a:alphaModFix/>
          </a:blip>
          <a:srcRect b="0" l="8197" r="11272" t="0"/>
          <a:stretch/>
        </p:blipFill>
        <p:spPr>
          <a:xfrm>
            <a:off x="6912022" y="2676452"/>
            <a:ext cx="967250" cy="90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95457" y="3809514"/>
            <a:ext cx="800401" cy="800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5"/>
          <p:cNvPicPr preferRelativeResize="0"/>
          <p:nvPr/>
        </p:nvPicPr>
        <p:blipFill rotWithShape="1">
          <a:blip r:embed="rId7">
            <a:alphaModFix/>
          </a:blip>
          <a:srcRect b="21565" l="3251" r="4324" t="15872"/>
          <a:stretch/>
        </p:blipFill>
        <p:spPr>
          <a:xfrm>
            <a:off x="8815373" y="1675565"/>
            <a:ext cx="2957525" cy="65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5"/>
          <p:cNvPicPr preferRelativeResize="0"/>
          <p:nvPr/>
        </p:nvPicPr>
        <p:blipFill rotWithShape="1">
          <a:blip r:embed="rId8">
            <a:alphaModFix/>
          </a:blip>
          <a:srcRect b="0" l="0" r="40575" t="0"/>
          <a:stretch/>
        </p:blipFill>
        <p:spPr>
          <a:xfrm>
            <a:off x="8617560" y="2536821"/>
            <a:ext cx="3353150" cy="284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6"/>
          <p:cNvSpPr txBox="1"/>
          <p:nvPr>
            <p:ph type="title"/>
          </p:nvPr>
        </p:nvSpPr>
        <p:spPr>
          <a:xfrm>
            <a:off x="838198" y="3017043"/>
            <a:ext cx="10515600" cy="13151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ct val="100000"/>
              <a:buFont typeface="Arial"/>
              <a:buNone/>
            </a:pPr>
            <a:r>
              <a:rPr lang="pt-BR"/>
              <a:t>Introdução ao JavaScript:</a:t>
            </a:r>
            <a:br>
              <a:rPr lang="pt-BR"/>
            </a:br>
            <a:r>
              <a:rPr lang="pt-BR"/>
              <a:t>Conceitos Iniciais</a:t>
            </a:r>
            <a:endParaRPr/>
          </a:p>
        </p:txBody>
      </p:sp>
      <p:sp>
        <p:nvSpPr>
          <p:cNvPr id="178" name="Google Shape;178;p16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Código Javascript</a:t>
            </a:r>
            <a:endParaRPr/>
          </a:p>
        </p:txBody>
      </p:sp>
      <p:sp>
        <p:nvSpPr>
          <p:cNvPr id="184" name="Google Shape;184;p17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838199" y="1499972"/>
            <a:ext cx="5832423" cy="387795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JavaScript tem suas próprias regras de sintaxe, por mais que ainda respeite os padrões de muitas outras linguagens de programação lógicas.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código JavaScript se associa ao arquivo HTML que é carregado no navegador.</a:t>
            </a:r>
            <a:r>
              <a:rPr b="1"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Temos duas maneiras de escrever um código JavaScript em nossos aplicativos web.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44517" y="1499972"/>
            <a:ext cx="5087671" cy="35876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Como escrever o código em JS</a:t>
            </a:r>
            <a:endParaRPr/>
          </a:p>
        </p:txBody>
      </p:sp>
      <p:sp>
        <p:nvSpPr>
          <p:cNvPr id="192" name="Google Shape;192;p18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1057331" y="1757800"/>
            <a:ext cx="7082328" cy="9232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Dentro de um arquivo html, entre as tags &lt;script&gt;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4" name="Google Shape;194;p18"/>
          <p:cNvGraphicFramePr/>
          <p:nvPr/>
        </p:nvGraphicFramePr>
        <p:xfrm>
          <a:off x="1346246" y="26810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{7753C663-57FA-4825-85F1-575A634AF19A}</a:tableStyleId>
              </a:tblPr>
              <a:tblGrid>
                <a:gridCol w="7707800"/>
              </a:tblGrid>
              <a:tr h="1043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3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i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b="0" i="0"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script</a:t>
                      </a:r>
                      <a:r>
                        <a:rPr b="0" i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3200" u="none" cap="none" strike="noStrike"/>
                    </a:p>
                    <a:p>
                      <a:pPr indent="0" lvl="0" marL="0" marR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</a:t>
                      </a:r>
                      <a:r>
                        <a:rPr b="0" i="0" lang="pt-BR" sz="24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aqui se escreve o código JS</a:t>
                      </a:r>
                      <a:endParaRPr/>
                    </a:p>
                    <a:p>
                      <a:pPr indent="45720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// Comentário simples: uma linha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45720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/* Comentário de mais de uma linha I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45720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Comentário de mais de uma linha II </a:t>
                      </a:r>
                      <a:endParaRPr/>
                    </a:p>
                    <a:p>
                      <a:pPr indent="45720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*/</a:t>
                      </a:r>
                      <a:endParaRPr sz="3200" u="none" cap="none" strike="noStrike"/>
                    </a:p>
                    <a:p>
                      <a:pPr indent="0" lvl="0" marL="0" marR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3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i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b="0" i="0"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script</a:t>
                      </a:r>
                      <a:r>
                        <a:rPr b="0" i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b="0" i="0"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3350" marB="53350" marR="53350" marL="53350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9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Como escrever o código em JS</a:t>
            </a:r>
            <a:endParaRPr/>
          </a:p>
        </p:txBody>
      </p:sp>
      <p:sp>
        <p:nvSpPr>
          <p:cNvPr id="200" name="Google Shape;200;p19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838200" y="1373588"/>
            <a:ext cx="8650574" cy="240062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 um arquivo individual com</a:t>
            </a:r>
            <a:r>
              <a:rPr b="1"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extensão .js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 </a:t>
            </a:r>
            <a:r>
              <a:rPr b="1"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meu-script.js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Vincula-se com o rótulo </a:t>
            </a:r>
            <a:r>
              <a:rPr b="1"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&lt;script&gt;</a:t>
            </a: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o atributo </a:t>
            </a:r>
            <a:r>
              <a:rPr b="1"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“src”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Lembre-se de não utilizar espaços nos nomes dos arquivos.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2" name="Google Shape;202;p19"/>
          <p:cNvGraphicFramePr/>
          <p:nvPr/>
        </p:nvGraphicFramePr>
        <p:xfrm>
          <a:off x="974719" y="4163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{7753C663-57FA-4825-85F1-575A634AF19A}</a:tableStyleId>
              </a:tblPr>
              <a:tblGrid>
                <a:gridCol w="6070650"/>
              </a:tblGrid>
              <a:tr h="45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&lt;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script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src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script.js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&gt;&lt;/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script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3350" marB="53350" marR="53350" marL="53350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0"/>
          <p:cNvSpPr txBox="1"/>
          <p:nvPr>
            <p:ph type="title"/>
          </p:nvPr>
        </p:nvSpPr>
        <p:spPr>
          <a:xfrm>
            <a:off x="838198" y="3017043"/>
            <a:ext cx="10515600" cy="13151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800"/>
              <a:buFont typeface="Arial"/>
              <a:buNone/>
            </a:pPr>
            <a:r>
              <a:rPr lang="pt-BR"/>
              <a:t>Tipos, variáveis e valores</a:t>
            </a:r>
            <a:endParaRPr/>
          </a:p>
        </p:txBody>
      </p:sp>
      <p:sp>
        <p:nvSpPr>
          <p:cNvPr id="208" name="Google Shape;208;p20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Tipos de Dados</a:t>
            </a:r>
            <a:endParaRPr/>
          </a:p>
        </p:txBody>
      </p:sp>
      <p:sp>
        <p:nvSpPr>
          <p:cNvPr id="214" name="Google Shape;214;p21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838200" y="1660677"/>
            <a:ext cx="9909748" cy="44702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Texto: 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Representam uma sequência de um ou mais caracteres. Normalmente são colocados entre aspas. Ex: nome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Inteiro: 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Representados por valores numéricos, tanto negativos, quando positivos (sem casas decimais). Ex: idade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Real: 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Valores numéricos, tanto positivos, quanto negativos que utilizam casas decimais. Ex: altura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Lógico: 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Representado por alternativas: SIM ou NÃO, VERDADEIRO ou FALSO. Também podem são chamados de Booleano.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2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Variáveis</a:t>
            </a:r>
            <a:endParaRPr/>
          </a:p>
        </p:txBody>
      </p:sp>
      <p:sp>
        <p:nvSpPr>
          <p:cNvPr id="221" name="Google Shape;221;p22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838199" y="1581900"/>
            <a:ext cx="10029669" cy="240062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</a:t>
            </a:r>
            <a:r>
              <a:rPr b="1"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variável</a:t>
            </a: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um espaço reservado na memória que, como seu nome indica, </a:t>
            </a:r>
            <a:r>
              <a:rPr b="1"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pode mudar de conteúdo ao longo da execução de um programa.</a:t>
            </a: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Nas variáveis, armazenamos diversos tipos de dados que utilizamos no aplicativo.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3" name="Google Shape;223;p22"/>
          <p:cNvGraphicFramePr/>
          <p:nvPr/>
        </p:nvGraphicFramePr>
        <p:xfrm>
          <a:off x="1645900" y="41908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{7753C663-57FA-4825-85F1-575A634AF19A}</a:tableStyleId>
              </a:tblPr>
              <a:tblGrid>
                <a:gridCol w="6688625"/>
              </a:tblGrid>
              <a:tr h="143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script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cliente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Maria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quantidade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preco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50.5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emEstoque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script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400" u="none" cap="none" strike="noStrike">
                        <a:solidFill>
                          <a:schemeClr val="lt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3350" marB="53350" marR="53350" marL="53350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3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Declaração</a:t>
            </a:r>
            <a:endParaRPr/>
          </a:p>
        </p:txBody>
      </p:sp>
      <p:sp>
        <p:nvSpPr>
          <p:cNvPr id="229" name="Google Shape;229;p23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838199" y="1529625"/>
            <a:ext cx="5997316" cy="240062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Declarar uma variável significa </a:t>
            </a:r>
            <a:r>
              <a:rPr b="1"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criá-la.</a:t>
            </a: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isso, usamos a palavra reservada “var”. Escrevemos essa palavra-chave e, em seguida, o nome de nossa variável.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devemos utilizar espaços nem caracteres especiais.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1" name="Google Shape;231;p23"/>
          <p:cNvGraphicFramePr/>
          <p:nvPr/>
        </p:nvGraphicFramePr>
        <p:xfrm>
          <a:off x="7707023" y="11751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{7753C663-57FA-4825-85F1-575A634AF19A}</a:tableStyleId>
              </a:tblPr>
              <a:tblGrid>
                <a:gridCol w="4207125"/>
              </a:tblGrid>
              <a:tr h="2453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script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correto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nome;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telefone;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anoNascimento;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b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incorreto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o ano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preço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número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script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3350" marB="53350" marR="53350" marL="53350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4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Atribuição</a:t>
            </a:r>
            <a:endParaRPr/>
          </a:p>
        </p:txBody>
      </p:sp>
      <p:sp>
        <p:nvSpPr>
          <p:cNvPr id="237" name="Google Shape;237;p24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38" name="Google Shape;238;p24"/>
          <p:cNvSpPr txBox="1"/>
          <p:nvPr/>
        </p:nvSpPr>
        <p:spPr>
          <a:xfrm>
            <a:off x="969119" y="1787838"/>
            <a:ext cx="4966986" cy="16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 uma variável, podemos atribuir diferentes tipos de valores através do operador de atribuição, representado pelo símbolo </a:t>
            </a:r>
            <a:r>
              <a:rPr b="1" lang="pt-BR" sz="2400">
                <a:solidFill>
                  <a:schemeClr val="dk1"/>
                </a:solidFill>
                <a:highlight>
                  <a:srgbClr val="EEFF41"/>
                </a:highlight>
                <a:latin typeface="Arial"/>
                <a:ea typeface="Arial"/>
                <a:cs typeface="Arial"/>
                <a:sym typeface="Arial"/>
              </a:rPr>
              <a:t>=</a:t>
            </a:r>
            <a:endParaRPr b="1" sz="2400">
              <a:solidFill>
                <a:schemeClr val="dk1"/>
              </a:solidFill>
              <a:highlight>
                <a:srgbClr val="EEFF4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9" name="Google Shape;239;p24"/>
          <p:cNvGraphicFramePr/>
          <p:nvPr/>
        </p:nvGraphicFramePr>
        <p:xfrm>
          <a:off x="7411372" y="8647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{7753C663-57FA-4825-85F1-575A634AF19A}</a:tableStyleId>
              </a:tblPr>
              <a:tblGrid>
                <a:gridCol w="4197250"/>
              </a:tblGrid>
              <a:tr h="266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script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declaração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idade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nome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sobrenome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b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atribuição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idade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nome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Maria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sobrenome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Silva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script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3350" marB="53350" marR="53350" marL="53350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5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Operadores Aritméticos</a:t>
            </a:r>
            <a:endParaRPr/>
          </a:p>
        </p:txBody>
      </p:sp>
      <p:sp>
        <p:nvSpPr>
          <p:cNvPr id="245" name="Google Shape;245;p25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46" name="Google Shape;246;p25"/>
          <p:cNvSpPr txBox="1"/>
          <p:nvPr/>
        </p:nvSpPr>
        <p:spPr>
          <a:xfrm>
            <a:off x="838200" y="1729657"/>
            <a:ext cx="7061616" cy="35086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Utilizados para obter resultados numéricos. Os símbolos para os operadores aritméticos são: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Char char="✓"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Soma = </a:t>
            </a:r>
            <a:r>
              <a:rPr b="1"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Char char="✓"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Subtração =</a:t>
            </a:r>
            <a:r>
              <a:rPr b="1"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- </a:t>
            </a:r>
            <a:endParaRPr b="1" sz="2400">
              <a:solidFill>
                <a:schemeClr val="dk1"/>
              </a:solidFill>
              <a:highlight>
                <a:srgbClr val="EEFF4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Char char="✓"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Multiplicação = </a:t>
            </a:r>
            <a:r>
              <a:rPr b="1"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Char char="✓"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Divisão = </a:t>
            </a:r>
            <a:r>
              <a:rPr b="1"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Char char="✓"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Exponenciação = </a:t>
            </a:r>
            <a:r>
              <a:rPr b="1"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**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Char char="✓"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Módulo (Resto de uma divisão) = </a:t>
            </a:r>
            <a:r>
              <a:rPr b="1"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6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Operações básicas</a:t>
            </a:r>
            <a:endParaRPr/>
          </a:p>
        </p:txBody>
      </p:sp>
      <p:sp>
        <p:nvSpPr>
          <p:cNvPr id="252" name="Google Shape;252;p26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53" name="Google Shape;253;p26"/>
          <p:cNvSpPr txBox="1"/>
          <p:nvPr/>
        </p:nvSpPr>
        <p:spPr>
          <a:xfrm>
            <a:off x="830292" y="1429637"/>
            <a:ext cx="4269330" cy="129263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as variáveis de valores numéricos, é possível realizar operações matemáticas.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4" name="Google Shape;254;p26"/>
          <p:cNvGraphicFramePr/>
          <p:nvPr/>
        </p:nvGraphicFramePr>
        <p:xfrm>
          <a:off x="5225788" y="1373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{7753C663-57FA-4825-85F1-575A634AF19A}</a:tableStyleId>
              </a:tblPr>
              <a:tblGrid>
                <a:gridCol w="6001850"/>
              </a:tblGrid>
              <a:tr h="361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script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numeroA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numeroB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numeroC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b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18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//Soma de dois números</a:t>
                      </a:r>
                      <a:endParaRPr sz="18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resultadoSoma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numeroA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numeroB;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b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18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//Subtração de dois números</a:t>
                      </a:r>
                      <a:endParaRPr sz="18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resultadoSubtracao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numeroB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numeroA;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b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18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//Produto de dois números </a:t>
                      </a:r>
                      <a:endParaRPr sz="18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resultadoProduto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numeroB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numeroC;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b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18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//Divisão de dois números</a:t>
                      </a:r>
                      <a:endParaRPr sz="18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resultadoDivisao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numeroC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numeroB;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script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18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3350" marB="53350" marR="53350" marL="53350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pic>
        <p:nvPicPr>
          <p:cNvPr id="255" name="Google Shape;25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9278" y="3016650"/>
            <a:ext cx="3038008" cy="31834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7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Operações básicas</a:t>
            </a:r>
            <a:endParaRPr/>
          </a:p>
        </p:txBody>
      </p:sp>
      <p:sp>
        <p:nvSpPr>
          <p:cNvPr id="261" name="Google Shape;261;p27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62" name="Google Shape;262;p27"/>
          <p:cNvSpPr txBox="1"/>
          <p:nvPr/>
        </p:nvSpPr>
        <p:spPr>
          <a:xfrm>
            <a:off x="838199" y="2124195"/>
            <a:ext cx="4353699" cy="16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as variáveis do tipo string (texto), podemos concatenar os valores. Ou seja, combiná-las.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3" name="Google Shape;263;p27"/>
          <p:cNvGraphicFramePr/>
          <p:nvPr/>
        </p:nvGraphicFramePr>
        <p:xfrm>
          <a:off x="5821803" y="12346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{7753C663-57FA-4825-85F1-575A634AF19A}</a:tableStyleId>
              </a:tblPr>
              <a:tblGrid>
                <a:gridCol w="5951100"/>
              </a:tblGrid>
              <a:tr h="361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script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textoA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8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WEB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textoB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"DEV"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branco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8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18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//Concatenar textoA e texto B</a:t>
                      </a:r>
                      <a:endParaRPr sz="1800" u="none" cap="none" strike="noStrike">
                        <a:solidFill>
                          <a:srgbClr val="6272A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resultadoA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textoA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textoB;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18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//Concatenar textoB e 1 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resultadoB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textoB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18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//Concatenar textoA, branco e textoB</a:t>
                      </a:r>
                      <a:endParaRPr sz="18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resultadoC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textoA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branco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textoB;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script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18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3350" marB="53350" marR="53350" marL="53350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8" name="Google Shape;268;p28"/>
          <p:cNvGrpSpPr/>
          <p:nvPr/>
        </p:nvGrpSpPr>
        <p:grpSpPr>
          <a:xfrm>
            <a:off x="668603" y="644082"/>
            <a:ext cx="535357" cy="535357"/>
            <a:chOff x="974706" y="2467173"/>
            <a:chExt cx="738900" cy="738900"/>
          </a:xfrm>
        </p:grpSpPr>
        <p:sp>
          <p:nvSpPr>
            <p:cNvPr id="269" name="Google Shape;269;p28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rgbClr val="EC116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70" name="Google Shape;270;p28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1" name="Google Shape;271;p28"/>
          <p:cNvSpPr txBox="1"/>
          <p:nvPr/>
        </p:nvSpPr>
        <p:spPr>
          <a:xfrm>
            <a:off x="668600" y="1442334"/>
            <a:ext cx="6649600" cy="984781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33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praticar</a:t>
            </a:r>
            <a:endParaRPr b="1" sz="533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8"/>
          <p:cNvSpPr txBox="1"/>
          <p:nvPr/>
        </p:nvSpPr>
        <p:spPr>
          <a:xfrm>
            <a:off x="790133" y="2427533"/>
            <a:ext cx="5801200" cy="2739171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Usando o arquivo que criamos anteriormente, declare e atribua as seguintes variáveis: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089" lvl="0" marL="60958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Char char="✓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Seu nome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089" lvl="0" marL="60958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Char char="✓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Seu sobrenome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089" lvl="0" marL="60958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Char char="✓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Ano atual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089" lvl="0" marL="60958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Char char="✓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Idade que você completa até o final deste ano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60958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60958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8"/>
          <p:cNvSpPr txBox="1"/>
          <p:nvPr/>
        </p:nvSpPr>
        <p:spPr>
          <a:xfrm>
            <a:off x="1240733" y="624367"/>
            <a:ext cx="3281600" cy="574412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3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ATIVIDADE EM SALA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8"/>
          <p:cNvSpPr txBox="1"/>
          <p:nvPr/>
        </p:nvSpPr>
        <p:spPr>
          <a:xfrm>
            <a:off x="6658400" y="2112433"/>
            <a:ext cx="4835600" cy="2462172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60958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Usando as operações básicas, crie variáveis com as seguintes informações: 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089" lvl="0" marL="60958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Char char="✓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Seu nome e sobrenome concatenados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089" lvl="0" marL="60958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Char char="✓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ano que você nasceu (subtraia o ano atual pela sua idade no final deste ano)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8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9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Referências:</a:t>
            </a:r>
            <a:endParaRPr/>
          </a:p>
        </p:txBody>
      </p:sp>
      <p:sp>
        <p:nvSpPr>
          <p:cNvPr id="281" name="Google Shape;281;p29"/>
          <p:cNvSpPr txBox="1"/>
          <p:nvPr>
            <p:ph idx="1" type="body"/>
          </p:nvPr>
        </p:nvSpPr>
        <p:spPr>
          <a:xfrm>
            <a:off x="838200" y="1493521"/>
            <a:ext cx="10515600" cy="4976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Char char="✓"/>
            </a:pPr>
            <a:r>
              <a:rPr lang="pt-BR"/>
              <a:t>https://developer.mozilla.org/pt-BR/docs/Web/JavaScript</a:t>
            </a:r>
            <a:endParaRPr/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Char char="✓"/>
            </a:pPr>
            <a:r>
              <a:rPr lang="pt-BR"/>
              <a:t>https://www.w3schools.com/js/</a:t>
            </a:r>
            <a:endParaRPr/>
          </a:p>
        </p:txBody>
      </p:sp>
      <p:sp>
        <p:nvSpPr>
          <p:cNvPr id="282" name="Google Shape;282;p29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0"/>
          <p:cNvSpPr txBox="1"/>
          <p:nvPr>
            <p:ph type="title"/>
          </p:nvPr>
        </p:nvSpPr>
        <p:spPr>
          <a:xfrm>
            <a:off x="838199" y="2073528"/>
            <a:ext cx="11183471" cy="1234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Copyright © 2025</a:t>
            </a:r>
            <a:br>
              <a:rPr lang="pt-BR">
                <a:latin typeface="Arial"/>
                <a:ea typeface="Arial"/>
                <a:cs typeface="Arial"/>
                <a:sym typeface="Arial"/>
              </a:rPr>
            </a:br>
            <a:r>
              <a:rPr lang="pt-BR"/>
              <a:t>Prof. Lucas Sousa</a:t>
            </a:r>
            <a:endParaRPr/>
          </a:p>
        </p:txBody>
      </p:sp>
      <p:sp>
        <p:nvSpPr>
          <p:cNvPr id="288" name="Google Shape;288;p30"/>
          <p:cNvSpPr txBox="1"/>
          <p:nvPr>
            <p:ph idx="4294967295" type="sldNum"/>
          </p:nvPr>
        </p:nvSpPr>
        <p:spPr>
          <a:xfrm>
            <a:off x="11353800" y="5594350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2022-12-26T16:03:00Z</dcterms:created>
  <dc:creator>Allen Fernando Oberleitner Lima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B96E02AB6EE14174B6F4E9A4A472FBCF_12</vt:lpwstr>
  </property>
  <property fmtid="{D5CDD505-2E9C-101B-9397-08002B2CF9AE}" pid="3" name="KSOProductBuildVer">
    <vt:lpwstr>1046-12.2.0.13489</vt:lpwstr>
  </property>
</Properties>
</file>