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mTm2Uuu4ZWdbRxwwvVN/N1huy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2CF178-5B6B-4475-8AAE-EB53C09F072E}">
  <a:tblStyle styleId="{412CF178-5B6B-4475-8AAE-EB53C09F07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8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8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28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0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1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31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lang="pt-BR"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sz="48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mozilla.org/pt-BR/docs/Web/JavaScript" TargetMode="External"/><Relationship Id="rId4" Type="http://schemas.openxmlformats.org/officeDocument/2006/relationships/hyperlink" Target="https://www.w3schools.com/js/" TargetMode="External"/><Relationship Id="rId5" Type="http://schemas.openxmlformats.org/officeDocument/2006/relationships/hyperlink" Target="https://developer.mozilla.org/pt-BR/docs/Web/JavaScript/Reference/Statements/if...else" TargetMode="External"/><Relationship Id="rId6" Type="http://schemas.openxmlformats.org/officeDocument/2006/relationships/hyperlink" Target="https://www.devmedia.com.br/javascript-como-e-quando-utilizar-os-operadores-e/37782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Controle de Fluxos</a:t>
            </a:r>
            <a:endParaRPr/>
          </a:p>
        </p:txBody>
      </p:sp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Condicionais</a:t>
            </a:r>
            <a:endParaRPr/>
          </a:p>
        </p:txBody>
      </p:sp>
      <p:sp>
        <p:nvSpPr>
          <p:cNvPr id="72" name="Google Shape;72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838200" y="1622504"/>
            <a:ext cx="6746821" cy="45858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comando condicional é aquele que permite decidir se um determinado bloco de comandos deve ou não ser executado, a partir do resultado de uma expressão relacional ou lógica.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funciona: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●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(condição).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●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ENTÃO (o que o programa deve fazer).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●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SENÃO (caso a condição não seja atendida, informe o que o programa deve fazer).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8239" y="1360645"/>
            <a:ext cx="3195638" cy="510960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Controle de fluxos</a:t>
            </a:r>
            <a:endParaRPr/>
          </a:p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861952" y="1454480"/>
            <a:ext cx="8035205" cy="26586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Até agora, todas as instruções que escrevemos são executadas em linha reta, uma sentença após a outra.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ideia do controle de fluxos é marcar pontos em nossa aplicação em que, a partir de alguma verificação, nosso programa possa tomar diferentes caminhos de ação possíveis.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2250" y="2485823"/>
            <a:ext cx="3042531" cy="64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9503" y="4946536"/>
            <a:ext cx="3047427" cy="152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Valores booleanos</a:t>
            </a:r>
            <a:endParaRPr/>
          </a:p>
        </p:txBody>
      </p:sp>
      <p:sp>
        <p:nvSpPr>
          <p:cNvPr id="89" name="Google Shape;89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838200" y="1692162"/>
            <a:ext cx="8255538" cy="4084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gerar esses controles, vamos começar a explorar os valores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booleanos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Eles podem assumir dois valores diferentes,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verdadeiro ou falso.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Assim, para que nosso programa tome um caminho ou outro, vamos pedir para ele efetuar alguma verificação/comparação.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ela for verdadeira (true), ele tomará um caminho e, se for falsa (false), tomará outro.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Estrutura if</a:t>
            </a:r>
            <a:endParaRPr/>
          </a:p>
        </p:txBody>
      </p:sp>
      <p:sp>
        <p:nvSpPr>
          <p:cNvPr id="96" name="Google Shape;96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838200" y="1564568"/>
            <a:ext cx="10853357" cy="36100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estrutura if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a estrutura mais utilizada na maioria das linguagens, incluindo em JS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a condição for cumprida (ou seja, se seu valor for true), serão executadas todas as instruções que se encontram dentro das chaves.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a condição não for cumprida (ou seja, se seu valor for false), não se executa nenhuma instrução contida nas chaves e o programa continua executando o resto das instruções do script.</a:t>
            </a:r>
            <a:endParaRPr/>
          </a:p>
        </p:txBody>
      </p:sp>
      <p:graphicFrame>
        <p:nvGraphicFramePr>
          <p:cNvPr id="98" name="Google Shape;98;p7"/>
          <p:cNvGraphicFramePr/>
          <p:nvPr/>
        </p:nvGraphicFramePr>
        <p:xfrm>
          <a:off x="1167982" y="51746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7706200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bloco de código a ser executado</a:t>
                      </a:r>
                      <a:endParaRPr b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verá esta mensagem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Comparação</a:t>
            </a:r>
            <a:endParaRPr/>
          </a:p>
        </p:txBody>
      </p:sp>
      <p:sp>
        <p:nvSpPr>
          <p:cNvPr id="104" name="Google Shape;104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5" name="Google Shape;105;p8"/>
          <p:cNvSpPr txBox="1"/>
          <p:nvPr/>
        </p:nvSpPr>
        <p:spPr>
          <a:xfrm>
            <a:off x="838200" y="1539988"/>
            <a:ext cx="10178798" cy="38879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utilizamos operadores matemáticos entre dois valores numéricos, eles resultarão em um novo tipo de valor numérico, que será o resultado da operação.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comparamos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dois valores através de um operador de comparação, essa operação sempre resulta em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ou seja, a comparação é verdadeira ou falsa.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O primeiro operador de comparação é o operador de equivalência == </a:t>
            </a:r>
            <a:endParaRPr b="1" i="0" sz="2400" u="none" cap="none" strike="noStrike">
              <a:solidFill>
                <a:srgbClr val="000000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Exemplos de condicionais</a:t>
            </a:r>
            <a:endParaRPr/>
          </a:p>
        </p:txBody>
      </p:sp>
      <p:sp>
        <p:nvSpPr>
          <p:cNvPr id="111" name="Google Shape;111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508418" y="1583626"/>
            <a:ext cx="5082914" cy="4886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Nesse exemplo, as comparações  são realizadas entre o valor da variável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umNumero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um valor numérico.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primeira condicional, como os dois valores coincidem, a igualdade foi cumprida e, portanto, a condição é correta; seu valor é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se executam as instruções contidas no bloco.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segunda condicional,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umNumero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é igual a 6; seu valor é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não se executam as instruções contidas nesse bloco.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" name="Google Shape;113;p9"/>
          <p:cNvGraphicFramePr/>
          <p:nvPr/>
        </p:nvGraphicFramePr>
        <p:xfrm>
          <a:off x="5591332" y="1378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6531875"/>
              </a:tblGrid>
              <a:tr h="154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umNumero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(umNumero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verá esta mensagem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(umNumero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 verá esta mensagem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If … Else</a:t>
            </a:r>
            <a:endParaRPr/>
          </a:p>
        </p:txBody>
      </p:sp>
      <p:sp>
        <p:nvSpPr>
          <p:cNvPr id="119" name="Google Shape;119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0" name="Google Shape;120;p10"/>
          <p:cNvSpPr txBox="1"/>
          <p:nvPr/>
        </p:nvSpPr>
        <p:spPr>
          <a:xfrm>
            <a:off x="638955" y="1488543"/>
            <a:ext cx="11293214" cy="24438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certas ocasiões, as decisões que devem ser realizadas não são do tipo: «se for cumprida a condição, faça isso; se não for cumprida a condição, não faça nada».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Normalmente, as condições costumam ser do tipo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«se for cumprida essa condição, faça isso; se não for cumprida, faça aquilo».</a:t>
            </a:r>
            <a:endParaRPr/>
          </a:p>
        </p:txBody>
      </p:sp>
      <p:graphicFrame>
        <p:nvGraphicFramePr>
          <p:cNvPr id="121" name="Google Shape;121;p10"/>
          <p:cNvGraphicFramePr/>
          <p:nvPr/>
        </p:nvGraphicFramePr>
        <p:xfrm>
          <a:off x="2325661" y="40473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7919800"/>
              </a:tblGrid>
              <a:tr h="154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umaCor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Vermelho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(umaCor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Vermelho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cor é Vermelho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cor NÃO é Vermelho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Exemplo de If…Else</a:t>
            </a:r>
            <a:endParaRPr/>
          </a:p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28" name="Google Shape;128;p11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10389425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800"/>
                        <a:buFont typeface="Consolas"/>
                        <a:buNone/>
                      </a:pPr>
                      <a:r>
                        <a:rPr b="0"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nomeUsuario </a:t>
                      </a:r>
                      <a:r>
                        <a:rPr b="0"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nome de usuário</a:t>
                      </a:r>
                      <a:r>
                        <a:rPr b="0"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800"/>
                        <a:buFont typeface="Consolas"/>
                        <a:buNone/>
                      </a:pPr>
                      <a:b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(nomeUsuario </a:t>
                      </a:r>
                      <a:r>
                        <a:rPr b="0"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""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800"/>
                        <a:buFont typeface="Consolas"/>
                        <a:buNone/>
                      </a:pP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nome de usuário não foi inserido</a:t>
                      </a:r>
                      <a:r>
                        <a:rPr b="0"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800"/>
                        <a:buFont typeface="Consolas"/>
                        <a:buNone/>
                      </a:pP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800"/>
                        <a:buFont typeface="Consolas"/>
                        <a:buNone/>
                      </a:pPr>
                      <a:r>
                        <a:rPr b="0"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800"/>
                        <a:buFont typeface="Consolas"/>
                        <a:buNone/>
                      </a:pP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 de usuário inserido: </a:t>
                      </a:r>
                      <a:r>
                        <a:rPr b="0"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nomeUsuario);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800"/>
                        <a:buFont typeface="Consolas"/>
                        <a:buNone/>
                      </a:pPr>
                      <a:r>
                        <a:rPr b="0"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2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Condições aninhadas if..else if</a:t>
            </a:r>
            <a:endParaRPr/>
          </a:p>
        </p:txBody>
      </p:sp>
      <p:sp>
        <p:nvSpPr>
          <p:cNvPr id="134" name="Google Shape;134;p1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35" name="Google Shape;135;p12"/>
          <p:cNvGraphicFramePr/>
          <p:nvPr/>
        </p:nvGraphicFramePr>
        <p:xfrm>
          <a:off x="838200" y="15084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10239525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combustivel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Gasolina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(combustivel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GNV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carro é movido à Gás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(combustivel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Gasolina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carro é movido à Gasolina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(combustivel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Álcool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carro é movido à Álcool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carro não funciona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Variáveis Booleanas</a:t>
            </a:r>
            <a:endParaRPr/>
          </a:p>
        </p:txBody>
      </p:sp>
      <p:sp>
        <p:nvSpPr>
          <p:cNvPr id="141" name="Google Shape;141;p1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838199" y="1570026"/>
            <a:ext cx="10779177" cy="13530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variáveis booleanas são as que têm apenas dois valores, true or false. Elas podem receber o valor a partir de uma  verificação booleana sobre outras variáveis: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" name="Google Shape;143;p13"/>
          <p:cNvGraphicFramePr/>
          <p:nvPr/>
        </p:nvGraphicFramePr>
        <p:xfrm>
          <a:off x="838199" y="3209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9879775"/>
              </a:tblGrid>
              <a:tr h="1450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possui10anos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seu valor será true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(possui10anos)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Essa pessoa possui 10 anos de idade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49" name="Google Shape;149;p14"/>
          <p:cNvGrpSpPr/>
          <p:nvPr/>
        </p:nvGrpSpPr>
        <p:grpSpPr>
          <a:xfrm>
            <a:off x="1039084" y="512036"/>
            <a:ext cx="401518" cy="401518"/>
            <a:chOff x="974706" y="2467173"/>
            <a:chExt cx="738900" cy="738900"/>
          </a:xfrm>
        </p:grpSpPr>
        <p:sp>
          <p:nvSpPr>
            <p:cNvPr id="150" name="Google Shape;150;p1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" name="Google Shape;151;p14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14"/>
          <p:cNvSpPr txBox="1"/>
          <p:nvPr/>
        </p:nvSpPr>
        <p:spPr>
          <a:xfrm>
            <a:off x="1039084" y="1006112"/>
            <a:ext cx="4987200" cy="7940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844212" y="2145178"/>
            <a:ext cx="10113598" cy="27699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Desenvolva um sistema que: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Receba um número de 1 a 5 como entrada do usuário (use o prompt)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Escreva na tela esse número por extenso (use o alert)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Utilize as condições aninhadas para realizar esta atividade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1468182" y="497250"/>
            <a:ext cx="24612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Operadores em JS</a:t>
            </a:r>
            <a:endParaRPr/>
          </a:p>
        </p:txBody>
      </p:sp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838200" y="1689946"/>
            <a:ext cx="5952344" cy="47803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JavaScript, temos acesso aos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operadores lógicos e relacionais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habituais em linguagens de programação, sendo: é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igual, é diferente, menor, menor ou igual, maior, maior ou igual, and (e), or (ou) e not (não).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Utilizados para comparar valores, sejam caracteres ou variáveis. Estes operadores sempre retornam valores lógicos (verdadeiro ou falso). Os operadores relacionais são: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p15"/>
          <p:cNvGraphicFramePr/>
          <p:nvPr/>
        </p:nvGraphicFramePr>
        <p:xfrm>
          <a:off x="7403892" y="3009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983050"/>
                <a:gridCol w="2771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==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Igual a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===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Valor e tipo igual a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!=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Diferente de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Maior que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Menor que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&gt;=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Maior ou igual a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&lt;=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Menor ou igual a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Operadores Relacionais</a:t>
            </a:r>
            <a:endParaRPr/>
          </a:p>
        </p:txBody>
      </p:sp>
      <p:sp>
        <p:nvSpPr>
          <p:cNvPr id="168" name="Google Shape;168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69" name="Google Shape;169;p16"/>
          <p:cNvGraphicFramePr/>
          <p:nvPr/>
        </p:nvGraphicFramePr>
        <p:xfrm>
          <a:off x="2517098" y="13830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5862400"/>
              </a:tblGrid>
              <a:tr h="110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preco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50.5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(preco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produto não é gratuito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" name="Google Shape;170;p16"/>
          <p:cNvGraphicFramePr/>
          <p:nvPr/>
        </p:nvGraphicFramePr>
        <p:xfrm>
          <a:off x="213607" y="3303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5612575"/>
              </a:tblGrid>
              <a:tr h="193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2A4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//comparação com maior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(preco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preço é maior que 100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(preco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70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preço é maior ou igual a 70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preço é menor que 70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" name="Google Shape;171;p16"/>
          <p:cNvGraphicFramePr/>
          <p:nvPr/>
        </p:nvGraphicFramePr>
        <p:xfrm>
          <a:off x="5911123" y="331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5612575"/>
              </a:tblGrid>
              <a:tr h="193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2A4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//comparação com menor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(preco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preço é menor que 10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(preco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preço é menor ou igual a 20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preço é maior que 20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/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77" name="Google Shape;177;p17"/>
          <p:cNvGrpSpPr/>
          <p:nvPr/>
        </p:nvGrpSpPr>
        <p:grpSpPr>
          <a:xfrm>
            <a:off x="1039084" y="512036"/>
            <a:ext cx="401518" cy="401518"/>
            <a:chOff x="974706" y="2467173"/>
            <a:chExt cx="738900" cy="738900"/>
          </a:xfrm>
        </p:grpSpPr>
        <p:sp>
          <p:nvSpPr>
            <p:cNvPr id="178" name="Google Shape;178;p1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9" name="Google Shape;179;p1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17"/>
          <p:cNvSpPr txBox="1"/>
          <p:nvPr/>
        </p:nvSpPr>
        <p:spPr>
          <a:xfrm>
            <a:off x="1039084" y="1006112"/>
            <a:ext cx="4987200" cy="7940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1468182" y="497250"/>
            <a:ext cx="24612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761417" y="2010883"/>
            <a:ext cx="10466216" cy="3508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Desenvolva um sistema que: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Receba do usuário um número entre 1 e 100 (prompt)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cada intervalo de 10 números verifique se ele se encaixa (ex: entre 1 e 10, entre 10 e 20, entre 20 e 30, etc....)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Escreva como resultado: o número inserido no console e o intervalo correspondente em um alert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Condições com &amp;&amp;</a:t>
            </a:r>
            <a:endParaRPr/>
          </a:p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38199" y="1559724"/>
            <a:ext cx="10515599" cy="15132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Diante de uma combinação de operadores &amp;&amp; (AND),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será necessário que todas as comparações sejam verdadeiras para que a condição composta seja verdadeira.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943131" y="30729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8215850"/>
              </a:tblGrid>
              <a:tr h="180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nome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sobrenome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sobrenome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((nome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&amp;&amp;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(sobrenome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Nome: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Sobrenome: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sobrenome);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 ao inserir nome e sobrenome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Condições com ||</a:t>
            </a:r>
            <a:endParaRPr/>
          </a:p>
        </p:txBody>
      </p:sp>
      <p:sp>
        <p:nvSpPr>
          <p:cNvPr id="196" name="Google Shape;196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38200" y="1551359"/>
            <a:ext cx="11004030" cy="12884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|| (OR) estiver presente,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 será necessário que ao menos uma das comparações seja verdadeira para que a condição composta seja verdadeira.</a:t>
            </a:r>
            <a:endParaRPr b="1" i="0" sz="2400" u="none" cap="none" strike="noStrike">
              <a:solidFill>
                <a:srgbClr val="000000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8" name="Google Shape;198;p19"/>
          <p:cNvGraphicFramePr/>
          <p:nvPr/>
        </p:nvGraphicFramePr>
        <p:xfrm>
          <a:off x="958121" y="31204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10059650"/>
              </a:tblGrid>
              <a:tr h="155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nome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((nome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||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||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nome inserido é Ana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nome inserido NÃO é Ana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Condições com !</a:t>
            </a:r>
            <a:endParaRPr/>
          </a:p>
        </p:txBody>
      </p:sp>
      <p:sp>
        <p:nvSpPr>
          <p:cNvPr id="204" name="Google Shape;204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38200" y="1634676"/>
            <a:ext cx="10515598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! (NOT) estiver presente,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será necessário que a condição seja falsa, para que seu resultado seja verdadeiro.</a:t>
            </a:r>
            <a:endParaRPr b="1" i="0" sz="2400" u="none" cap="none" strike="noStrike">
              <a:solidFill>
                <a:srgbClr val="000000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6" name="Google Shape;206;p20"/>
          <p:cNvGraphicFramePr/>
          <p:nvPr/>
        </p:nvGraphicFramePr>
        <p:xfrm>
          <a:off x="2577059" y="2926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5862400"/>
              </a:tblGrid>
              <a:tr h="155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nome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eVazio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eVazio)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Nome: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 é vazio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Relacional e Lógico</a:t>
            </a:r>
            <a:endParaRPr/>
          </a:p>
        </p:txBody>
      </p: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38200" y="1489141"/>
            <a:ext cx="10029669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possível combinar operadores relacionais e lógicos para fazer comparações mais complexas.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4" name="Google Shape;214;p21"/>
          <p:cNvGraphicFramePr/>
          <p:nvPr/>
        </p:nvGraphicFramePr>
        <p:xfrm>
          <a:off x="913151" y="25250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9879775"/>
              </a:tblGrid>
              <a:tr h="233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idade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É jovem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((idade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&amp;&amp;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É adulto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É idoso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And e Or</a:t>
            </a:r>
            <a:endParaRPr/>
          </a:p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77777" y="1724616"/>
            <a:ext cx="10954589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Também é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possível combinar &amp;&amp; (AND) e || (OR)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fazer comparações cada vez mais complexas.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22"/>
          <p:cNvGraphicFramePr/>
          <p:nvPr/>
        </p:nvGraphicFramePr>
        <p:xfrm>
          <a:off x="838200" y="28482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{412CF178-5B6B-4475-8AAE-EB53C09F072E}</a:tableStyleId>
              </a:tblPr>
              <a:tblGrid>
                <a:gridCol w="10644275"/>
              </a:tblGrid>
              <a:tr h="181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nome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((nome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&amp;&amp;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((nome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||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||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Ema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Erro: Inserir nome válido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And e Or</a:t>
            </a:r>
            <a:endParaRPr/>
          </a:p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38200" y="1499763"/>
            <a:ext cx="10899098" cy="16931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Dado que as expressões lógicas são verificadas da esquerda para a direita,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é necessário agrupar as operações para garantir que sejam cumpridas conforme o desejado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 mudança de agrupamento com os parênteses produz resultados diferentes.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863" y="3356556"/>
            <a:ext cx="10681007" cy="247461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236" name="Google Shape;236;p24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https://developer.mozilla.org/pt-BR/docs/Web/JavaScript</a:t>
            </a:r>
            <a:r>
              <a:rPr lang="pt-BR"/>
              <a:t> 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https://www.w3schools.com/js/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Sintaxe if...else</a:t>
            </a:r>
            <a:r>
              <a:rPr lang="pt-BR">
                <a:solidFill>
                  <a:schemeClr val="dk1"/>
                </a:solidFill>
              </a:rPr>
              <a:t> | </a:t>
            </a:r>
            <a:r>
              <a:rPr b="1" lang="pt-BR">
                <a:solidFill>
                  <a:schemeClr val="dk2"/>
                </a:solidFill>
              </a:rPr>
              <a:t>Developer Mozilla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 u="sng">
                <a:solidFill>
                  <a:schemeClr val="dk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Javascript como e quando utilizar os operadores</a:t>
            </a:r>
            <a:r>
              <a:rPr lang="pt-BR">
                <a:solidFill>
                  <a:schemeClr val="dk1"/>
                </a:solidFill>
              </a:rPr>
              <a:t> | </a:t>
            </a:r>
            <a:r>
              <a:rPr b="1" lang="pt-BR">
                <a:solidFill>
                  <a:schemeClr val="dk2"/>
                </a:solidFill>
              </a:rPr>
              <a:t>Devmedia</a:t>
            </a:r>
            <a:endParaRPr b="1">
              <a:solidFill>
                <a:schemeClr val="dk2"/>
              </a:solidFill>
            </a:endParaRPr>
          </a:p>
          <a:p>
            <a:pPr indent="0" lvl="0" marL="146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243" name="Google Shape;243;p25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2022-12-26T16:03:00Z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1046-12.2.0.20782</vt:lpwstr>
  </property>
</Properties>
</file>