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12192000"/>
  <p:notesSz cx="6858000" cy="9144000"/>
  <p:embeddedFontLst>
    <p:embeddedFont>
      <p:font typeface="DM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gpLcEHrwjSF4AaiBVpGqlGtdna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FBE3F6-56F4-44CD-9321-2BD2FD843425}">
  <a:tblStyle styleId="{C8FBE3F6-56F4-44CD-9321-2BD2FD84342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DMSans-bold.fntdata"/><Relationship Id="rId16" Type="http://schemas.openxmlformats.org/officeDocument/2006/relationships/slide" Target="slides/slide11.xml"/><Relationship Id="rId38" Type="http://schemas.openxmlformats.org/officeDocument/2006/relationships/font" Target="fonts/DM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9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9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03-B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2">
  <p:cSld name="03-B 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03-B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2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7" name="Google Shape;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9" name="Google Shape;49;p1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Fondo blanco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3" title="logo coderhouse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15218" y="6256367"/>
            <a:ext cx="1534333" cy="35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imasters.com.br/desenvolvimento/escopos-em-javascript" TargetMode="External"/><Relationship Id="rId4" Type="http://schemas.openxmlformats.org/officeDocument/2006/relationships/hyperlink" Target="https://developer.mozilla.org/pt-BR/docs/Web/JavaScript/Reference/Operators/this" TargetMode="External"/><Relationship Id="rId5" Type="http://schemas.openxmlformats.org/officeDocument/2006/relationships/hyperlink" Target="https://www.freecodecamp.org/portuguese/news/lacos-em-javascript-explicados-lacos-for-while-do-while-e-mais/" TargetMode="External"/><Relationship Id="rId6" Type="http://schemas.openxmlformats.org/officeDocument/2006/relationships/hyperlink" Target="https://www.devmedia.com.br/for-em-javascript-dica/28554" TargetMode="External"/><Relationship Id="rId7" Type="http://schemas.openxmlformats.org/officeDocument/2006/relationships/hyperlink" Target="https://developer.mozilla.org/pt-BR/docs/Learn/JavaScript/Building_blocks/Looping_cod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64" name="Google Shape;64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- Escopo</a:t>
            </a:r>
            <a:br>
              <a:rPr lang="pt-BR" sz="4400"/>
            </a:br>
            <a:r>
              <a:rPr lang="pt-BR" sz="4400"/>
              <a:t>- Ciclos e Iterações</a:t>
            </a:r>
            <a:endParaRPr sz="4400"/>
          </a:p>
        </p:txBody>
      </p:sp>
      <p:sp>
        <p:nvSpPr>
          <p:cNvPr id="71" name="Google Shape;71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Escopo</a:t>
            </a:r>
            <a:endParaRPr/>
          </a:p>
        </p:txBody>
      </p:sp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4"/>
          <p:cNvSpPr txBox="1"/>
          <p:nvPr/>
        </p:nvSpPr>
        <p:spPr>
          <a:xfrm>
            <a:off x="770603" y="1360828"/>
            <a:ext cx="11249332" cy="23430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Escopo é o que determina </a:t>
            </a:r>
            <a:r>
              <a:rPr b="1" i="0" lang="pt-BR" sz="20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quais são os dados que podem ser acessados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 uma determinada parte do código.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que escopo é uma caixa e tudo que for criado nesta caixa pode ser acessado por qualquer objeto dentro da mesma.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escopo é criado sempre que definimos uma função, por exemplo: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" name="Google Shape;79;p4"/>
          <p:cNvGraphicFramePr/>
          <p:nvPr/>
        </p:nvGraphicFramePr>
        <p:xfrm>
          <a:off x="1486435" y="3716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5686200"/>
              </a:tblGrid>
              <a:tr h="103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hello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Isto aqui é um escopo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4"/>
          <p:cNvSpPr txBox="1"/>
          <p:nvPr/>
        </p:nvSpPr>
        <p:spPr>
          <a:xfrm>
            <a:off x="770603" y="4816950"/>
            <a:ext cx="10583195" cy="16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Sempre que iniciamos nosso código, o JavaScript cria um escopo global, uma caixa maior para que possamos colocar todas as demais caixas dentro.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criamos nossa função, estamos colocando uma caixa menor dentro do escopo global na qual estamos trabalhando.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Escopo</a:t>
            </a:r>
            <a:endParaRPr/>
          </a:p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749712" y="1255603"/>
            <a:ext cx="7317656" cy="318366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o escopo é fechado para acessos externos, de forma que escopos superiores não conseguem acessar escopos internos, mas o contrário é permitido.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tem três tipos de escopos: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Escopo Global, Escopo de Função e Escopo de Bloco (ES6).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uma variável é declarada fora de qualquer função ou bloco, será transformada automaticamente em variável global.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JavaScript: Scope | Steve the Dev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0104" y="1196611"/>
            <a:ext cx="3991896" cy="399189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889822" y="43017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7037425"/>
              </a:tblGrid>
              <a:tr h="19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resultado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//É possível acessar a variável resultado, pois é global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(resultado);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Escopo</a:t>
            </a:r>
            <a:endParaRPr/>
          </a:p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838199" y="1484114"/>
            <a:ext cx="10709787" cy="14803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Quando definimos uma variável dentro de uma função, ela é considerada uma variável local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 será acessível apenas dentro dessa função.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quisermos utilizá-la por fora, a variável não existirá para o JS.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15"/>
          <p:cNvGraphicFramePr/>
          <p:nvPr/>
        </p:nvGraphicFramePr>
        <p:xfrm>
          <a:off x="970616" y="30656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10142450"/>
              </a:tblGrid>
              <a:tr h="116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primeiroNumero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segundoNumero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//Não é possível acessar a variável resultado fora do bloco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(resultado);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5468067"/>
            <a:ext cx="10274866" cy="491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Variáveis locais e globais</a:t>
            </a:r>
            <a:endParaRPr/>
          </a:p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5" name="Google Shape;105;p16"/>
          <p:cNvSpPr txBox="1"/>
          <p:nvPr/>
        </p:nvSpPr>
        <p:spPr>
          <a:xfrm>
            <a:off x="705465" y="1705261"/>
            <a:ext cx="4073012" cy="24685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preciso entender que as variáveis globais e locais se identificam como diferentes entre si, e podem existir no programa sobre o mesmo nome sem conflito.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4778477" y="14875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6813750"/>
              </a:tblGrid>
              <a:tr h="248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Maria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variável global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saudacao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João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variável local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(nome)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// -&gt; "João"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//Acessa nome local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saudacao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//Acessa nome global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(nome)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-&gt; "Maria"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Escopo</a:t>
            </a:r>
            <a:endParaRPr/>
          </a:p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3" name="Google Shape;113;p17"/>
          <p:cNvSpPr txBox="1"/>
          <p:nvPr/>
        </p:nvSpPr>
        <p:spPr>
          <a:xfrm>
            <a:off x="720213" y="1373588"/>
            <a:ext cx="5679229" cy="23867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escopo é um espaço fechado que nos permite criar blocos de trabalho bem diferenciados e independentes, sem que nos preocupemos com uma possível repetição de nomes de variáveis, pois sabemos que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são entendidas como diferentes de acordo com o local de sua declaração.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" name="Google Shape;114;p17"/>
          <p:cNvGraphicFramePr/>
          <p:nvPr/>
        </p:nvGraphicFramePr>
        <p:xfrm>
          <a:off x="6517429" y="137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5500050"/>
              </a:tblGrid>
              <a:tr h="2484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num2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num2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subtrair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num2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num2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7"/>
          <p:cNvSpPr txBox="1"/>
          <p:nvPr/>
        </p:nvSpPr>
        <p:spPr>
          <a:xfrm>
            <a:off x="720213" y="3760382"/>
            <a:ext cx="5679228" cy="27098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escopo é extremamente importante em JavaScript porque ele pode ser interpretado de diversas formas.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 exemplo de como essas interpretações mudam foi a </a:t>
            </a:r>
            <a:r>
              <a:rPr b="1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inclusão dos identificadores let e const</a:t>
            </a:r>
            <a:r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declarar variáveis e para que também pudesse ser utilizado escopo em bloco.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Escopo</a:t>
            </a:r>
            <a:endParaRPr/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749711" y="1373588"/>
            <a:ext cx="6137785" cy="52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declarações com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e const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possuem controles adicionais para as variáveis. Em especial, impedem que possam ser criadas duas variáveis com o mesmo nome.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variável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 receber múltiplas atribuições no decorrer da aplicação, ou seja, pode mudar de valor várias vezes.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constante </a:t>
            </a: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recebe uma única atribuição no momento de sua declaração, impedindo que seu valor seja modificado posteriormente.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7020230" y="23226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5091375"/>
              </a:tblGrid>
              <a:tr h="1582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idade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sobrenome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Maria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não é possível modificá-la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sobrenome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Silva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Escopo de bloco</a:t>
            </a:r>
            <a:endParaRPr/>
          </a:p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838200" y="1557026"/>
            <a:ext cx="4869426" cy="39293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Anteriormente falamos do escopo criado por funções, mas esta não é a única forma de criarmos um escopo no JS.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o tipo de bloco cria um novo escopo</a:t>
            </a:r>
            <a:r>
              <a:rPr b="0" i="0" lang="pt-B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 por bloco queremos dizer qualquer estrutura que utilize chaves, como if, for, while e outras.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1" name="Google Shape;131;p19"/>
          <p:cNvGraphicFramePr/>
          <p:nvPr/>
        </p:nvGraphicFramePr>
        <p:xfrm>
          <a:off x="5973098" y="16018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6105825"/>
              </a:tblGrid>
              <a:tr h="1582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A99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//usando var</a:t>
                      </a:r>
                      <a:endParaRPr sz="2000" u="none" cap="none" strike="noStrike">
                        <a:solidFill>
                          <a:srgbClr val="D4D4D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(</a:t>
                      </a:r>
                      <a:r>
                        <a:rPr lang="pt-BR" sz="2000" u="none" cap="none" strike="noStrike">
                          <a:solidFill>
                            <a:srgbClr val="569CD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 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   </a:t>
                      </a:r>
                      <a:r>
                        <a:rPr lang="pt-BR" sz="2000" u="none" cap="none" strike="noStrike">
                          <a:solidFill>
                            <a:srgbClr val="569CD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r>
                        <a:rPr lang="pt-BR" sz="2000" u="none" cap="none" strike="noStrike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variavel1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= </a:t>
                      </a:r>
                      <a:r>
                        <a:rPr lang="pt-BR" sz="2000" u="none" cap="none" strike="noStrike">
                          <a:solidFill>
                            <a:srgbClr val="CE91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'teste'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variavel1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r>
                        <a:rPr lang="pt-BR" sz="2000" u="none" cap="none" strike="noStrike">
                          <a:solidFill>
                            <a:srgbClr val="6A99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 &lt;-- Funciona</a:t>
                      </a:r>
                      <a:endParaRPr sz="2000" u="none" cap="none" strike="noStrike">
                        <a:solidFill>
                          <a:srgbClr val="D4D4D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A99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//usando let</a:t>
                      </a:r>
                      <a:endParaRPr sz="2000" u="none" cap="none" strike="noStrike">
                        <a:solidFill>
                          <a:srgbClr val="D4D4D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C586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(</a:t>
                      </a:r>
                      <a:r>
                        <a:rPr lang="pt-BR" sz="2000" u="none" cap="none" strike="noStrike">
                          <a:solidFill>
                            <a:srgbClr val="569CD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 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   </a:t>
                      </a:r>
                      <a:r>
                        <a:rPr lang="pt-BR" sz="2000" u="none" cap="none" strike="noStrike">
                          <a:solidFill>
                            <a:srgbClr val="569CD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</a:t>
                      </a:r>
                      <a:r>
                        <a:rPr lang="pt-BR" sz="2000" u="none" cap="none" strike="noStrike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variavel2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= </a:t>
                      </a:r>
                      <a:r>
                        <a:rPr lang="pt-BR" sz="2000" u="none" cap="none" strike="noStrike">
                          <a:solidFill>
                            <a:srgbClr val="CE917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'teste'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   </a:t>
                      </a:r>
                      <a:r>
                        <a:rPr lang="pt-BR" sz="2000" u="none" cap="none" strike="noStrike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variavel2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r>
                        <a:rPr lang="pt-BR" sz="2000" u="none" cap="none" strike="noStrike">
                          <a:solidFill>
                            <a:srgbClr val="6A99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 &lt;-- Funciona</a:t>
                      </a:r>
                      <a:endParaRPr sz="2000" u="none" cap="none" strike="noStrike">
                        <a:solidFill>
                          <a:srgbClr val="D4D4D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DCDCA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9CDC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variavel2</a:t>
                      </a:r>
                      <a:r>
                        <a:rPr lang="pt-BR" sz="2000" u="none" cap="none" strike="noStrike">
                          <a:solidFill>
                            <a:srgbClr val="D4D4D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r>
                        <a:rPr lang="pt-BR" sz="2000" u="none" cap="none" strike="noStrike">
                          <a:solidFill>
                            <a:srgbClr val="6A995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 &lt;-- NÃO funciona</a:t>
                      </a:r>
                      <a:endParaRPr sz="2000" u="none" cap="none" strike="noStrike">
                        <a:solidFill>
                          <a:srgbClr val="D4D4D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Hosting</a:t>
            </a:r>
            <a:endParaRPr/>
          </a:p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710012" y="1557025"/>
            <a:ext cx="6841161" cy="40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hoisting é um comportamento presente no JavaScript que faz com que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declarações de variáveis e funções sejam "elevadas" para o topo do escopo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 que são definidas.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Isso significa que, independentemente de onde uma declaração de variável ou função apareça no código, ela será tratada como se estivesse no topo do escopo.</a:t>
            </a:r>
            <a:endParaRPr b="1" i="1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20"/>
          <p:cNvGraphicFramePr/>
          <p:nvPr/>
        </p:nvGraphicFramePr>
        <p:xfrm>
          <a:off x="7694872" y="1668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4078025"/>
              </a:tblGrid>
              <a:tr h="1582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//Original:</a:t>
                      </a:r>
                      <a:endParaRPr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(x);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 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8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//Interpretação:</a:t>
                      </a:r>
                      <a:endParaRPr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(x);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 </a:t>
                      </a:r>
                      <a:r>
                        <a:rPr lang="pt-BR" sz="2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/>
        </p:nvSpPr>
        <p:spPr>
          <a:xfrm>
            <a:off x="1926867" y="284252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Hosting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5" name="Google Shape;145;p21"/>
          <p:cNvGrpSpPr/>
          <p:nvPr/>
        </p:nvGrpSpPr>
        <p:grpSpPr>
          <a:xfrm>
            <a:off x="631135" y="191849"/>
            <a:ext cx="985200" cy="985200"/>
            <a:chOff x="473351" y="619523"/>
            <a:chExt cx="738900" cy="738900"/>
          </a:xfrm>
        </p:grpSpPr>
        <p:sp>
          <p:nvSpPr>
            <p:cNvPr id="146" name="Google Shape;146;p21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7" name="Google Shape;147;p21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48" name="Google Shape;148;p21"/>
          <p:cNvGraphicFramePr/>
          <p:nvPr/>
        </p:nvGraphicFramePr>
        <p:xfrm>
          <a:off x="1425500" y="1249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9869725"/>
              </a:tblGrid>
              <a:tr h="462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//Exemplo 1 - Não eleva (hoist)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(x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'1 undefined'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y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//Isso não funcionará, pois o JavaScript apenas eleva declarações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//Example 2 - Hoists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num1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num2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(num1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num2);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//'3 4'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num2;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//Declara num2 para hoisting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//Example 3 - Hoists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Cran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berry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(a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b);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'Cranberry'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a, b;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//Declara ambos a &amp; b para hoisting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1125" marB="71125" marR="71125" marL="71125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Resumindo</a:t>
            </a:r>
            <a:endParaRPr/>
          </a:p>
        </p:txBody>
      </p:sp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aphicFrame>
        <p:nvGraphicFramePr>
          <p:cNvPr id="155" name="Google Shape;155;p22"/>
          <p:cNvGraphicFramePr/>
          <p:nvPr/>
        </p:nvGraphicFramePr>
        <p:xfrm>
          <a:off x="838200" y="1724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5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t/>
                      </a:r>
                      <a:endParaRPr sz="2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0775" marB="80775" marR="161550" marL="161550">
                    <a:solidFill>
                      <a:srgbClr val="F1F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solidFill>
                            <a:schemeClr val="dk1"/>
                          </a:solidFill>
                        </a:rPr>
                        <a:t>VAR</a:t>
                      </a:r>
                      <a:endParaRPr sz="2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0775" marB="80775" marR="161550" marL="161550">
                    <a:solidFill>
                      <a:srgbClr val="E9F2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solidFill>
                            <a:schemeClr val="dk1"/>
                          </a:solidFill>
                        </a:rPr>
                        <a:t>CONST</a:t>
                      </a:r>
                      <a:endParaRPr sz="2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0775" marB="80775" marR="161550" marL="161550">
                    <a:solidFill>
                      <a:srgbClr val="E9F2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solidFill>
                            <a:schemeClr val="dk1"/>
                          </a:solidFill>
                        </a:rPr>
                        <a:t>LET</a:t>
                      </a:r>
                      <a:endParaRPr sz="2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0775" marB="80775" marR="161550" marL="161550">
                    <a:solidFill>
                      <a:srgbClr val="E9F284"/>
                    </a:solidFill>
                  </a:tcPr>
                </a:tc>
              </a:tr>
              <a:tr h="65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solidFill>
                            <a:schemeClr val="dk1"/>
                          </a:solidFill>
                        </a:rPr>
                        <a:t>Escopo</a:t>
                      </a:r>
                      <a:endParaRPr sz="2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0775" marB="80775" marR="161550" marL="161550">
                    <a:solidFill>
                      <a:srgbClr val="F1F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Global ou local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Bloco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Bloco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</a:tr>
              <a:tr h="65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solidFill>
                            <a:schemeClr val="dk1"/>
                          </a:solidFill>
                        </a:rPr>
                        <a:t>Redeclarar</a:t>
                      </a:r>
                      <a:endParaRPr sz="2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0775" marB="80775" marR="161550" marL="161550">
                    <a:solidFill>
                      <a:srgbClr val="F1F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Sim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Não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Não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</a:tr>
              <a:tr h="65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solidFill>
                            <a:schemeClr val="dk1"/>
                          </a:solidFill>
                        </a:rPr>
                        <a:t>Reatribuir</a:t>
                      </a:r>
                      <a:endParaRPr sz="2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0775" marB="80775" marR="161550" marL="161550">
                    <a:solidFill>
                      <a:srgbClr val="F1F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Sim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Não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Sim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</a:tr>
              <a:tr h="65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>
                          <a:solidFill>
                            <a:schemeClr val="dk1"/>
                          </a:solidFill>
                        </a:rPr>
                        <a:t>Hoisting</a:t>
                      </a:r>
                      <a:endParaRPr sz="2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80775" marB="80775" marR="161550" marL="161550">
                    <a:solidFill>
                      <a:srgbClr val="F1FA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Sim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Não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2500" u="none" cap="none" strike="noStrike"/>
                        <a:t>Não</a:t>
                      </a:r>
                      <a:endParaRPr sz="2500" u="none" cap="none" strike="noStrike"/>
                    </a:p>
                  </a:txBody>
                  <a:tcPr marT="80775" marB="80775" marR="161550" marL="1615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Contexto / Contexto global</a:t>
            </a:r>
            <a:endParaRPr/>
          </a:p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838200" y="1373588"/>
            <a:ext cx="10282084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Enquanto o escopo se refere à visibilidade, o contexto se refere ao valor de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(“este”), ou seja, elemento atual em que se está escrevendo o código. </a:t>
            </a:r>
            <a:endParaRPr b="0" i="0" sz="2000" u="none" cap="none" strike="noStrike">
              <a:solidFill>
                <a:srgbClr val="FF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 uma analogia, pensando em nosso mundo,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o contexto nada mais é do que o “espaço” que determinada variável ocupa no ambiente 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(variável no sentido mais amplo, podendo ser uma função também).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838200" y="3792589"/>
            <a:ext cx="10282084" cy="2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 contexto de execução global,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refere-se ao objeto global.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 navegador 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aponta para a window.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As variáveis globais são declaradas na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portanto 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tem acesso a estas variáveis globais.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Contexto local</a:t>
            </a:r>
            <a:endParaRPr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0" name="Google Shape;170;p24"/>
          <p:cNvSpPr txBox="1"/>
          <p:nvPr/>
        </p:nvSpPr>
        <p:spPr>
          <a:xfrm>
            <a:off x="838199" y="1483284"/>
            <a:ext cx="5042807" cy="48585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Dentro de uma função, o valor de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depende de como a função é chamada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 uma chamada de função simples 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não é definido pela chamada. Por padrão,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será o objeto global.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Já em uma função construtora 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se refere ao próprio objeto ou ao objeto da instância.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1" name="Google Shape;171;p24"/>
          <p:cNvGraphicFramePr/>
          <p:nvPr/>
        </p:nvGraphicFramePr>
        <p:xfrm>
          <a:off x="6310994" y="8806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5016925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Lucas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obterNome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Jonas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 </a:t>
                      </a:r>
                      <a:r>
                        <a:rPr b="0"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//Lucas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obterNome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 </a:t>
                      </a:r>
                      <a:r>
                        <a:rPr b="0"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//Lucas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Google Shape;172;p24"/>
          <p:cNvGraphicFramePr/>
          <p:nvPr/>
        </p:nvGraphicFramePr>
        <p:xfrm>
          <a:off x="6310994" y="392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5016925"/>
              </a:tblGrid>
              <a:tr h="156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nome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Lucas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obterNome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Jonas</a:t>
                      </a:r>
                      <a:r>
                        <a:rPr b="0"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 </a:t>
                      </a:r>
                      <a:r>
                        <a:rPr b="0"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//Jonas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obterNome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i="1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.nome) </a:t>
                      </a:r>
                      <a:r>
                        <a:rPr b="0"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//Lucas</a:t>
                      </a:r>
                      <a:endParaRPr b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Ciclos no Javascript</a:t>
            </a:r>
            <a:endParaRPr/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9" name="Google Shape;179;p25"/>
          <p:cNvSpPr txBox="1"/>
          <p:nvPr/>
        </p:nvSpPr>
        <p:spPr>
          <a:xfrm>
            <a:off x="838199" y="1358840"/>
            <a:ext cx="6624485" cy="2623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Os ciclos, também conhecidos como laços, loops ou iterações, são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uma forma rápida e simples de fazer algo repetidamente.</a:t>
            </a:r>
            <a:endParaRPr b="1" i="0" sz="20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 temos que fazer alguma operação no programa mais de uma vez, de forma consecutiva, usaremos as estruturas de loop do JavaScript: 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while 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ou</a:t>
            </a:r>
            <a:r>
              <a:rPr b="0" i="0" lang="pt-BR" sz="2000" u="none" cap="none" strike="noStrike">
                <a:solidFill>
                  <a:srgbClr val="8215B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do...while.</a:t>
            </a:r>
            <a:endParaRPr b="1" i="0" sz="20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29474" l="-1010" r="0" t="30102"/>
          <a:stretch/>
        </p:blipFill>
        <p:spPr>
          <a:xfrm>
            <a:off x="7600940" y="1263932"/>
            <a:ext cx="4443576" cy="280219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5"/>
          <p:cNvSpPr txBox="1"/>
          <p:nvPr/>
        </p:nvSpPr>
        <p:spPr>
          <a:xfrm>
            <a:off x="797321" y="3670815"/>
            <a:ext cx="4443576" cy="707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b="1" i="0" lang="pt-BR" sz="3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Tipos de loops</a:t>
            </a:r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838199" y="4457864"/>
            <a:ext cx="10134602" cy="20825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Laços por contagem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Repetem um bloco de código por um determinado número de vezes. Estrutura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 sz="2000" u="none" cap="none" strike="noStrike">
                <a:solidFill>
                  <a:srgbClr val="8215B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000" u="none" cap="none" strike="noStrike">
              <a:solidFill>
                <a:srgbClr val="8215BC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Laços condicionais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Repetem um bloco de código enquanto a condição verificada for verdadeira. Estruturas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while e do...while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Sintaxe do for</a:t>
            </a:r>
            <a:endParaRPr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9" name="Google Shape;189;p26"/>
          <p:cNvSpPr txBox="1"/>
          <p:nvPr/>
        </p:nvSpPr>
        <p:spPr>
          <a:xfrm>
            <a:off x="690716" y="1373588"/>
            <a:ext cx="5916561" cy="26622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início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é o local em que se estabelecem os valores iniciais das variáveis que controlam o loop.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condição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é o único elemento que decide se o que está contido no loop será repetido.</a:t>
            </a:r>
            <a:b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atualização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é o novo valor que se atribui às variáveis que controlam a repetição ao final de cada loop.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0" name="Google Shape;190;p26"/>
          <p:cNvGraphicFramePr/>
          <p:nvPr/>
        </p:nvGraphicFramePr>
        <p:xfrm>
          <a:off x="6678563" y="1705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5311875"/>
              </a:tblGrid>
              <a:tr h="83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i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(início; condição; atualização)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i="0"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//o que está escrito aqui será executado enquanto durar o loop</a:t>
                      </a:r>
                      <a:endParaRPr b="0" i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i="0"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26"/>
          <p:cNvSpPr txBox="1"/>
          <p:nvPr/>
        </p:nvSpPr>
        <p:spPr>
          <a:xfrm>
            <a:off x="690716" y="4146207"/>
            <a:ext cx="4941204" cy="8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Neste exemplo, utilizamos um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contar de 0 a 9.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2" name="Google Shape;192;p26"/>
          <p:cNvGraphicFramePr/>
          <p:nvPr/>
        </p:nvGraphicFramePr>
        <p:xfrm>
          <a:off x="822470" y="5132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4413200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(i);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/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26"/>
          <p:cNvSpPr txBox="1"/>
          <p:nvPr/>
        </p:nvSpPr>
        <p:spPr>
          <a:xfrm>
            <a:off x="6722807" y="4146207"/>
            <a:ext cx="4515464" cy="8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usamos um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contar de 1 a 10.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4" name="Google Shape;194;p26"/>
          <p:cNvGraphicFramePr/>
          <p:nvPr/>
        </p:nvGraphicFramePr>
        <p:xfrm>
          <a:off x="6722807" y="5132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4515475"/>
              </a:tblGrid>
              <a:tr h="537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 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&lt;=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</a:t>
                      </a:r>
                      <a:r>
                        <a:rPr b="0"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(i);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/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/>
        </p:nvSpPr>
        <p:spPr>
          <a:xfrm>
            <a:off x="805600" y="592866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 aplicado: Tabuada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00" name="Google Shape;200;p27"/>
          <p:cNvGraphicFramePr/>
          <p:nvPr/>
        </p:nvGraphicFramePr>
        <p:xfrm>
          <a:off x="805598" y="23780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11022600"/>
              </a:tblGrid>
              <a:tr h="259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Solicitamos um valor ao usuário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parseInt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Número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b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A cada repetição, calculamos o número inserido vezes o número da repetição (i)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*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X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resultado);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1125" marB="71125" marR="71125" marL="71125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27"/>
          <p:cNvSpPr txBox="1"/>
          <p:nvPr/>
        </p:nvSpPr>
        <p:spPr>
          <a:xfrm>
            <a:off x="805599" y="1485442"/>
            <a:ext cx="5860671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Algoritmo para calcular a tabuada de um número.</a:t>
            </a:r>
            <a:endParaRPr b="0" i="0" sz="18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Sentença Break</a:t>
            </a:r>
            <a:endParaRPr/>
          </a:p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779205" y="1373588"/>
            <a:ext cx="10515599" cy="23725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Às vezes, quando escrevemos uma estrutura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precisamos que o laço se interrompa conforme certa condição.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isso, utilizamos 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sentença break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Ao escrever essa linha dentro de um laço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ele será interrompido como se tivesse finalizado todas as repetições.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p28"/>
          <p:cNvGraphicFramePr/>
          <p:nvPr/>
        </p:nvGraphicFramePr>
        <p:xfrm>
          <a:off x="779205" y="3803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10515600"/>
              </a:tblGrid>
              <a:tr h="138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&lt;=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//Se a variável i for igual à 3, o for será interrompido. </a:t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(i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(i);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rgbClr val="EAFF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rgbClr val="EAFF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rgbClr val="EAFF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rgbClr val="EAFF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Sentença Continue</a:t>
            </a:r>
            <a:endParaRPr/>
          </a:p>
        </p:txBody>
      </p:sp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6" name="Google Shape;216;p29"/>
          <p:cNvSpPr txBox="1"/>
          <p:nvPr/>
        </p:nvSpPr>
        <p:spPr>
          <a:xfrm>
            <a:off x="838199" y="1482088"/>
            <a:ext cx="10724536" cy="16567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Às vezes, quando escrevemos uma estrutura </a:t>
            </a:r>
            <a:r>
              <a:rPr b="1" i="0" lang="pt-BR" sz="28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 sz="28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pt-BR" sz="2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precisamos que o laço, em certa condição, salte a repetição atual e siga para a próxima. Para isso, utilizamos a</a:t>
            </a:r>
            <a:r>
              <a:rPr b="0" i="0" lang="pt-BR" sz="28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8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sentença continue.</a:t>
            </a:r>
            <a:endParaRPr b="0" i="0" sz="28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7" name="Google Shape;217;p29"/>
          <p:cNvGraphicFramePr/>
          <p:nvPr/>
        </p:nvGraphicFramePr>
        <p:xfrm>
          <a:off x="838200" y="33440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10724525"/>
              </a:tblGrid>
              <a:tr h="138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 i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//Se a variável i for 3, não se interpreta essa repetição.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(i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continue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rgbClr val="EAFF6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rgbClr val="EAFF6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rgbClr val="EAFF6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rgbClr val="EAFF6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30"/>
          <p:cNvGrpSpPr/>
          <p:nvPr/>
        </p:nvGrpSpPr>
        <p:grpSpPr>
          <a:xfrm>
            <a:off x="1022560" y="644082"/>
            <a:ext cx="535357" cy="535357"/>
            <a:chOff x="974706" y="2467173"/>
            <a:chExt cx="738900" cy="738900"/>
          </a:xfrm>
        </p:grpSpPr>
        <p:sp>
          <p:nvSpPr>
            <p:cNvPr id="223" name="Google Shape;223;p30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24" name="Google Shape;224;p30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5" name="Google Shape;225;p30"/>
          <p:cNvSpPr txBox="1"/>
          <p:nvPr/>
        </p:nvSpPr>
        <p:spPr>
          <a:xfrm>
            <a:off x="875076" y="14550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Praticar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6" name="Google Shape;226;p30"/>
          <p:cNvSpPr txBox="1"/>
          <p:nvPr/>
        </p:nvSpPr>
        <p:spPr>
          <a:xfrm>
            <a:off x="875076" y="2562870"/>
            <a:ext cx="9316059" cy="320083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Descrição</a:t>
            </a:r>
            <a:endParaRPr b="1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Utilizando o “for” crie uma função que: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Receba um número de 1 a 10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Exiba todos os número que são menores que ele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791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Exemplos</a:t>
            </a: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1904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for enviado o número 4, o retorno será 1, 2, 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1904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for enviado o número 7, o retorno será 1, 2, 3, 4, 5, 6</a:t>
            </a:r>
            <a:endParaRPr b="1" i="0" sz="2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1594690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8" name="Google Shape;228;p3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While</a:t>
            </a:r>
            <a:endParaRPr/>
          </a:p>
        </p:txBody>
      </p:sp>
      <p:sp>
        <p:nvSpPr>
          <p:cNvPr id="234" name="Google Shape;234;p3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5" name="Google Shape;235;p31"/>
          <p:cNvSpPr txBox="1"/>
          <p:nvPr/>
        </p:nvSpPr>
        <p:spPr>
          <a:xfrm>
            <a:off x="838200" y="1493450"/>
            <a:ext cx="5459361" cy="28425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usamos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1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assumimos que em algum momento a repetição será finalizada.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comparação não se realiza adequadamente podemos gerar o chamado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“loop infinito”</a:t>
            </a:r>
            <a:endParaRPr b="0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6" name="Google Shape;236;p31"/>
          <p:cNvGraphicFramePr/>
          <p:nvPr/>
        </p:nvGraphicFramePr>
        <p:xfrm>
          <a:off x="6486833" y="16865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5459350"/>
              </a:tblGrid>
              <a:tr h="83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repetir </a:t>
                      </a: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true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(repetir) {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b="0"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b="0"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Ao infinito e...Além!</a:t>
                      </a:r>
                      <a:r>
                        <a:rPr b="0"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833" y="3925751"/>
            <a:ext cx="5456456" cy="1245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1905698" y="4336026"/>
            <a:ext cx="2179604" cy="2020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/>
        </p:nvSpPr>
        <p:spPr>
          <a:xfrm>
            <a:off x="805600" y="784595"/>
            <a:ext cx="9559200" cy="892576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 aplicado While: Sair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44" name="Google Shape;244;p32"/>
          <p:cNvGraphicFramePr/>
          <p:nvPr/>
        </p:nvGraphicFramePr>
        <p:xfrm>
          <a:off x="923587" y="29068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10122950"/>
              </a:tblGrid>
              <a:tr h="259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entrada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um dado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//Repetimos com while até que o usuário digite "sair"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(entrada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sair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 usuário inseriu 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entrada);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//Solicitamos novamente um dado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//Na próxima iteração, será verificado se não é "sair"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entrada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outro dado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71125" marB="71125" marR="71125" marL="71125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32"/>
          <p:cNvSpPr txBox="1"/>
          <p:nvPr/>
        </p:nvSpPr>
        <p:spPr>
          <a:xfrm>
            <a:off x="805599" y="1969000"/>
            <a:ext cx="10122955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Algoritmo que solicita uma entrada ao usuário até que ele(a) insira a palavra “sair”.</a:t>
            </a:r>
            <a:endParaRPr b="0" i="0" sz="20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33"/>
          <p:cNvGrpSpPr/>
          <p:nvPr/>
        </p:nvGrpSpPr>
        <p:grpSpPr>
          <a:xfrm>
            <a:off x="1007812" y="644082"/>
            <a:ext cx="535357" cy="535357"/>
            <a:chOff x="974706" y="2467173"/>
            <a:chExt cx="738900" cy="738900"/>
          </a:xfrm>
        </p:grpSpPr>
        <p:sp>
          <p:nvSpPr>
            <p:cNvPr id="251" name="Google Shape;251;p3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2" name="Google Shape;252;p33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" name="Google Shape;253;p33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Praticar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33"/>
          <p:cNvSpPr txBox="1"/>
          <p:nvPr/>
        </p:nvSpPr>
        <p:spPr>
          <a:xfrm>
            <a:off x="668600" y="2592367"/>
            <a:ext cx="10776148" cy="407030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Descrição</a:t>
            </a:r>
            <a:endParaRPr b="1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Utilizando o “while” crie uma função que: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Recebe um número e calcula o seu fatorial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 fatorial de um número é o produto dele pelos seus antecessores maiores que 0.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Exemplos</a:t>
            </a: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for enviado o número 4, o resultado será 1 x 2 x 3 x 4 = 24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for enviado o número 7, o retorno será 1 x 2 x 3 x 4 x 5 x 6 x 7 = 5040</a:t>
            </a:r>
            <a:endParaRPr b="0" i="0" sz="2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1579942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3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Do...While</a:t>
            </a:r>
            <a:endParaRPr/>
          </a:p>
        </p:txBody>
      </p:sp>
      <p:sp>
        <p:nvSpPr>
          <p:cNvPr id="262" name="Google Shape;262;p3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3" name="Google Shape;263;p34"/>
          <p:cNvSpPr txBox="1"/>
          <p:nvPr/>
        </p:nvSpPr>
        <p:spPr>
          <a:xfrm>
            <a:off x="838199" y="1537695"/>
            <a:ext cx="10515599" cy="23116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estrutura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do...while</a:t>
            </a:r>
            <a:r>
              <a:rPr b="1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permite criar loops que são executados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ou mais vezes,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dependendo da condição indicada.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diferença da estrutura </a:t>
            </a:r>
            <a:r>
              <a:rPr b="0" i="1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do…while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é que ela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garante que o bloco de código seja interpretado ao menos uma vez, porque a condição é verificada apenas no final.</a:t>
            </a:r>
            <a:endParaRPr b="0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E8E7E3"/>
              </a:solidFill>
              <a:highlight>
                <a:srgbClr val="99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4" name="Google Shape;264;p34"/>
          <p:cNvGraphicFramePr/>
          <p:nvPr/>
        </p:nvGraphicFramePr>
        <p:xfrm>
          <a:off x="1472708" y="40239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5547525"/>
              </a:tblGrid>
              <a:tr h="83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repetir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false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Só uma vez!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(repetir)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 txBox="1"/>
          <p:nvPr/>
        </p:nvSpPr>
        <p:spPr>
          <a:xfrm>
            <a:off x="805600" y="784595"/>
            <a:ext cx="9559200" cy="153897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667" u="none" cap="none" strike="noStrik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Exemplo aplicado Do…While: Número</a:t>
            </a:r>
            <a:endParaRPr b="1" i="0" sz="4667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70" name="Google Shape;270;p35"/>
          <p:cNvGraphicFramePr/>
          <p:nvPr/>
        </p:nvGraphicFramePr>
        <p:xfrm>
          <a:off x="235975" y="3083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11503750"/>
              </a:tblGrid>
              <a:tr h="2592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//Repetimos com do...while enquanto o usuário não inserir um número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numero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um número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(numero);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parseInt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(numero));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1125" marB="71125" marR="71125" marL="71125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35"/>
          <p:cNvSpPr txBox="1"/>
          <p:nvPr/>
        </p:nvSpPr>
        <p:spPr>
          <a:xfrm>
            <a:off x="805600" y="2294070"/>
            <a:ext cx="9559200" cy="5473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Algoritmo que solicita uma entrada e se encerra quando não for um número.</a:t>
            </a:r>
            <a:endParaRPr b="0" i="0" sz="20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Switch</a:t>
            </a:r>
            <a:endParaRPr/>
          </a:p>
        </p:txBody>
      </p:sp>
      <p:sp>
        <p:nvSpPr>
          <p:cNvPr id="277" name="Google Shape;277;p3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8" name="Google Shape;278;p36"/>
          <p:cNvSpPr txBox="1"/>
          <p:nvPr/>
        </p:nvSpPr>
        <p:spPr>
          <a:xfrm>
            <a:off x="722276" y="1405073"/>
            <a:ext cx="7595814" cy="16004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estrutura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especialmente projetada para administrar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múltiplas condições sobre a mesma variável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forma simples (tecnicamente, também poderia ser resolvido com um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o uso do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</a:t>
            </a:r>
            <a:r>
              <a:rPr b="1" i="0" lang="pt-BR" sz="2000" u="none" cap="none" strike="noStrike">
                <a:solidFill>
                  <a:srgbClr val="EF89D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ordenado).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9" name="Google Shape;279;p36"/>
          <p:cNvGraphicFramePr/>
          <p:nvPr/>
        </p:nvGraphicFramePr>
        <p:xfrm>
          <a:off x="9128467" y="10454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2644425"/>
              </a:tblGrid>
              <a:tr h="33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switch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(numero)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default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280" name="Google Shape;280;p36"/>
          <p:cNvSpPr txBox="1"/>
          <p:nvPr/>
        </p:nvSpPr>
        <p:spPr>
          <a:xfrm>
            <a:off x="722276" y="3182213"/>
            <a:ext cx="8069826" cy="32111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Cada condição é verificada e, se for cumprida, será executado o que estiver especificado dentro de cada </a:t>
            </a:r>
            <a:r>
              <a:rPr b="1" i="1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Normalmente, depois das instruções de cada </a:t>
            </a:r>
            <a:r>
              <a:rPr b="0" i="1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é incluída a sentença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break 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interromper a execução do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mesmo que  não seja obrigatório.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 que acontece se nenhum valor da variável do switch corresponde aos valores definidos em algum dos </a:t>
            </a:r>
            <a:r>
              <a:rPr b="1" i="1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b="0" i="1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?</a:t>
            </a:r>
            <a:r>
              <a:rPr b="0" i="1" lang="pt-BR" sz="2000" u="none" cap="none" strike="noStrike">
                <a:solidFill>
                  <a:schemeClr val="dk1"/>
                </a:solidFill>
                <a:highlight>
                  <a:srgbClr val="E0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Nesse caso, se utiliza o valor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default 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indicar as instruções que serão executadas quando nenhuma condição anterior for cumprida.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Sintaxe do Switch</a:t>
            </a:r>
            <a:endParaRPr/>
          </a:p>
        </p:txBody>
      </p:sp>
      <p:sp>
        <p:nvSpPr>
          <p:cNvPr id="286" name="Google Shape;286;p3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838200" y="1549243"/>
            <a:ext cx="3984523" cy="273302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Algoritmo que exibe a mensagem de acordo com o nome de entrada.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execução do bloco se encerra se a entrada for “sair”.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8" name="Google Shape;288;p37"/>
          <p:cNvGraphicFramePr/>
          <p:nvPr/>
        </p:nvGraphicFramePr>
        <p:xfrm>
          <a:off x="4988899" y="148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{C8FBE3F6-56F4-44CD-9321-2BD2FD843425}</a:tableStyleId>
              </a:tblPr>
              <a:tblGrid>
                <a:gridCol w="6308375"/>
              </a:tblGrid>
              <a:tr h="3555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entrada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um nome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//Repetimos até que "sair" seja inserido.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(entrada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!=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sair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switch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(entrada)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ANA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JOÃO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OLÁ, JOÃO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default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alert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QUEM É VOCÊ?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break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entrada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prompt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Inserir um nome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3350" marB="53350" marR="53350" marL="53350">
                    <a:lnL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047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8"/>
          <p:cNvGrpSpPr/>
          <p:nvPr/>
        </p:nvGrpSpPr>
        <p:grpSpPr>
          <a:xfrm>
            <a:off x="1052061" y="644082"/>
            <a:ext cx="535357" cy="535357"/>
            <a:chOff x="974706" y="2467173"/>
            <a:chExt cx="738900" cy="738900"/>
          </a:xfrm>
        </p:grpSpPr>
        <p:sp>
          <p:nvSpPr>
            <p:cNvPr id="294" name="Google Shape;294;p3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5" name="Google Shape;295;p3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6" name="Google Shape;296;p38"/>
          <p:cNvSpPr txBox="1"/>
          <p:nvPr/>
        </p:nvSpPr>
        <p:spPr>
          <a:xfrm>
            <a:off x="668600" y="1442334"/>
            <a:ext cx="66496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Praticar</a:t>
            </a:r>
            <a:endParaRPr b="1" i="0" sz="5333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753401" y="2284164"/>
            <a:ext cx="9452483" cy="429344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Descrição</a:t>
            </a:r>
            <a:endParaRPr b="1" i="0" sz="2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Utilizando o “switch” crie uma função que:</a:t>
            </a:r>
            <a:endParaRPr b="0" i="0" sz="2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Utilizando o “switch” crie uma função que:</a:t>
            </a:r>
            <a:endParaRPr b="0" i="0" sz="2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Recebe um número de 1 a 100</a:t>
            </a:r>
            <a:endParaRPr b="0" i="0" sz="2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Calcula em qual dezena ele está</a:t>
            </a:r>
            <a:endParaRPr b="0" i="0" sz="2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Exemplos</a:t>
            </a:r>
            <a:r>
              <a:rPr b="0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for enviado o número 33, o resultado será “família do 30”</a:t>
            </a:r>
            <a:endParaRPr b="0" i="0" sz="2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for enviado o número 11, o resultado será “família do 10”</a:t>
            </a:r>
            <a:endParaRPr b="0" i="0" sz="2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089" lvl="0" marL="609585" marR="0" rtl="0" algn="l">
              <a:lnSpc>
                <a:spcPct val="100000"/>
              </a:lnSpc>
              <a:spcBef>
                <a:spcPts val="1333"/>
              </a:spcBef>
              <a:spcAft>
                <a:spcPts val="1333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for enviado o número 80, o resultado será “família do 80”</a:t>
            </a:r>
            <a:endParaRPr b="0" i="0" sz="2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38"/>
          <p:cNvSpPr txBox="1"/>
          <p:nvPr/>
        </p:nvSpPr>
        <p:spPr>
          <a:xfrm>
            <a:off x="1624191" y="624367"/>
            <a:ext cx="3281600" cy="574412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133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ATIVIDADE EM SALA</a:t>
            </a:r>
            <a:endParaRPr b="0" i="0" sz="186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/>
        </p:nvSpPr>
        <p:spPr>
          <a:xfrm>
            <a:off x="631133" y="826034"/>
            <a:ext cx="10854800" cy="98478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333" u="none" cap="none" strike="noStrike">
                <a:solidFill>
                  <a:srgbClr val="EAFF6A"/>
                </a:solidFill>
                <a:latin typeface="Arial"/>
                <a:ea typeface="Arial"/>
                <a:cs typeface="Arial"/>
                <a:sym typeface="Arial"/>
              </a:rPr>
              <a:t>O mais importante!</a:t>
            </a:r>
            <a:endParaRPr b="1" i="0" sz="5333" u="none" cap="none" strike="noStrike">
              <a:solidFill>
                <a:srgbClr val="EAFF6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9"/>
          <p:cNvSpPr txBox="1"/>
          <p:nvPr/>
        </p:nvSpPr>
        <p:spPr>
          <a:xfrm>
            <a:off x="631132" y="2029133"/>
            <a:ext cx="11256067" cy="3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Todas os temas que vimos (e os que vamos ver), podem e devem ser combinados entre si. </a:t>
            </a:r>
            <a:endParaRPr b="0" i="0" sz="26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forma que, dentro de uma função, possa existir um </a:t>
            </a:r>
            <a:r>
              <a:rPr b="1" i="0" lang="pt-BR" sz="2667" u="none" cap="none" strike="noStrike">
                <a:solidFill>
                  <a:srgbClr val="EAFF6A"/>
                </a:solidFill>
                <a:latin typeface="Arial"/>
                <a:ea typeface="Arial"/>
                <a:cs typeface="Arial"/>
                <a:sym typeface="Arial"/>
              </a:rPr>
              <a:t>condicional </a:t>
            </a:r>
            <a:r>
              <a:rPr b="0" i="0" lang="pt-BR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contendo um </a:t>
            </a:r>
            <a:r>
              <a:rPr b="1" i="0" lang="pt-BR" sz="2667" u="none" cap="none" strike="noStrike">
                <a:solidFill>
                  <a:srgbClr val="EAFF6A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pt-BR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e dentro desse for, um </a:t>
            </a:r>
            <a:r>
              <a:rPr b="1" i="0" lang="pt-BR" sz="2667" u="none" cap="none" strike="noStrike">
                <a:solidFill>
                  <a:srgbClr val="EAFF6A"/>
                </a:solidFill>
                <a:latin typeface="Arial"/>
                <a:ea typeface="Arial"/>
                <a:cs typeface="Arial"/>
                <a:sym typeface="Arial"/>
              </a:rPr>
              <a:t>while.</a:t>
            </a:r>
            <a:r>
              <a:rPr b="0" i="0" lang="pt-BR" sz="2667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.. deixando a combinação infinita.</a:t>
            </a:r>
            <a:endParaRPr b="0" i="0" sz="26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67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 partir deste ponto é que a programação JavaScript começa a ficar interessante!</a:t>
            </a:r>
            <a:endParaRPr b="1" i="0" sz="2667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311" name="Google Shape;311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2" name="Google Shape;312;p5"/>
          <p:cNvSpPr txBox="1"/>
          <p:nvPr/>
        </p:nvSpPr>
        <p:spPr>
          <a:xfrm>
            <a:off x="730835" y="1820260"/>
            <a:ext cx="7646249" cy="26622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Escopos em JavaScript</a:t>
            </a:r>
            <a:r>
              <a:rPr b="0" i="0" lang="pt-BR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| Imasters</a:t>
            </a:r>
            <a:endParaRPr b="0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This em JavaScript</a:t>
            </a:r>
            <a:r>
              <a:rPr b="0" i="0" lang="pt-BR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|  Developer Mozilla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Laços em JavaScript</a:t>
            </a:r>
            <a:r>
              <a:rPr b="0" i="0" lang="pt-BR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| Freecodecamp</a:t>
            </a:r>
            <a:endParaRPr b="0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“For” em Javascript</a:t>
            </a:r>
            <a:r>
              <a:rPr b="0" i="0" lang="pt-BR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| DevMedia</a:t>
            </a:r>
            <a:endParaRPr b="0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Código em loop </a:t>
            </a:r>
            <a:r>
              <a:rPr b="0" i="0" lang="pt-BR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| Developer Mozilla</a:t>
            </a:r>
            <a:endParaRPr b="0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318" name="Google Shape;318;p6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2022-12-26T16:03:00Z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</Properties>
</file>