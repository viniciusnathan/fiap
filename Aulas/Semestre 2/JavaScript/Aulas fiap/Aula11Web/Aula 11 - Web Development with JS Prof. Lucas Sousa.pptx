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hILVlEA3NCnhdSEqB7BLDlXRHV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F898847-FBB7-4AEF-9D81-7EDCD1725EF2}">
  <a:tblStyle styleId="{1F898847-FBB7-4AEF-9D81-7EDCD1725EF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+ Black">
  <p:cSld name="Logo + Black">
    <p:bg>
      <p:bgPr>
        <a:solidFill>
          <a:srgbClr val="1A1C1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1700" y="292781"/>
            <a:ext cx="11588600" cy="6272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1366" y="2854782"/>
            <a:ext cx="4269268" cy="1148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abeçalho da Seção">
  <p:cSld name="1_Cabeçalho da Seção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3"/>
          <p:cNvSpPr txBox="1"/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3"/>
          <p:cNvSpPr txBox="1"/>
          <p:nvPr>
            <p:ph idx="1" type="body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  <a:defRPr b="0" sz="36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22" name="Google Shape;2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3"/>
          <p:cNvSpPr txBox="1"/>
          <p:nvPr>
            <p:ph idx="2" type="body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b="1"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" name="Google Shape;27;p33"/>
          <p:cNvSpPr txBox="1"/>
          <p:nvPr/>
        </p:nvSpPr>
        <p:spPr>
          <a:xfrm>
            <a:off x="219075" y="6088030"/>
            <a:ext cx="338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Fevereiro 202</a:t>
            </a:r>
            <a:r>
              <a:rPr lang="pt-BR" sz="2000">
                <a:solidFill>
                  <a:srgbClr val="595959"/>
                </a:solidFill>
              </a:rPr>
              <a:t>5</a:t>
            </a:r>
            <a:r>
              <a:rPr b="0" i="0" lang="pt-BR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/ versão 1</a:t>
            </a:r>
            <a:endParaRPr b="0" i="0" sz="2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ogo + Black">
  <p:cSld name="1_Logo + Black">
    <p:bg>
      <p:bgPr>
        <a:solidFill>
          <a:srgbClr val="1A1C1E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4"/>
          <p:cNvSpPr txBox="1"/>
          <p:nvPr>
            <p:ph type="title"/>
          </p:nvPr>
        </p:nvSpPr>
        <p:spPr>
          <a:xfrm>
            <a:off x="838198" y="3017044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800"/>
              <a:buFont typeface="Arial"/>
              <a:buNone/>
              <a:defRPr sz="48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0" name="Google Shape;30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7839" y="364886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3" name="Google Shape;3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9100" y="0"/>
            <a:ext cx="11353798" cy="16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35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5"/>
          <p:cNvSpPr txBox="1"/>
          <p:nvPr>
            <p:ph idx="1" type="body"/>
          </p:nvPr>
        </p:nvSpPr>
        <p:spPr>
          <a:xfrm>
            <a:off x="838200" y="1493521"/>
            <a:ext cx="10515600" cy="4976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8" name="Google Shape;38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7320" y="387750"/>
            <a:ext cx="121148" cy="988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3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>
  <p:cSld name="Cabeçalho da Seção">
    <p:bg>
      <p:bgPr>
        <a:solidFill>
          <a:schemeClr val="l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6"/>
          <p:cNvSpPr txBox="1"/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6" name="Google Shape;46;p36"/>
          <p:cNvSpPr txBox="1"/>
          <p:nvPr/>
        </p:nvSpPr>
        <p:spPr>
          <a:xfrm>
            <a:off x="838199" y="3357951"/>
            <a:ext cx="10699378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Todos direitos reservados. Reprodução ou divulgação total ou parcial deste documento é expressamente proibido sem o consentimento formal, por escrito, do Professor (autor).</a:t>
            </a:r>
            <a:endParaRPr b="1" i="0" sz="4800" u="none" cap="none" strike="noStrike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e Conteúdo">
  <p:cSld name="1_Título e Conteúdo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jsonformatter.curiousconcept.com/" TargetMode="External"/><Relationship Id="rId4" Type="http://schemas.openxmlformats.org/officeDocument/2006/relationships/hyperlink" Target="https://jsonformatter.curiousconcept.com/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developer.mozilla.org/pt-BR/docs/Web/API/Window/localStorage" TargetMode="External"/><Relationship Id="rId4" Type="http://schemas.openxmlformats.org/officeDocument/2006/relationships/hyperlink" Target="https://developer.mozilla.org/pt-BR/docs/Web/API/Window/sessionStorage" TargetMode="External"/><Relationship Id="rId5" Type="http://schemas.openxmlformats.org/officeDocument/2006/relationships/hyperlink" Target="https://mdn.github.io/dom-examples/web-storage/" TargetMode="External"/><Relationship Id="rId6" Type="http://schemas.openxmlformats.org/officeDocument/2006/relationships/hyperlink" Target="https://developer.mozilla.org/pt-BR/docs/Web/JavaScript/Reference/Global_Objects/JSON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>
            <p:ph idx="4294967295" type="sldNum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/>
              <a:t>Engenharia de Software</a:t>
            </a:r>
            <a:endParaRPr/>
          </a:p>
        </p:txBody>
      </p:sp>
      <p:sp>
        <p:nvSpPr>
          <p:cNvPr id="58" name="Google Shape;58;p2"/>
          <p:cNvSpPr txBox="1"/>
          <p:nvPr>
            <p:ph idx="1" type="body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</a:pPr>
            <a:r>
              <a:rPr lang="pt-BR"/>
              <a:t>Web Development with JS</a:t>
            </a:r>
            <a:endParaRPr/>
          </a:p>
        </p:txBody>
      </p:sp>
      <p:sp>
        <p:nvSpPr>
          <p:cNvPr id="59" name="Google Shape;59;p2"/>
          <p:cNvSpPr txBox="1"/>
          <p:nvPr>
            <p:ph idx="2" type="body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</a:pPr>
            <a:r>
              <a:rPr lang="pt-BR"/>
              <a:t>Prof. Lucas Sousa</a:t>
            </a:r>
            <a:endParaRPr/>
          </a:p>
        </p:txBody>
      </p:sp>
      <p:sp>
        <p:nvSpPr>
          <p:cNvPr id="60" name="Google Shape;60;p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>
            <p:ph type="title"/>
          </p:nvPr>
        </p:nvSpPr>
        <p:spPr>
          <a:xfrm>
            <a:off x="838200" y="1046480"/>
            <a:ext cx="10515600" cy="5362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400"/>
              <a:buFont typeface="Arial"/>
              <a:buNone/>
            </a:pPr>
            <a:r>
              <a:rPr lang="pt-BR" sz="4400"/>
              <a:t>Storage e Json</a:t>
            </a:r>
            <a:endParaRPr sz="4400"/>
          </a:p>
        </p:txBody>
      </p:sp>
      <p:sp>
        <p:nvSpPr>
          <p:cNvPr id="66" name="Google Shape;66;p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4"/>
          <p:cNvPicPr preferRelativeResize="0"/>
          <p:nvPr/>
        </p:nvPicPr>
        <p:blipFill rotWithShape="1">
          <a:blip r:embed="rId3">
            <a:alphaModFix/>
          </a:blip>
          <a:srcRect b="0" l="4561" r="0" t="0"/>
          <a:stretch/>
        </p:blipFill>
        <p:spPr>
          <a:xfrm>
            <a:off x="6650355" y="0"/>
            <a:ext cx="556133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4"/>
          <p:cNvSpPr txBox="1"/>
          <p:nvPr>
            <p:ph type="title"/>
          </p:nvPr>
        </p:nvSpPr>
        <p:spPr>
          <a:xfrm>
            <a:off x="839470" y="476885"/>
            <a:ext cx="5737860" cy="13379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Storage ou armazenamento</a:t>
            </a:r>
            <a:endParaRPr/>
          </a:p>
        </p:txBody>
      </p:sp>
      <p:sp>
        <p:nvSpPr>
          <p:cNvPr id="73" name="Google Shape;73;p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4" name="Google Shape;74;p4"/>
          <p:cNvSpPr txBox="1"/>
          <p:nvPr/>
        </p:nvSpPr>
        <p:spPr>
          <a:xfrm>
            <a:off x="786130" y="1844675"/>
            <a:ext cx="5838190" cy="413131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O objeto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Storage 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(API de armazenamento web) permite 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armazenar dados de forma local no navegador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sem a necessidade de realizar nenhuma conexão com um servidor.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Dessa forma, cada cliente (client-side) pode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preservar informações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da aplicação.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O navegador nos oferece dois tipos de storage: 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rgbClr val="E0FF00"/>
                </a:highlight>
                <a:latin typeface="Arial"/>
                <a:ea typeface="Arial"/>
                <a:cs typeface="Arial"/>
                <a:sym typeface="Arial"/>
              </a:rPr>
              <a:t>l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ocalStorage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sessionStorage.</a:t>
            </a:r>
            <a:endParaRPr b="0" i="0" sz="24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>
            <p:ph type="title"/>
          </p:nvPr>
        </p:nvSpPr>
        <p:spPr>
          <a:xfrm>
            <a:off x="839470" y="476885"/>
            <a:ext cx="5737860" cy="823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Storage</a:t>
            </a:r>
            <a:endParaRPr/>
          </a:p>
        </p:txBody>
      </p:sp>
      <p:sp>
        <p:nvSpPr>
          <p:cNvPr id="80" name="Google Shape;80;p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1" name="Google Shape;81;p5"/>
          <p:cNvSpPr txBox="1"/>
          <p:nvPr/>
        </p:nvSpPr>
        <p:spPr>
          <a:xfrm>
            <a:off x="1128395" y="1269365"/>
            <a:ext cx="9657080" cy="12071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Podemos ver o Storage no navegador através da aba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Application ou Aplicativo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" name="Google Shape;82;p5"/>
          <p:cNvGrpSpPr/>
          <p:nvPr/>
        </p:nvGrpSpPr>
        <p:grpSpPr>
          <a:xfrm>
            <a:off x="1487805" y="2564765"/>
            <a:ext cx="9414510" cy="4193540"/>
            <a:chOff x="2022883" y="2077252"/>
            <a:chExt cx="5098223" cy="2377646"/>
          </a:xfrm>
        </p:grpSpPr>
        <p:pic>
          <p:nvPicPr>
            <p:cNvPr id="83" name="Google Shape;83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22884" y="2077252"/>
              <a:ext cx="5098222" cy="23776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5"/>
            <p:cNvSpPr/>
            <p:nvPr/>
          </p:nvSpPr>
          <p:spPr>
            <a:xfrm>
              <a:off x="4696691" y="2077252"/>
              <a:ext cx="665100" cy="229500"/>
            </a:xfrm>
            <a:prstGeom prst="rect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2022883" y="3213324"/>
              <a:ext cx="1648500" cy="936000"/>
            </a:xfrm>
            <a:prstGeom prst="rect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 txBox="1"/>
          <p:nvPr>
            <p:ph type="title"/>
          </p:nvPr>
        </p:nvSpPr>
        <p:spPr>
          <a:xfrm>
            <a:off x="839470" y="476885"/>
            <a:ext cx="5737860" cy="823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Chave - valor</a:t>
            </a:r>
            <a:endParaRPr/>
          </a:p>
        </p:txBody>
      </p:sp>
      <p:sp>
        <p:nvSpPr>
          <p:cNvPr id="91" name="Google Shape;91;p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2" name="Google Shape;92;p6"/>
          <p:cNvSpPr txBox="1"/>
          <p:nvPr/>
        </p:nvSpPr>
        <p:spPr>
          <a:xfrm>
            <a:off x="839470" y="1772920"/>
            <a:ext cx="7465060" cy="37045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 informação armazenada no Storage é armazenada na forma de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chave-valor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Similar ao tratamento de objetos, 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definimos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chaves 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no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storage, nas quais armazenamos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valores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4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 txBox="1"/>
          <p:nvPr>
            <p:ph type="title"/>
          </p:nvPr>
        </p:nvSpPr>
        <p:spPr>
          <a:xfrm>
            <a:off x="839470" y="476885"/>
            <a:ext cx="5737860" cy="823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localStorage</a:t>
            </a:r>
            <a:endParaRPr/>
          </a:p>
        </p:txBody>
      </p:sp>
      <p:sp>
        <p:nvSpPr>
          <p:cNvPr id="98" name="Google Shape;98;p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9" name="Google Shape;99;p7"/>
          <p:cNvSpPr txBox="1"/>
          <p:nvPr/>
        </p:nvSpPr>
        <p:spPr>
          <a:xfrm>
            <a:off x="839470" y="1698625"/>
            <a:ext cx="8550275" cy="3114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dados armazenados em localStorage (variável global preexistente)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são armazenados no navegador indefinidamente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(ou até que se exclua os dados de navegação do browser):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A informação persiste após reiniciar o navegador ou até mesmo o sistema operacional.</a:t>
            </a:r>
            <a:endParaRPr b="1" i="0" sz="24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"/>
          <p:cNvSpPr txBox="1"/>
          <p:nvPr>
            <p:ph type="title"/>
          </p:nvPr>
        </p:nvSpPr>
        <p:spPr>
          <a:xfrm>
            <a:off x="839470" y="476885"/>
            <a:ext cx="6224905" cy="823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localStorage: setitem</a:t>
            </a:r>
            <a:endParaRPr/>
          </a:p>
        </p:txBody>
      </p:sp>
      <p:sp>
        <p:nvSpPr>
          <p:cNvPr id="105" name="Google Shape;105;p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6" name="Google Shape;106;p8"/>
          <p:cNvSpPr txBox="1"/>
          <p:nvPr/>
        </p:nvSpPr>
        <p:spPr>
          <a:xfrm>
            <a:off x="1056005" y="1557020"/>
            <a:ext cx="7752080" cy="8343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Para armazenar uma informação, é utilizado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 setItem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7" name="Google Shape;107;p8"/>
          <p:cNvGraphicFramePr/>
          <p:nvPr/>
        </p:nvGraphicFramePr>
        <p:xfrm>
          <a:off x="1127125" y="2636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{1F898847-FBB7-4AEF-9D81-7EDCD1725EF2}</a:tableStyleId>
              </a:tblPr>
              <a:tblGrid>
                <a:gridCol w="7277100"/>
              </a:tblGrid>
              <a:tr h="1063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setItem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b="0"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boas-vindas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b="0"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Olá, Dev!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setItem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b="0"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valido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setItem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b="0"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/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"/>
          <p:cNvSpPr txBox="1"/>
          <p:nvPr>
            <p:ph type="title"/>
          </p:nvPr>
        </p:nvSpPr>
        <p:spPr>
          <a:xfrm>
            <a:off x="839470" y="476885"/>
            <a:ext cx="6224905" cy="823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localStorage: getitem</a:t>
            </a:r>
            <a:endParaRPr/>
          </a:p>
        </p:txBody>
      </p:sp>
      <p:sp>
        <p:nvSpPr>
          <p:cNvPr id="113" name="Google Shape;113;p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4" name="Google Shape;114;p9"/>
          <p:cNvSpPr txBox="1"/>
          <p:nvPr/>
        </p:nvSpPr>
        <p:spPr>
          <a:xfrm>
            <a:off x="839470" y="1484630"/>
            <a:ext cx="10057130" cy="155511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Podemos acessar a informação armazenada em localStorage utilizando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getItem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. As 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chaves e valores de Storage são armazenadas em formato de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cadeia de caracteres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(string)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5" name="Google Shape;115;p9"/>
          <p:cNvGraphicFramePr/>
          <p:nvPr/>
        </p:nvGraphicFramePr>
        <p:xfrm>
          <a:off x="911225" y="32238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{1F898847-FBB7-4AEF-9D81-7EDCD1725EF2}</a:tableStyleId>
              </a:tblPr>
              <a:tblGrid>
                <a:gridCol w="9119225"/>
              </a:tblGrid>
              <a:tr h="675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mensagem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getItem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boas-vindas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tipo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getItem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getItem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(mensagem);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'Olá, Dev!'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(tipo);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'true'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(numero);  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'20'</a:t>
                      </a:r>
                      <a:endParaRPr sz="2000" u="none" cap="none" strike="noStrike">
                        <a:solidFill>
                          <a:srgbClr val="BD93F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 txBox="1"/>
          <p:nvPr>
            <p:ph type="title"/>
          </p:nvPr>
        </p:nvSpPr>
        <p:spPr>
          <a:xfrm>
            <a:off x="839470" y="476885"/>
            <a:ext cx="6224905" cy="823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sessionStorage</a:t>
            </a:r>
            <a:endParaRPr/>
          </a:p>
        </p:txBody>
      </p:sp>
      <p:sp>
        <p:nvSpPr>
          <p:cNvPr id="121" name="Google Shape;121;p1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2" name="Google Shape;122;p10"/>
          <p:cNvSpPr txBox="1"/>
          <p:nvPr/>
        </p:nvSpPr>
        <p:spPr>
          <a:xfrm>
            <a:off x="721995" y="1698625"/>
            <a:ext cx="9950450" cy="29806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informação armazenada em sessionStorage (variável global preexistente)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armazenada no navegador até que o usuário feche a aba. 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Só existe dentro da aba atual do navegador. Outra aba com a mesma página terá outro sessionStorage, mas é compartilhado entre iframes na aba (assumindo que tenham a mesma origem).</a:t>
            </a:r>
            <a:endParaRPr b="1" i="0" sz="24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"/>
          <p:cNvSpPr txBox="1"/>
          <p:nvPr>
            <p:ph type="title"/>
          </p:nvPr>
        </p:nvSpPr>
        <p:spPr>
          <a:xfrm>
            <a:off x="839470" y="476885"/>
            <a:ext cx="6882130" cy="823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sessionStorage: setitem</a:t>
            </a:r>
            <a:endParaRPr/>
          </a:p>
        </p:txBody>
      </p:sp>
      <p:sp>
        <p:nvSpPr>
          <p:cNvPr id="128" name="Google Shape;128;p11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9" name="Google Shape;129;p11"/>
          <p:cNvSpPr txBox="1"/>
          <p:nvPr/>
        </p:nvSpPr>
        <p:spPr>
          <a:xfrm>
            <a:off x="893445" y="1557020"/>
            <a:ext cx="7069455" cy="55753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O tratamento é similar ao localStorage: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0" name="Google Shape;130;p11"/>
          <p:cNvGraphicFramePr/>
          <p:nvPr/>
        </p:nvGraphicFramePr>
        <p:xfrm>
          <a:off x="983615" y="24930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{1F898847-FBB7-4AEF-9D81-7EDCD1725EF2}</a:tableStyleId>
              </a:tblPr>
              <a:tblGrid>
                <a:gridCol w="7487275"/>
              </a:tblGrid>
              <a:tr h="1224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sessionStorage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setItem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selecionados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[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sessionStorage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setItem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false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sessionStorage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setItem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email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info@email.com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rgbClr val="BD93F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"/>
          <p:cNvSpPr txBox="1"/>
          <p:nvPr>
            <p:ph type="title"/>
          </p:nvPr>
        </p:nvSpPr>
        <p:spPr>
          <a:xfrm>
            <a:off x="839470" y="476885"/>
            <a:ext cx="6882130" cy="823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sessionStorage: getitem</a:t>
            </a:r>
            <a:endParaRPr/>
          </a:p>
        </p:txBody>
      </p:sp>
      <p:sp>
        <p:nvSpPr>
          <p:cNvPr id="136" name="Google Shape;136;p1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7" name="Google Shape;137;p12"/>
          <p:cNvSpPr txBox="1"/>
          <p:nvPr/>
        </p:nvSpPr>
        <p:spPr>
          <a:xfrm>
            <a:off x="983615" y="1340485"/>
            <a:ext cx="9342755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Podemos acessar a informação armazenada em sessionStorage utilizando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getItem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. As 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chaves e valores de Storage são armazenadas em formato de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cadeia de caracteres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(string)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8" name="Google Shape;138;p12"/>
          <p:cNvGraphicFramePr/>
          <p:nvPr/>
        </p:nvGraphicFramePr>
        <p:xfrm>
          <a:off x="1055370" y="29965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{1F898847-FBB7-4AEF-9D81-7EDCD1725EF2}</a:tableStyleId>
              </a:tblPr>
              <a:tblGrid>
                <a:gridCol w="8828400"/>
              </a:tblGrid>
              <a:tr h="2305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lista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sessionStorage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getItem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selecionados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split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tipo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sessionStorage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getItem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email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sessionStorage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getItem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email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(lista);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["1","2","3"];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(tipo);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//false;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(email);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//info@email.com;</a:t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"/>
          <p:cNvSpPr txBox="1"/>
          <p:nvPr>
            <p:ph type="title"/>
          </p:nvPr>
        </p:nvSpPr>
        <p:spPr>
          <a:xfrm>
            <a:off x="839470" y="476885"/>
            <a:ext cx="6882130" cy="823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Percorrendo o Storage</a:t>
            </a:r>
            <a:endParaRPr/>
          </a:p>
        </p:txBody>
      </p:sp>
      <p:sp>
        <p:nvSpPr>
          <p:cNvPr id="144" name="Google Shape;144;p1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5" name="Google Shape;145;p13"/>
          <p:cNvSpPr txBox="1"/>
          <p:nvPr/>
        </p:nvSpPr>
        <p:spPr>
          <a:xfrm>
            <a:off x="839470" y="1557020"/>
            <a:ext cx="8956040" cy="23869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É possível obter todos os valores armazenados em 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localStorage ou 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sessionStorage com um loop.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Mas não podemos usar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for...of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, porque não são objetos iteráveis, nem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for...in,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 porque obtemos outras propriedades do objeto que não são valores armazenados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"/>
          <p:cNvSpPr txBox="1"/>
          <p:nvPr>
            <p:ph type="title"/>
          </p:nvPr>
        </p:nvSpPr>
        <p:spPr>
          <a:xfrm>
            <a:off x="839470" y="476885"/>
            <a:ext cx="6882130" cy="823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Percorrendo o Storage</a:t>
            </a:r>
            <a:endParaRPr/>
          </a:p>
        </p:txBody>
      </p:sp>
      <p:sp>
        <p:nvSpPr>
          <p:cNvPr id="151" name="Google Shape;151;p1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2" name="Google Shape;152;p14"/>
          <p:cNvSpPr txBox="1"/>
          <p:nvPr/>
        </p:nvSpPr>
        <p:spPr>
          <a:xfrm>
            <a:off x="1056005" y="1628775"/>
            <a:ext cx="6865620" cy="7105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loop a ser usado é o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o método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key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rgbClr val="E0FF00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2400" u="none" cap="none" strike="noStrike">
              <a:solidFill>
                <a:schemeClr val="dk1"/>
              </a:solidFill>
              <a:highlight>
                <a:srgbClr val="E0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rgbClr val="E0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3" name="Google Shape;153;p14"/>
          <p:cNvGraphicFramePr/>
          <p:nvPr/>
        </p:nvGraphicFramePr>
        <p:xfrm>
          <a:off x="911225" y="24326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{1F898847-FBB7-4AEF-9D81-7EDCD1725EF2}</a:tableStyleId>
              </a:tblPr>
              <a:tblGrid>
                <a:gridCol w="9673600"/>
              </a:tblGrid>
              <a:tr h="1992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//Loop para percorrer as chaves armazenadas no objeto localStorage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i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length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i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++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chave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key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(i);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Chave: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chave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  Valor: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getItem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(chave));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//O método key() é utilizado para recuperar o nome da chave de um item específico armazenado no localStorage de um navegador</a:t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>
            <p:ph type="title"/>
          </p:nvPr>
        </p:nvSpPr>
        <p:spPr>
          <a:xfrm>
            <a:off x="839470" y="476885"/>
            <a:ext cx="7418705" cy="823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Eliminar dados do Storage</a:t>
            </a:r>
            <a:endParaRPr/>
          </a:p>
        </p:txBody>
      </p:sp>
      <p:sp>
        <p:nvSpPr>
          <p:cNvPr id="159" name="Google Shape;159;p1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911860" y="1557020"/>
            <a:ext cx="9646285" cy="1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Podemos eliminar a informação armazenada em sessionStorage ou localStorage usando o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método removeItem ou clear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24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1" name="Google Shape;161;p15"/>
          <p:cNvGraphicFramePr/>
          <p:nvPr/>
        </p:nvGraphicFramePr>
        <p:xfrm>
          <a:off x="1127125" y="29965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{1F898847-FBB7-4AEF-9D81-7EDCD1725EF2}</a:tableStyleId>
              </a:tblPr>
              <a:tblGrid>
                <a:gridCol w="7307575"/>
              </a:tblGrid>
              <a:tr h="2870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setItem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boas-vindas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Olá, Dev!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sessionStorage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setItem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removeItem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boas-vindas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sessionStorage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removeItem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clear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  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//elimina toda a informação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sessionStorage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clear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//elimina toda a informação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6272A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167" name="Google Shape;167;p16"/>
          <p:cNvGrpSpPr/>
          <p:nvPr/>
        </p:nvGrpSpPr>
        <p:grpSpPr>
          <a:xfrm>
            <a:off x="1030407" y="613236"/>
            <a:ext cx="401518" cy="401518"/>
            <a:chOff x="974706" y="2467173"/>
            <a:chExt cx="738900" cy="738900"/>
          </a:xfrm>
        </p:grpSpPr>
        <p:sp>
          <p:nvSpPr>
            <p:cNvPr id="168" name="Google Shape;168;p16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9" name="Google Shape;169;p16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0" name="Google Shape;170;p16"/>
          <p:cNvSpPr txBox="1"/>
          <p:nvPr/>
        </p:nvSpPr>
        <p:spPr>
          <a:xfrm>
            <a:off x="983415" y="1196685"/>
            <a:ext cx="4987200" cy="8458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pt-BR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praticar</a:t>
            </a:r>
            <a:endParaRPr b="1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911225" y="2204720"/>
            <a:ext cx="9172575" cy="38842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Construa uma lista de compras: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Adicione um campo para o usuário inserir um item e um botão para “Salvar”.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o usuário clicar no botão “Salvar”, armazene o item no localStorage;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Insira um botão “Visualizar” para exibir na tela todos os itens da lista de compras que estão armazenados no localStorage;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Insira também um botão “Limpar” para apagar todos os itens armazenados no localStorage.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1559560" y="525780"/>
            <a:ext cx="3067050" cy="4889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ATIVIDADE EM SALA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"/>
          <p:cNvSpPr txBox="1"/>
          <p:nvPr>
            <p:ph type="title"/>
          </p:nvPr>
        </p:nvSpPr>
        <p:spPr>
          <a:xfrm>
            <a:off x="839470" y="476885"/>
            <a:ext cx="9860915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11111"/>
              <a:buFont typeface="Arial"/>
              <a:buNone/>
            </a:pPr>
            <a:r>
              <a:rPr lang="pt-BR"/>
              <a:t>JSON - Armazenar objetos em Storage</a:t>
            </a:r>
            <a:endParaRPr/>
          </a:p>
        </p:txBody>
      </p:sp>
      <p:sp>
        <p:nvSpPr>
          <p:cNvPr id="178" name="Google Shape;178;p1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911860" y="1700530"/>
            <a:ext cx="8782685" cy="33826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Se quisermos armazenar a informação de um objeto em storage, é preciso considerar que 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tanto a chave quanto o valor são armazenados em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strings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Qualquer outro tipo a ser armazenado, como um número ou um objeto, é convertido em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cadeia de texto automaticamente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2400" u="none" cap="none" strike="noStrike">
              <a:solidFill>
                <a:schemeClr val="dk1"/>
              </a:solidFill>
              <a:highlight>
                <a:srgbClr val="E0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rgbClr val="E0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"/>
          <p:cNvSpPr txBox="1"/>
          <p:nvPr>
            <p:ph type="title"/>
          </p:nvPr>
        </p:nvSpPr>
        <p:spPr>
          <a:xfrm>
            <a:off x="839470" y="476885"/>
            <a:ext cx="9976485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11111"/>
              <a:buFont typeface="Arial"/>
              <a:buNone/>
            </a:pPr>
            <a:r>
              <a:rPr lang="pt-BR"/>
              <a:t>JSON - Armazenar objetos em Storage</a:t>
            </a:r>
            <a:endParaRPr/>
          </a:p>
        </p:txBody>
      </p:sp>
      <p:sp>
        <p:nvSpPr>
          <p:cNvPr id="185" name="Google Shape;185;p1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911860" y="1484630"/>
            <a:ext cx="10421620" cy="19665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Então, ao tentar armazenar um objeto sem uma transformação prévia, 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armazenamos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[object Object]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 conversão por default de objeto para string. Para armazenar a informação corretamente, 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é preciso transformar o objeto em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JSON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400" u="none" cap="none" strike="noStrike">
              <a:solidFill>
                <a:schemeClr val="dk1"/>
              </a:solidFill>
              <a:highlight>
                <a:srgbClr val="E0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7" name="Google Shape;187;p18"/>
          <p:cNvGraphicFramePr/>
          <p:nvPr/>
        </p:nvGraphicFramePr>
        <p:xfrm>
          <a:off x="1415415" y="386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{1F898847-FBB7-4AEF-9D81-7EDCD1725EF2}</a:tableStyleId>
              </a:tblPr>
              <a:tblGrid>
                <a:gridCol w="7108825"/>
              </a:tblGrid>
              <a:tr h="134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id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produto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Arroz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setItem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produto1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É armazenado [object Object]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BD93F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 txBox="1"/>
          <p:nvPr>
            <p:ph type="title"/>
          </p:nvPr>
        </p:nvSpPr>
        <p:spPr>
          <a:xfrm>
            <a:off x="839470" y="476885"/>
            <a:ext cx="9369425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O que é JSON?</a:t>
            </a:r>
            <a:endParaRPr/>
          </a:p>
        </p:txBody>
      </p:sp>
      <p:sp>
        <p:nvSpPr>
          <p:cNvPr id="193" name="Google Shape;193;p1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840105" y="1704340"/>
            <a:ext cx="10175875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i="0" lang="pt-BR" sz="2400" u="none" cap="none" strike="noStrike">
                <a:solidFill>
                  <a:srgbClr val="3F3F3F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JavaScript Object Notation (JSON)</a:t>
            </a:r>
            <a:r>
              <a:rPr b="0" i="0" lang="pt-B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é um formato </a:t>
            </a:r>
            <a:r>
              <a:rPr b="1" i="0" lang="pt-B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baseado em texto simples</a:t>
            </a:r>
            <a:r>
              <a:rPr b="0" i="0" lang="pt-B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, para representar dados estruturados com a sintaxe de objetos de JavaScript. É comumente utilizado para enviar e armazenar dados em aplicações web.</a:t>
            </a:r>
            <a:endParaRPr b="0" i="0" sz="2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Mesmo que seja muito parecido (quase similar) à sintaxe do JavaScript, pode ser utilizado independentemente do JavaScript, e muitas áreas da programação possuem a capacidade de ler (converter; parsear) e gerar JSON.</a:t>
            </a:r>
            <a:endParaRPr b="0" i="0" sz="2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JSON é uma string com um formato específico.</a:t>
            </a:r>
            <a:endParaRPr b="0" i="0" sz="2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 txBox="1"/>
          <p:nvPr>
            <p:ph type="title"/>
          </p:nvPr>
        </p:nvSpPr>
        <p:spPr>
          <a:xfrm>
            <a:off x="839470" y="476885"/>
            <a:ext cx="9369425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Conversões JSON</a:t>
            </a:r>
            <a:endParaRPr/>
          </a:p>
        </p:txBody>
      </p:sp>
      <p:sp>
        <p:nvSpPr>
          <p:cNvPr id="200" name="Google Shape;200;p2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839470" y="1700530"/>
            <a:ext cx="9733280" cy="40366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Quando for necessário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enviar um objeto Javascript ao servidor ou armazená-lo em storage,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será necessário convertê-lo ao formato JSON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(strings) antes de ser enviado.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Para isso, usamos os seguintes métodos: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stringify: 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aceita um objeto JavaScript como parâmetro e retorna a forma de texto JSON equivalente.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parse: 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recebe um texto JSON como parâmetro e retorna o objeto JavaScript correspondente.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"/>
          <p:cNvSpPr txBox="1"/>
          <p:nvPr>
            <p:ph type="title"/>
          </p:nvPr>
        </p:nvSpPr>
        <p:spPr>
          <a:xfrm>
            <a:off x="839470" y="476885"/>
            <a:ext cx="9369425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Stringify</a:t>
            </a:r>
            <a:endParaRPr/>
          </a:p>
        </p:txBody>
      </p:sp>
      <p:sp>
        <p:nvSpPr>
          <p:cNvPr id="207" name="Google Shape;207;p21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911860" y="1340485"/>
            <a:ext cx="10039350" cy="10744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Com</a:t>
            </a:r>
            <a:r>
              <a:rPr b="1" i="0" lang="pt-BR" sz="2400" u="none" cap="none" strike="noStrike">
                <a:solidFill>
                  <a:srgbClr val="3CEFAB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JSON.stringify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podemos transformar um objeto JavaScript em uma string em formato JSON. 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9" name="Google Shape;209;p21"/>
          <p:cNvGraphicFramePr/>
          <p:nvPr/>
        </p:nvGraphicFramePr>
        <p:xfrm>
          <a:off x="1635125" y="35013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{1F898847-FBB7-4AEF-9D81-7EDCD1725EF2}</a:tableStyleId>
              </a:tblPr>
              <a:tblGrid>
                <a:gridCol w="8403600"/>
              </a:tblGrid>
              <a:tr h="317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id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produto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Arroz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emJSON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JSON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stringify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emJSON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{"id":2,"produto":"Arroz"}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typeof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object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typeof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emJSON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  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string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setItem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produto1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emJSON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É armazenado {"id":2,"produto":"Arroz"}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pic>
        <p:nvPicPr>
          <p:cNvPr id="210" name="Google Shape;21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3615" y="2420620"/>
            <a:ext cx="4241800" cy="9251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"/>
          <p:cNvSpPr txBox="1"/>
          <p:nvPr>
            <p:ph type="title"/>
          </p:nvPr>
        </p:nvSpPr>
        <p:spPr>
          <a:xfrm>
            <a:off x="839470" y="476885"/>
            <a:ext cx="9369425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Parse</a:t>
            </a:r>
            <a:endParaRPr/>
          </a:p>
        </p:txBody>
      </p:sp>
      <p:sp>
        <p:nvSpPr>
          <p:cNvPr id="216" name="Google Shape;216;p2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911860" y="1484630"/>
            <a:ext cx="9232265" cy="110617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Com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JSON.parse</a:t>
            </a:r>
            <a:r>
              <a:rPr b="0" i="0" lang="pt-BR" sz="2400" u="none" cap="none" strike="noStrike">
                <a:solidFill>
                  <a:srgbClr val="3CEFAB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podemos transformar uma string em formato JSON em um objeto JavaScript. 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8" name="Google Shape;218;p22"/>
          <p:cNvGraphicFramePr/>
          <p:nvPr/>
        </p:nvGraphicFramePr>
        <p:xfrm>
          <a:off x="1055370" y="2784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{1F898847-FBB7-4AEF-9D81-7EDCD1725EF2}</a:tableStyleId>
              </a:tblPr>
              <a:tblGrid>
                <a:gridCol w="9307200"/>
              </a:tblGrid>
              <a:tr h="317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emJSON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{"id":2,"produto":"Arroz"}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JSON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parse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emJSON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typeof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emJSON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    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string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typeof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  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object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.produto);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Arroz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produto2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JSON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parse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getItem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produto1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produto2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  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2  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"/>
          <p:cNvSpPr txBox="1"/>
          <p:nvPr>
            <p:ph type="title"/>
          </p:nvPr>
        </p:nvSpPr>
        <p:spPr>
          <a:xfrm>
            <a:off x="839470" y="476885"/>
            <a:ext cx="9369425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Armazenar Array de objetos</a:t>
            </a:r>
            <a:endParaRPr/>
          </a:p>
        </p:txBody>
      </p:sp>
      <p:sp>
        <p:nvSpPr>
          <p:cNvPr id="224" name="Google Shape;224;p2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aphicFrame>
        <p:nvGraphicFramePr>
          <p:cNvPr id="225" name="Google Shape;225;p23"/>
          <p:cNvGraphicFramePr/>
          <p:nvPr/>
        </p:nvGraphicFramePr>
        <p:xfrm>
          <a:off x="313055" y="15805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{1F898847-FBB7-4AEF-9D81-7EDCD1725EF2}</a:tableStyleId>
              </a:tblPr>
              <a:tblGrid>
                <a:gridCol w="10986775"/>
              </a:tblGrid>
              <a:tr h="4489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produtos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id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produto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Arroz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125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id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produto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Macarrão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70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id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produto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Pão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id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produto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Pudim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];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b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armazenarLocal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b="0"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chave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b="0"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valor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setItem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chave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b="0"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valor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)};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//Armazenar produto por produto</a:t>
                      </a:r>
                      <a:endParaRPr b="0"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produtos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armazenarLocal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.id, </a:t>
                      </a: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JSON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stringify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));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ou armazenar array completo</a:t>
                      </a:r>
                      <a:endParaRPr b="0"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armazenarLocal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listaProdutos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JSON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stringify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produtos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));</a:t>
                      </a:r>
                      <a:endParaRPr b="0"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"/>
          <p:cNvSpPr txBox="1"/>
          <p:nvPr>
            <p:ph type="title"/>
          </p:nvPr>
        </p:nvSpPr>
        <p:spPr>
          <a:xfrm>
            <a:off x="839470" y="476885"/>
            <a:ext cx="9369425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Obter Array armazenado</a:t>
            </a:r>
            <a:endParaRPr/>
          </a:p>
        </p:txBody>
      </p:sp>
      <p:sp>
        <p:nvSpPr>
          <p:cNvPr id="231" name="Google Shape;231;p2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aphicFrame>
        <p:nvGraphicFramePr>
          <p:cNvPr id="232" name="Google Shape;232;p24"/>
          <p:cNvGraphicFramePr/>
          <p:nvPr/>
        </p:nvGraphicFramePr>
        <p:xfrm>
          <a:off x="334645" y="1412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{1F898847-FBB7-4AEF-9D81-7EDCD1725EF2}</a:tableStyleId>
              </a:tblPr>
              <a:tblGrid>
                <a:gridCol w="10969625"/>
              </a:tblGrid>
              <a:tr h="530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pt-BR" sz="17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7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</a:t>
                      </a:r>
                      <a:r>
                        <a:rPr b="0" lang="pt-BR" sz="17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//A classe serve como um molde para criar objetos que representam produtos.</a:t>
                      </a:r>
                      <a:endParaRPr b="0" sz="17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lang="pt-BR" sz="17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constructor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i="1" lang="pt-BR" sz="17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obj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17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b="0" i="1" lang="pt-BR" sz="17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.nome </a:t>
                      </a:r>
                      <a:r>
                        <a:rPr b="0" lang="pt-BR" sz="17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i="1" lang="pt-BR" sz="17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obj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.produto.</a:t>
                      </a:r>
                      <a:r>
                        <a:rPr b="0" lang="pt-BR" sz="17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toUpperCase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(); </a:t>
                      </a:r>
                      <a:r>
                        <a:rPr b="0" lang="pt-BR" sz="17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//Transforma em maiúsculas</a:t>
                      </a:r>
                      <a:endParaRPr b="0" sz="17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b="0" i="1" lang="pt-BR" sz="17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.preco </a:t>
                      </a:r>
                      <a:r>
                        <a:rPr b="0" lang="pt-BR" sz="17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7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parseFloat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i="1" lang="pt-BR" sz="17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obj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.preco); </a:t>
                      </a:r>
                      <a:r>
                        <a:rPr b="0" lang="pt-BR" sz="17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//Converte o preço para nº de ponto flutuante</a:t>
                      </a:r>
                      <a:endParaRPr b="0" sz="17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</a:t>
                      </a:r>
                      <a:endParaRPr sz="17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lang="pt-BR" sz="17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somaICMS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 {</a:t>
                      </a:r>
                      <a:endParaRPr sz="17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b="0" i="1" lang="pt-BR" sz="17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.preco </a:t>
                      </a:r>
                      <a:r>
                        <a:rPr b="0" lang="pt-BR" sz="17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i="1" lang="pt-BR" sz="17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.preco </a:t>
                      </a:r>
                      <a:r>
                        <a:rPr b="0" lang="pt-BR" sz="17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7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1.21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</a:t>
                      </a:r>
                      <a:r>
                        <a:rPr b="0" lang="pt-BR" sz="17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//Calcula o preço com ICMS (21%)</a:t>
                      </a:r>
                      <a:endParaRPr b="0" sz="17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</a:t>
                      </a:r>
                      <a:endParaRPr sz="17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7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pt-BR" sz="17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//Obtemos a lista de produtos armazenados</a:t>
                      </a:r>
                      <a:endParaRPr b="0" sz="17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pt-BR" sz="17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7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armazenados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7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7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JSON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17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parse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17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17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getItem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17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7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listaProdutos</a:t>
                      </a:r>
                      <a:r>
                        <a:rPr b="0" lang="pt-BR" sz="17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));</a:t>
                      </a:r>
                      <a:endParaRPr sz="17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pt-BR" sz="17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7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produtos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7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[];</a:t>
                      </a:r>
                      <a:endParaRPr sz="17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pt-BR" sz="17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//Iteramos os armazenados com for...of para transformar todos seus objetos no tipo produto.</a:t>
                      </a:r>
                      <a:endParaRPr b="0" sz="17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pt-BR" sz="17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b="0" lang="pt-BR" sz="17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7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objeto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7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7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armazenados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7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lang="pt-BR" sz="17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produtos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17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push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1" lang="pt-BR" sz="17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new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7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17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objeto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));</a:t>
                      </a:r>
                      <a:endParaRPr sz="17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pt-BR" sz="17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//Agora temos o objeto produtos e podemos usar seus métodos</a:t>
                      </a:r>
                      <a:endParaRPr b="0" sz="17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pt-BR" sz="17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b="0" lang="pt-BR" sz="17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7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7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7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produtos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7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lang="pt-BR" sz="17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17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somaICMS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();</a:t>
                      </a:r>
                      <a:endParaRPr b="0" sz="17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pt-BR" sz="17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//Armazenamos os produtos atualizados no localStorage</a:t>
                      </a:r>
                      <a:endParaRPr b="0" sz="1700" u="none" cap="none" strike="noStrike">
                        <a:solidFill>
                          <a:srgbClr val="6272A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pt-BR" sz="17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17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setItem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17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"listaProdutos"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b="0" lang="pt-BR" sz="17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JSON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17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stringify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17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produtos</a:t>
                      </a:r>
                      <a:r>
                        <a:rPr b="0" lang="pt-BR" sz="17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));</a:t>
                      </a:r>
                      <a:endParaRPr b="0" sz="17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5"/>
          <p:cNvSpPr txBox="1"/>
          <p:nvPr>
            <p:ph type="title"/>
          </p:nvPr>
        </p:nvSpPr>
        <p:spPr>
          <a:xfrm>
            <a:off x="839470" y="476885"/>
            <a:ext cx="9369425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Recuperar dados</a:t>
            </a:r>
            <a:endParaRPr/>
          </a:p>
        </p:txBody>
      </p:sp>
      <p:sp>
        <p:nvSpPr>
          <p:cNvPr id="238" name="Google Shape;238;p2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9" name="Google Shape;239;p25"/>
          <p:cNvSpPr txBox="1"/>
          <p:nvPr/>
        </p:nvSpPr>
        <p:spPr>
          <a:xfrm>
            <a:off x="911860" y="1700530"/>
            <a:ext cx="9128760" cy="35140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Em muitas situações, usamos o Storage para recuperar dados relacionados à última navegação do usuário. Por exemplo, sua última sessão de login ou o último estado de seu carrinho de compras.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Para isso, temos que inicializar as variáveis do app consultando o Storage assim que for iniciado.</a:t>
            </a:r>
            <a:endParaRPr b="1" i="0" sz="24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6"/>
          <p:cNvSpPr txBox="1"/>
          <p:nvPr>
            <p:ph type="title"/>
          </p:nvPr>
        </p:nvSpPr>
        <p:spPr>
          <a:xfrm>
            <a:off x="839470" y="476885"/>
            <a:ext cx="9369425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Recuperar estados prévios</a:t>
            </a:r>
            <a:endParaRPr/>
          </a:p>
        </p:txBody>
      </p:sp>
      <p:sp>
        <p:nvSpPr>
          <p:cNvPr id="245" name="Google Shape;245;p2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aphicFrame>
        <p:nvGraphicFramePr>
          <p:cNvPr id="246" name="Google Shape;246;p26"/>
          <p:cNvGraphicFramePr/>
          <p:nvPr/>
        </p:nvGraphicFramePr>
        <p:xfrm>
          <a:off x="839470" y="15563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{1F898847-FBB7-4AEF-9D81-7EDCD1725EF2}</a:tableStyleId>
              </a:tblPr>
              <a:tblGrid>
                <a:gridCol w="10083175"/>
              </a:tblGrid>
              <a:tr h="385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usuario;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usuarioEmLS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getItem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usuario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Se havia algo armazenado, o recuperamos. 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//Se não, pedimos que seja inserido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(usuarioEmLS)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usuario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usuarioEmLS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(usuario)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usuario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prompt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Insira seu nome de usuário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setItem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usuario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usuario);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252" name="Google Shape;252;p27"/>
          <p:cNvGrpSpPr/>
          <p:nvPr/>
        </p:nvGrpSpPr>
        <p:grpSpPr>
          <a:xfrm>
            <a:off x="1030407" y="613236"/>
            <a:ext cx="401518" cy="401518"/>
            <a:chOff x="974706" y="2467173"/>
            <a:chExt cx="738900" cy="738900"/>
          </a:xfrm>
        </p:grpSpPr>
        <p:sp>
          <p:nvSpPr>
            <p:cNvPr id="253" name="Google Shape;253;p27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4" name="Google Shape;254;p27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5" name="Google Shape;255;p27"/>
          <p:cNvSpPr txBox="1"/>
          <p:nvPr/>
        </p:nvSpPr>
        <p:spPr>
          <a:xfrm>
            <a:off x="983415" y="1196685"/>
            <a:ext cx="4987200" cy="8458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pt-BR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praticar</a:t>
            </a:r>
            <a:endParaRPr b="1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7"/>
          <p:cNvSpPr txBox="1"/>
          <p:nvPr/>
        </p:nvSpPr>
        <p:spPr>
          <a:xfrm>
            <a:off x="1559560" y="525780"/>
            <a:ext cx="3067050" cy="4889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ATIVIDADE EM SALA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7"/>
          <p:cNvSpPr txBox="1"/>
          <p:nvPr/>
        </p:nvSpPr>
        <p:spPr>
          <a:xfrm>
            <a:off x="911860" y="2204720"/>
            <a:ext cx="9495155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Simule o armazenamento e recuperação de produtos de um carrinho de compras de uma loja online no localStorage: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um array para armazenar os produtos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cada produto informe: id, nome, valor, quantidade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Ao inicializar sua aplicação verifique se há produtos no carrinho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Caso já existam produtos no carrinho, exiba esses produtos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Caso não existam, exiba a mensagem “O carrinho está vazio!”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8"/>
          <p:cNvSpPr txBox="1"/>
          <p:nvPr>
            <p:ph type="title"/>
          </p:nvPr>
        </p:nvSpPr>
        <p:spPr>
          <a:xfrm>
            <a:off x="839470" y="476885"/>
            <a:ext cx="9369425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Json: Outros pontos a considerar</a:t>
            </a:r>
            <a:endParaRPr/>
          </a:p>
        </p:txBody>
      </p:sp>
      <p:sp>
        <p:nvSpPr>
          <p:cNvPr id="263" name="Google Shape;263;p2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64" name="Google Shape;264;p28"/>
          <p:cNvSpPr txBox="1"/>
          <p:nvPr/>
        </p:nvSpPr>
        <p:spPr>
          <a:xfrm>
            <a:off x="695960" y="1628775"/>
            <a:ext cx="4699635" cy="357695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dados em formato JSON podem ser armazenados em arquivos externos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.json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Exemplo: dados.json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JSON é apenas um formato de dados -  contém apenas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propriedades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não métodos.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8"/>
          <p:cNvSpPr txBox="1"/>
          <p:nvPr/>
        </p:nvSpPr>
        <p:spPr>
          <a:xfrm>
            <a:off x="5638165" y="1341755"/>
            <a:ext cx="6281420" cy="4613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vírgula ou dois pontos mal posicionados podem produzir um arquivo JSON que não funcione. É preciso ter cuidado ao validar qualquer dado que se queira utilizar. </a:t>
            </a:r>
            <a:r>
              <a:rPr b="0" i="0" lang="pt-BR" sz="2400" u="sng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https://jsonformatter.curiousconcept.com/</a:t>
            </a:r>
            <a:endParaRPr b="0" i="0" sz="2400" u="sng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  <a:hlinkClick r:id="rId4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diferença do código JavaScript é que as propriedades do objeto não precisam estar entre aspas, em JSON, somente as cadeias entre aspas podem ser utilizadas como propriedades.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9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Referências:</a:t>
            </a:r>
            <a:endParaRPr/>
          </a:p>
        </p:txBody>
      </p:sp>
      <p:sp>
        <p:nvSpPr>
          <p:cNvPr id="271" name="Google Shape;271;p2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2" name="Google Shape;272;p29"/>
          <p:cNvSpPr txBox="1"/>
          <p:nvPr/>
        </p:nvSpPr>
        <p:spPr>
          <a:xfrm>
            <a:off x="612775" y="1670050"/>
            <a:ext cx="9199245" cy="31813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800" u="sng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LocalStorage</a:t>
            </a:r>
            <a:r>
              <a:rPr b="0" i="0" lang="pt-BR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| </a:t>
            </a:r>
            <a:r>
              <a:rPr b="1" i="0" lang="pt-BR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Developer Mozilla</a:t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800" u="sng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SessionStorage </a:t>
            </a:r>
            <a:r>
              <a:rPr b="0" i="0" lang="pt-BR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| </a:t>
            </a:r>
            <a:r>
              <a:rPr b="1" i="0" lang="pt-BR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Developer Mozilla</a:t>
            </a:r>
            <a:endParaRPr b="1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800" u="sng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Exemplo de uso do Storage</a:t>
            </a:r>
            <a:r>
              <a:rPr b="0" i="0" lang="pt-BR" sz="2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| </a:t>
            </a:r>
            <a:r>
              <a:rPr b="1" i="0" lang="pt-BR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 b="1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800" u="sng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Json</a:t>
            </a: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| </a:t>
            </a:r>
            <a:r>
              <a:rPr b="1" i="0" lang="pt-BR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Developer Mozilla</a:t>
            </a:r>
            <a:endParaRPr b="1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0"/>
          <p:cNvSpPr txBox="1"/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Copyright © 202</a:t>
            </a:r>
            <a:r>
              <a:rPr lang="pt-BR"/>
              <a:t>5</a:t>
            </a:r>
            <a:br>
              <a:rPr lang="pt-BR">
                <a:latin typeface="Arial"/>
                <a:ea typeface="Arial"/>
                <a:cs typeface="Arial"/>
                <a:sym typeface="Arial"/>
              </a:rPr>
            </a:br>
            <a:r>
              <a:rPr lang="pt-BR"/>
              <a:t>Prof. Lucas Sousa</a:t>
            </a:r>
            <a:endParaRPr/>
          </a:p>
        </p:txBody>
      </p:sp>
      <p:sp>
        <p:nvSpPr>
          <p:cNvPr id="278" name="Google Shape;278;p30"/>
          <p:cNvSpPr txBox="1"/>
          <p:nvPr>
            <p:ph idx="4294967295" type="sldNum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2024-05-06T00:37:00Z</dcterms:created>
  <dc:creator>Allen Fernando Oberleitner Lima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B96E02AB6EE14174B6F4E9A4A472FBCF_12</vt:lpwstr>
  </property>
  <property fmtid="{D5CDD505-2E9C-101B-9397-08002B2CF9AE}" pid="3" name="KSOProductBuildVer">
    <vt:lpwstr>1046-12.2.0.17545</vt:lpwstr>
  </property>
</Properties>
</file>